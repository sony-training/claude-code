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2: System Software Development" id="{7740b172-0e4d-3597-777f-9f9ab844cf01}">
          <p14:sldIdLst>
            <p14:sldId id="256"/>
            <p14:sldId id="257"/>
            <p14:sldId id="258"/>
            <p14:sldId id="259"/>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gave you the controls; this module is the first real hands-on pass at shipping a change with them, end to end. The running example is a new BusyBox applet, rot13, and a matching GStreamer element, rot13filter. Labs 2.1 to 2.7 are in the lab guide, Part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cheap insurance. Demo starting a session with claude --permission-mode plan, and cycling modes with Shift+Tab (an IDE panel uses the mode indicator or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participants run the prompt, then read the proposed plan aloud as if it were a design doc from a colleague. Expect steps like a new coreutils source file with the //applet:, //config: and //kbuild: blocks, a Kconfig symbol, a usage text, and a test under testsuite/. Reject or edit anything vague. A vague plan means a vague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word is Verify: a runnable command with an exact expected output lets Claude check its own work. Show the diff and demonstrate accepting, rejecting, and editing one change. The review prompt asks only for findings with a concrete failing input, which filters out style opinions.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prompt is the apply step; the second pair is the review loop. Note that the review prompt says do not edit: reviewing and editing are separate steps so you choose which finding to apply. If the applet already handles every case, the review may report nothing, which is a valid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CROSS=arm-linux-gnueabihf- comes from Part A of the lab guide; a vendor toolchain works the same way by changing CROSS, SYSROOT and PATH. The script is reused in Module 4 for the qemu run and in Day 2 for the CI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paths from gst-element-maker are verified on the lab machine before class; if the generated layout differs from what Claude assumes, the Verify command tells you. The same element is tested end to end in Module 4 (tests/rot13_gst.sh) and reviewed for memory safety in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for a convention they have had to repeat to a new hire more than once: a bounded-copy rule, a naming rule, a never-edit-generated-files rule. Those are the candidates for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the three files from lab guide B7. In lab 2.6 the prompt asks for the code and for which project rule was applied; naming the rule shows the file loaded. If the answer uses strcpy, check /context for the rules file and that the paths glob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Hooks have more events than PreToolUse: PostToolUse runs after a tool succeeds (a natural place for a compile check), and there are 32 events in total. Handler types are command, http, mcp_tool, prompt and agent. Day 2 Module 9 builds a PostToolUse hook; here we use one PreToolUse command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script top to bottom: read JSON from stdin, extract the file path, compare with each generated file, print a reason to stderr and exit 2, or exit 0 to allow. Run the test prompt live, then repeat with the deny rule removed to show the hook alone catches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has had a script that never ran; chmod +x is the usual cause. Connect back to Plan Mode: an underspecified plan is a request problem, not a model problem. /hooks confirms registration and a two-sided test confirms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against this list before Module 3. The rot13 applet built here is the test subject in Module 4; if it does not work now, fix it before lunch.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241F1B"/>
        </a:solidFill>
      </p:bgPr>
    </p:bg>
    <p:spTree>
      <p:nvGrpSpPr>
        <p:cNvPr id="1" name=""/>
        <p:cNvGrpSpPr/>
        <p:nvPr/>
      </p:nvGrpSpPr>
      <p:grpSpPr>
        <a:xfrm>
          <a:off x="0" y="0"/>
          <a:ext cx="0" cy="0"/>
          <a:chOff x="0" y="0"/>
          <a:chExt cx="0" cy="0"/>
        </a:xfrm>
      </p:grpSpPr>
      <p:sp>
        <p:nvSpPr>
          <p:cNvPr id="2" name="Text 0"/>
          <p:cNvSpPr/>
          <p:nvPr/>
        </p:nvSpPr>
        <p:spPr>
          <a:xfrm>
            <a:off x="548640" y="502920"/>
            <a:ext cx="8229600" cy="365760"/>
          </a:xfrm>
          <a:prstGeom prst="rect">
            <a:avLst/>
          </a:prstGeom>
          <a:noFill/>
          <a:ln/>
        </p:spPr>
        <p:txBody>
          <a:bodyPr wrap="square" rtlCol="0" anchor="ctr"/>
          <a:lstStyle/>
          <a:p>
            <a:pPr indent="0" marL="0">
              <a:buNone/>
            </a:pPr>
            <a:r>
              <a:rPr lang="en-US" sz="1200" b="1" spc="200" kern="0" dirty="0">
                <a:solidFill>
                  <a:srgbClr val="C15F3C"/>
                </a:solidFill>
                <a:latin typeface="Calibri" pitchFamily="34" charset="0"/>
                <a:ea typeface="Calibri" pitchFamily="34" charset="-122"/>
                <a:cs typeface="Calibri" pitchFamily="34" charset="-120"/>
              </a:rPr>
              <a:t>CLAUDE CODE TRAINING  ·  MODULE 2: SYSTEM SOFTWARE DEVELOPMENT</a:t>
            </a:r>
            <a:endParaRPr lang="en-US" sz="1200" dirty="0"/>
          </a:p>
        </p:txBody>
      </p:sp>
      <p:sp>
        <p:nvSpPr>
          <p:cNvPr id="3" name="Text 1"/>
          <p:cNvSpPr/>
          <p:nvPr>
            <p:ph idx="103" type="title" hasCustomPrompt="1"/>
          </p:nvPr>
        </p:nvSpPr>
        <p:spPr>
          <a:xfrm>
            <a:off x="548640" y="2331720"/>
            <a:ext cx="10424160" cy="12801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1"/>
          <p:cNvSpPr/>
          <p:nvPr>
            <p:ph idx="104" type="body" hasCustomPrompt="1"/>
          </p:nvPr>
        </p:nvSpPr>
        <p:spPr>
          <a:xfrm>
            <a:off x="548640" y="3657600"/>
            <a:ext cx="10058400" cy="548640"/>
          </a:xfrm>
          <a:prstGeom prst="rect">
            <a:avLst/>
          </a:prstGeom>
          <a:noFill/>
          <a:ln/>
        </p:spPr>
        <p:txBody>
          <a:bodyPr wrap="square" rtlCol="0"/>
          <a:lstStyle>
            <a:lvl1pPr algn="l" indent="0" marL="0">
              <a:buNone/>
              <a:defRPr lang="en-US" sz="1800" dirty="0">
                <a:solidFill>
                  <a:srgbClr val="F3EFE8"/>
                </a:solidFill>
                <a:latin typeface="Calibri" pitchFamily="34" charset="0"/>
                <a:ea typeface="Calibri" pitchFamily="34" charset="-122"/>
                <a:cs typeface="Calibri" pitchFamily="34" charset="-120"/>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SLID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6400800" cy="274320"/>
          </a:xfrm>
          <a:prstGeom prst="rect">
            <a:avLst/>
          </a:prstGeom>
          <a:noFill/>
          <a:ln/>
        </p:spPr>
        <p:txBody>
          <a:bodyPr wrap="square" rtlCol="0" anchor="ctr"/>
          <a:lstStyle/>
          <a:p>
            <a:pPr indent="0" marL="0">
              <a:buNone/>
            </a:pPr>
            <a:r>
              <a:rPr lang="en-US" sz="950" dirty="0">
                <a:solidFill>
                  <a:srgbClr val="7A736A"/>
                </a:solidFill>
                <a:latin typeface="Calibri" pitchFamily="34" charset="0"/>
                <a:ea typeface="Calibri" pitchFamily="34" charset="-122"/>
                <a:cs typeface="Calibri" pitchFamily="34" charset="-120"/>
              </a:rPr>
              <a:t>Claude Code Training  ·  Module 2: System Software Development</a:t>
            </a:r>
            <a:endParaRPr lang="en-US" sz="950" dirty="0"/>
          </a:p>
        </p:txBody>
      </p:sp>
      <p:sp>
        <p:nvSpPr>
          <p:cNvPr id="3" name="Text 1"/>
          <p:cNvSpPr/>
          <p:nvPr>
            <p:ph idx="101" type="title" hasCustomPrompt="1"/>
          </p:nvPr>
        </p:nvSpPr>
        <p:spPr>
          <a:xfrm>
            <a:off x="548640" y="384048"/>
            <a:ext cx="11064240" cy="777240"/>
          </a:xfrm>
          <a:prstGeom prst="rect">
            <a:avLst/>
          </a:prstGeom>
          <a:noFill/>
          <a:ln/>
        </p:spPr>
        <p:txBody>
          <a:bodyPr wrap="square" rtlCol="0"/>
          <a:lstStyle>
            <a:lvl1pPr algn="l" indent="0" marL="0">
              <a:buNone/>
              <a:defRPr lang="en-US" sz="3200" b="1" dirty="0">
                <a:solidFill>
                  <a:srgbClr val="262320"/>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_SLIDE">
    <p:bg>
      <p:bgPr>
        <a:solidFill>
          <a:srgbClr val="241F1B"/>
        </a:solidFill>
      </p:bgPr>
    </p:bg>
    <p:spTree>
      <p:nvGrpSpPr>
        <p:cNvPr id="1" name=""/>
        <p:cNvGrpSpPr/>
        <p:nvPr/>
      </p:nvGrpSpPr>
      <p:grpSpPr>
        <a:xfrm>
          <a:off x="0" y="0"/>
          <a:ext cx="0" cy="0"/>
          <a:chOff x="0" y="0"/>
          <a:chExt cx="0" cy="0"/>
        </a:xfrm>
      </p:grpSpPr>
      <p:sp>
        <p:nvSpPr>
          <p:cNvPr id="2" name="Text 0"/>
          <p:cNvSpPr/>
          <p:nvPr/>
        </p:nvSpPr>
        <p:spPr>
          <a:xfrm>
            <a:off x="548640" y="6473952"/>
            <a:ext cx="6400800" cy="274320"/>
          </a:xfrm>
          <a:prstGeom prst="rect">
            <a:avLst/>
          </a:prstGeom>
          <a:noFill/>
          <a:ln/>
        </p:spPr>
        <p:txBody>
          <a:bodyPr wrap="square" rtlCol="0" anchor="ctr"/>
          <a:lstStyle/>
          <a:p>
            <a:pPr indent="0" marL="0">
              <a:buNone/>
            </a:pPr>
            <a:r>
              <a:rPr lang="en-US" sz="950" dirty="0">
                <a:solidFill>
                  <a:srgbClr val="7A736A"/>
                </a:solidFill>
                <a:latin typeface="Calibri" pitchFamily="34" charset="0"/>
                <a:ea typeface="Calibri" pitchFamily="34" charset="-122"/>
                <a:cs typeface="Calibri" pitchFamily="34" charset="-120"/>
              </a:rPr>
              <a:t>Claude Code Training  ·  Module 2: System Software Development</a:t>
            </a:r>
            <a:endParaRPr lang="en-US" sz="950" dirty="0"/>
          </a:p>
        </p:txBody>
      </p:sp>
      <p:sp>
        <p:nvSpPr>
          <p:cNvPr id="3" name="Text 1"/>
          <p:cNvSpPr/>
          <p:nvPr>
            <p:ph idx="101" type="title" hasCustomPrompt="1"/>
          </p:nvPr>
        </p:nvSpPr>
        <p:spPr>
          <a:xfrm>
            <a:off x="548640" y="384048"/>
            <a:ext cx="11064240" cy="777240"/>
          </a:xfrm>
          <a:prstGeom prst="rect">
            <a:avLst/>
          </a:prstGeom>
          <a:noFill/>
          <a:ln/>
        </p:spPr>
        <p:txBody>
          <a:bodyPr wrap="square" rtlCol="0"/>
          <a:lstStyle>
            <a:lvl1pPr algn="l" indent="0" marL="0">
              <a:buNone/>
              <a:defRPr lang="en-US" sz="3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FFFFFF"/>
                </a:solidFill>
                <a:latin typeface="Cambria" pitchFamily="34" charset="0"/>
                <a:ea typeface="Cambria" pitchFamily="34" charset="-122"/>
                <a:cs typeface="Cambria" pitchFamily="34" charset="-120"/>
              </a:rPr>
              <a:t>Claude Code for System Software Development</a:t>
            </a:r>
            <a:endParaRPr lang="en-US" sz="3200" dirty="0"/>
          </a:p>
        </p:txBody>
      </p:sp>
      <p:sp>
        <p:nvSpPr>
          <p:cNvPr id="3" name="Shape 1"/>
          <p:cNvSpPr/>
          <p:nvPr/>
        </p:nvSpPr>
        <p:spPr>
          <a:xfrm>
            <a:off x="548640" y="1737360"/>
            <a:ext cx="457200" cy="457200"/>
          </a:xfrm>
          <a:prstGeom prst="ellipse">
            <a:avLst/>
          </a:prstGeom>
          <a:solidFill>
            <a:srgbClr val="C15F3C"/>
          </a:solidFill>
          <a:ln/>
        </p:spPr>
      </p:sp>
      <p:sp>
        <p:nvSpPr>
          <p:cNvPr id="4" name="Text 2"/>
          <p:cNvSpPr txBox="1"/>
          <p:nvPr/>
        </p:nvSpPr>
        <p:spPr>
          <a:xfrm>
            <a:off x="54864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234440" y="1682496"/>
            <a:ext cx="10104120" cy="1051560"/>
          </a:xfrm>
          <a:prstGeom prst="rect">
            <a:avLst/>
          </a:prstGeom>
          <a:noFill/>
          <a:ln/>
        </p:spPr>
        <p:txBody>
          <a:bodyPr wrap="square" lIns="0" tIns="0" rIns="0" bIns="0" rtlCol="0" anchor="t"/>
          <a:lstStyle/>
          <a:p>
            <a:pPr indent="0" marL="0">
              <a:lnSpc>
                <a:spcPct val="112000"/>
              </a:lnSpc>
              <a:buNone/>
            </a:pPr>
            <a:r>
              <a:rPr lang="en-US" sz="1500" b="1" dirty="0">
                <a:solidFill>
                  <a:srgbClr val="FFFFFF"/>
                </a:solidFill>
                <a:latin typeface="Calibri" pitchFamily="34" charset="0"/>
                <a:ea typeface="Calibri" pitchFamily="34" charset="-122"/>
                <a:cs typeface="Calibri" pitchFamily="34" charset="-120"/>
              </a:rPr>
              <a:t>Plan Mode</a:t>
            </a:r>
            <a:endParaRPr lang="en-US" sz="1500" dirty="0"/>
          </a:p>
          <a:p>
            <a:pPr indent="0" marL="0">
              <a:lnSpc>
                <a:spcPct val="112000"/>
              </a:lnSpc>
              <a:buNone/>
            </a:pPr>
            <a:r>
              <a:rPr lang="en-US" sz="1250" dirty="0">
                <a:solidFill>
                  <a:srgbClr val="F3EFE8"/>
                </a:solidFill>
                <a:latin typeface="Calibri" pitchFamily="34" charset="0"/>
                <a:ea typeface="Calibri" pitchFamily="34" charset="-122"/>
                <a:cs typeface="Calibri" pitchFamily="34" charset="-120"/>
              </a:rPr>
              <a:t>a new rot13 applet planned like a design document, before any file is touched</a:t>
            </a:r>
            <a:endParaRPr lang="en-US" sz="1500" dirty="0"/>
          </a:p>
        </p:txBody>
      </p:sp>
      <p:sp>
        <p:nvSpPr>
          <p:cNvPr id="6" name="Shape 4"/>
          <p:cNvSpPr/>
          <p:nvPr/>
        </p:nvSpPr>
        <p:spPr>
          <a:xfrm>
            <a:off x="548640" y="2788920"/>
            <a:ext cx="457200" cy="457200"/>
          </a:xfrm>
          <a:prstGeom prst="ellipse">
            <a:avLst/>
          </a:prstGeom>
          <a:solidFill>
            <a:srgbClr val="C15F3C"/>
          </a:solidFill>
          <a:ln/>
        </p:spPr>
      </p:sp>
      <p:sp>
        <p:nvSpPr>
          <p:cNvPr id="7" name="Text 5"/>
          <p:cNvSpPr txBox="1"/>
          <p:nvPr/>
        </p:nvSpPr>
        <p:spPr>
          <a:xfrm>
            <a:off x="548640" y="2788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txBox="1"/>
          <p:nvPr/>
        </p:nvSpPr>
        <p:spPr>
          <a:xfrm>
            <a:off x="1234440" y="2734056"/>
            <a:ext cx="10104120" cy="1051560"/>
          </a:xfrm>
          <a:prstGeom prst="rect">
            <a:avLst/>
          </a:prstGeom>
          <a:noFill/>
          <a:ln/>
        </p:spPr>
        <p:txBody>
          <a:bodyPr wrap="square" lIns="0" tIns="0" rIns="0" bIns="0" rtlCol="0" anchor="t"/>
          <a:lstStyle/>
          <a:p>
            <a:pPr indent="0" marL="0">
              <a:lnSpc>
                <a:spcPct val="112000"/>
              </a:lnSpc>
              <a:buNone/>
            </a:pPr>
            <a:r>
              <a:rPr lang="en-US" sz="1500" b="1" dirty="0">
                <a:solidFill>
                  <a:srgbClr val="FFFFFF"/>
                </a:solidFill>
                <a:latin typeface="Calibri" pitchFamily="34" charset="0"/>
                <a:ea typeface="Calibri" pitchFamily="34" charset="-122"/>
                <a:cs typeface="Calibri" pitchFamily="34" charset="-120"/>
              </a:rPr>
              <a:t>Implement, verify, review</a:t>
            </a:r>
            <a:endParaRPr lang="en-US" sz="1500" dirty="0"/>
          </a:p>
          <a:p>
            <a:pPr indent="0" marL="0">
              <a:lnSpc>
                <a:spcPct val="112000"/>
              </a:lnSpc>
              <a:buNone/>
            </a:pPr>
            <a:r>
              <a:rPr lang="en-US" sz="1250" dirty="0">
                <a:solidFill>
                  <a:srgbClr val="F3EFE8"/>
                </a:solidFill>
                <a:latin typeface="Calibri" pitchFamily="34" charset="0"/>
                <a:ea typeface="Calibri" pitchFamily="34" charset="-122"/>
                <a:cs typeface="Calibri" pitchFamily="34" charset="-120"/>
              </a:rPr>
              <a:t>the applet, a cross-build script, and a GStreamer element, each with a command that proves it works</a:t>
            </a:r>
            <a:endParaRPr lang="en-US" sz="1500" dirty="0"/>
          </a:p>
        </p:txBody>
      </p:sp>
      <p:sp>
        <p:nvSpPr>
          <p:cNvPr id="9" name="Shape 7"/>
          <p:cNvSpPr/>
          <p:nvPr/>
        </p:nvSpPr>
        <p:spPr>
          <a:xfrm>
            <a:off x="548640" y="3840480"/>
            <a:ext cx="457200" cy="457200"/>
          </a:xfrm>
          <a:prstGeom prst="ellipse">
            <a:avLst/>
          </a:prstGeom>
          <a:solidFill>
            <a:srgbClr val="C15F3C"/>
          </a:solidFill>
          <a:ln/>
        </p:spPr>
      </p:sp>
      <p:sp>
        <p:nvSpPr>
          <p:cNvPr id="10" name="Text 8"/>
          <p:cNvSpPr txBox="1"/>
          <p:nvPr/>
        </p:nvSpPr>
        <p:spPr>
          <a:xfrm>
            <a:off x="548640" y="3840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txBox="1"/>
          <p:nvPr/>
        </p:nvSpPr>
        <p:spPr>
          <a:xfrm>
            <a:off x="1234440" y="3785616"/>
            <a:ext cx="10104120" cy="1051560"/>
          </a:xfrm>
          <a:prstGeom prst="rect">
            <a:avLst/>
          </a:prstGeom>
          <a:noFill/>
          <a:ln/>
        </p:spPr>
        <p:txBody>
          <a:bodyPr wrap="square" lIns="0" tIns="0" rIns="0" bIns="0" rtlCol="0" anchor="t"/>
          <a:lstStyle/>
          <a:p>
            <a:pPr indent="0" marL="0">
              <a:lnSpc>
                <a:spcPct val="112000"/>
              </a:lnSpc>
              <a:buNone/>
            </a:pPr>
            <a:r>
              <a:rPr lang="en-US" sz="1500" b="1" dirty="0">
                <a:solidFill>
                  <a:srgbClr val="FFFFFF"/>
                </a:solidFill>
                <a:latin typeface="Calibri" pitchFamily="34" charset="0"/>
                <a:ea typeface="Calibri" pitchFamily="34" charset="-122"/>
                <a:cs typeface="Calibri" pitchFamily="34" charset="-120"/>
              </a:rPr>
              <a:t>Standards as rules</a:t>
            </a:r>
            <a:endParaRPr lang="en-US" sz="1500" dirty="0"/>
          </a:p>
          <a:p>
            <a:pPr indent="0" marL="0">
              <a:lnSpc>
                <a:spcPct val="112000"/>
              </a:lnSpc>
              <a:buNone/>
            </a:pPr>
            <a:r>
              <a:rPr lang="en-US" sz="1250" dirty="0">
                <a:solidFill>
                  <a:srgbClr val="F3EFE8"/>
                </a:solidFill>
                <a:latin typeface="Calibri" pitchFamily="34" charset="0"/>
                <a:ea typeface="Calibri" pitchFamily="34" charset="-122"/>
                <a:cs typeface="Calibri" pitchFamily="34" charset="-120"/>
              </a:rPr>
              <a:t>path-scoped rule files for C, shell, and Python</a:t>
            </a:r>
            <a:endParaRPr lang="en-US" sz="1500" dirty="0"/>
          </a:p>
        </p:txBody>
      </p:sp>
      <p:sp>
        <p:nvSpPr>
          <p:cNvPr id="12" name="Shape 10"/>
          <p:cNvSpPr/>
          <p:nvPr/>
        </p:nvSpPr>
        <p:spPr>
          <a:xfrm>
            <a:off x="548640" y="4892040"/>
            <a:ext cx="457200" cy="457200"/>
          </a:xfrm>
          <a:prstGeom prst="ellipse">
            <a:avLst/>
          </a:prstGeom>
          <a:solidFill>
            <a:srgbClr val="C15F3C"/>
          </a:solidFill>
          <a:ln/>
        </p:spPr>
      </p:sp>
      <p:sp>
        <p:nvSpPr>
          <p:cNvPr id="13" name="Text 11"/>
          <p:cNvSpPr txBox="1"/>
          <p:nvPr/>
        </p:nvSpPr>
        <p:spPr>
          <a:xfrm>
            <a:off x="548640" y="4892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txBox="1"/>
          <p:nvPr/>
        </p:nvSpPr>
        <p:spPr>
          <a:xfrm>
            <a:off x="1234440" y="4837176"/>
            <a:ext cx="10104120" cy="1051560"/>
          </a:xfrm>
          <a:prstGeom prst="rect">
            <a:avLst/>
          </a:prstGeom>
          <a:noFill/>
          <a:ln/>
        </p:spPr>
        <p:txBody>
          <a:bodyPr wrap="square" lIns="0" tIns="0" rIns="0" bIns="0" rtlCol="0" anchor="t"/>
          <a:lstStyle/>
          <a:p>
            <a:pPr indent="0" marL="0">
              <a:lnSpc>
                <a:spcPct val="112000"/>
              </a:lnSpc>
              <a:buNone/>
            </a:pPr>
            <a:r>
              <a:rPr lang="en-US" sz="1500" b="1" dirty="0">
                <a:solidFill>
                  <a:srgbClr val="FFFFFF"/>
                </a:solidFill>
                <a:latin typeface="Calibri" pitchFamily="34" charset="0"/>
                <a:ea typeface="Calibri" pitchFamily="34" charset="-122"/>
                <a:cs typeface="Calibri" pitchFamily="34" charset="-120"/>
              </a:rPr>
              <a:t>Hooks</a:t>
            </a:r>
            <a:endParaRPr lang="en-US" sz="1500" dirty="0"/>
          </a:p>
          <a:p>
            <a:pPr indent="0" marL="0">
              <a:lnSpc>
                <a:spcPct val="112000"/>
              </a:lnSpc>
              <a:buNone/>
            </a:pPr>
            <a:r>
              <a:rPr lang="en-US" sz="1250" dirty="0">
                <a:solidFill>
                  <a:srgbClr val="F3EFE8"/>
                </a:solidFill>
                <a:latin typeface="Calibri" pitchFamily="34" charset="0"/>
                <a:ea typeface="Calibri" pitchFamily="34" charset="-122"/>
                <a:cs typeface="Calibri" pitchFamily="34" charset="-120"/>
              </a:rPr>
              <a:t>a generated-file guard that runs every time, whatever the model decided</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Plan Mode: From Requirement to Structured Plan</a:t>
            </a:r>
            <a:endParaRPr lang="en-US" sz="3200" dirty="0"/>
          </a:p>
        </p:txBody>
      </p:sp>
      <p:sp>
        <p:nvSpPr>
          <p:cNvPr id="3" name="Text 1"/>
          <p:cNvSpPr txBox="1"/>
          <p:nvPr/>
        </p:nvSpPr>
        <p:spPr>
          <a:xfrm>
            <a:off x="548640" y="1188720"/>
            <a:ext cx="10789920" cy="64008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In Plan Mode, Claude reads files and proposes a plan but makes no edits until you approve it. Start it with claude --permission-mode plan, or press Shift+Tab until the status bar shows “plan mode on” (in an IDE panel: the mode indicator, or /plan).</a:t>
            </a:r>
            <a:endParaRPr lang="en-US" sz="1500" dirty="0"/>
          </a:p>
        </p:txBody>
      </p:sp>
      <p:sp>
        <p:nvSpPr>
          <p:cNvPr id="4" name="Shape 2"/>
          <p:cNvSpPr/>
          <p:nvPr/>
        </p:nvSpPr>
        <p:spPr>
          <a:xfrm>
            <a:off x="548640" y="1965960"/>
            <a:ext cx="5234940" cy="1783080"/>
          </a:xfrm>
          <a:prstGeom prst="roundRect">
            <a:avLst>
              <a:gd name="adj" fmla="val 5128"/>
            </a:avLst>
          </a:prstGeom>
          <a:solidFill>
            <a:srgbClr val="F3EFE8"/>
          </a:solidFill>
          <a:ln/>
          <a:effectLst>
            <a:outerShdw sx="100000" sy="100000" kx="0" ky="0" algn="bl" rotWithShape="0" blurRad="76200" dist="25400" dir="5400000">
              <a:srgbClr val="000000">
                <a:alpha val="18000"/>
              </a:srgbClr>
            </a:outerShdw>
          </a:effectLst>
        </p:spPr>
      </p:sp>
      <p:sp>
        <p:nvSpPr>
          <p:cNvPr id="5" name="Text 3"/>
          <p:cNvSpPr txBox="1"/>
          <p:nvPr/>
        </p:nvSpPr>
        <p:spPr>
          <a:xfrm>
            <a:off x="777240" y="2167128"/>
            <a:ext cx="4777740" cy="1380744"/>
          </a:xfrm>
          <a:prstGeom prst="rect">
            <a:avLst/>
          </a:prstGeom>
          <a:noFill/>
          <a:ln/>
        </p:spPr>
        <p:txBody>
          <a:bodyPr wrap="square" lIns="0" tIns="0" rIns="0" bIns="0" rtlCol="0" anchor="t"/>
          <a:lstStyle/>
          <a:p>
            <a:pPr indent="0" marL="0">
              <a:spcAft>
                <a:spcPts val="400"/>
              </a:spcAft>
              <a:buNone/>
            </a:pPr>
            <a:r>
              <a:rPr lang="en-US" sz="1500" b="1" dirty="0">
                <a:solidFill>
                  <a:srgbClr val="262320"/>
                </a:solidFill>
                <a:latin typeface="Calibri" pitchFamily="34" charset="0"/>
                <a:ea typeface="Calibri" pitchFamily="34" charset="-122"/>
                <a:cs typeface="Calibri" pitchFamily="34" charset="-120"/>
              </a:rPr>
              <a:t>Plan rejected before editing</a:t>
            </a:r>
            <a:endParaRPr lang="en-US" sz="1500" dirty="0"/>
          </a:p>
          <a:p>
            <a:pPr indent="0" marL="0">
              <a:spcAft>
                <a:spcPts val="400"/>
              </a:spcAft>
              <a:buNone/>
            </a:pPr>
            <a:r>
              <a:rPr lang="en-US" sz="1050" b="1" dirty="0">
                <a:solidFill>
                  <a:srgbClr val="4F6F64"/>
                </a:solidFill>
                <a:latin typeface="Calibri" pitchFamily="34" charset="0"/>
                <a:ea typeface="Calibri" pitchFamily="34" charset="-122"/>
                <a:cs typeface="Calibri" pitchFamily="34" charset="-120"/>
              </a:rPr>
              <a:t>COST</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Nothing was touched, so there is nothing to undo</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Revise the request and re-propose freely</a:t>
            </a:r>
            <a:endParaRPr lang="en-US" sz="1500" dirty="0"/>
          </a:p>
        </p:txBody>
      </p:sp>
      <p:sp>
        <p:nvSpPr>
          <p:cNvPr id="6" name="Shape 4"/>
          <p:cNvSpPr/>
          <p:nvPr/>
        </p:nvSpPr>
        <p:spPr>
          <a:xfrm>
            <a:off x="6103620" y="1965960"/>
            <a:ext cx="5234940" cy="1783080"/>
          </a:xfrm>
          <a:prstGeom prst="roundRect">
            <a:avLst>
              <a:gd name="adj" fmla="val 5128"/>
            </a:avLst>
          </a:prstGeom>
          <a:solidFill>
            <a:srgbClr val="F3EFE8"/>
          </a:solidFill>
          <a:ln/>
          <a:effectLst>
            <a:outerShdw sx="100000" sy="100000" kx="0" ky="0" algn="bl" rotWithShape="0" blurRad="76200" dist="25400" dir="5400000">
              <a:srgbClr val="000000">
                <a:alpha val="18000"/>
              </a:srgbClr>
            </a:outerShdw>
          </a:effectLst>
        </p:spPr>
      </p:sp>
      <p:sp>
        <p:nvSpPr>
          <p:cNvPr id="7" name="Text 5"/>
          <p:cNvSpPr txBox="1"/>
          <p:nvPr/>
        </p:nvSpPr>
        <p:spPr>
          <a:xfrm>
            <a:off x="6332220" y="2167128"/>
            <a:ext cx="4777740" cy="1380744"/>
          </a:xfrm>
          <a:prstGeom prst="rect">
            <a:avLst/>
          </a:prstGeom>
          <a:noFill/>
          <a:ln/>
        </p:spPr>
        <p:txBody>
          <a:bodyPr wrap="square" lIns="0" tIns="0" rIns="0" bIns="0" rtlCol="0" anchor="t"/>
          <a:lstStyle/>
          <a:p>
            <a:pPr indent="0" marL="0">
              <a:spcAft>
                <a:spcPts val="400"/>
              </a:spcAft>
              <a:buNone/>
            </a:pPr>
            <a:r>
              <a:rPr lang="en-US" sz="1500" b="1" dirty="0">
                <a:solidFill>
                  <a:srgbClr val="262320"/>
                </a:solidFill>
                <a:latin typeface="Calibri" pitchFamily="34" charset="0"/>
                <a:ea typeface="Calibri" pitchFamily="34" charset="-122"/>
                <a:cs typeface="Calibri" pitchFamily="34" charset="-120"/>
              </a:rPr>
              <a:t>Bad edit found 3 files later</a:t>
            </a:r>
            <a:endParaRPr lang="en-US" sz="1500" dirty="0"/>
          </a:p>
          <a:p>
            <a:pPr indent="0" marL="0">
              <a:spcAft>
                <a:spcPts val="400"/>
              </a:spcAft>
              <a:buNone/>
            </a:pPr>
            <a:r>
              <a:rPr lang="en-US" sz="1050" b="1" dirty="0">
                <a:solidFill>
                  <a:srgbClr val="8E3B2E"/>
                </a:solidFill>
                <a:latin typeface="Calibri" pitchFamily="34" charset="0"/>
                <a:ea typeface="Calibri" pitchFamily="34" charset="-122"/>
                <a:cs typeface="Calibri" pitchFamily="34" charset="-120"/>
              </a:rPr>
              <a:t>COST</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Costs a revert</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Costs re-verifying everything downstream</a:t>
            </a:r>
            <a:endParaRPr lang="en-US" sz="1500" dirty="0"/>
          </a:p>
        </p:txBody>
      </p:sp>
      <p:sp>
        <p:nvSpPr>
          <p:cNvPr id="8" name="Shape 6"/>
          <p:cNvSpPr/>
          <p:nvPr/>
        </p:nvSpPr>
        <p:spPr>
          <a:xfrm>
            <a:off x="548640" y="3977640"/>
            <a:ext cx="457200" cy="457200"/>
          </a:xfrm>
          <a:prstGeom prst="ellipse">
            <a:avLst/>
          </a:prstGeom>
          <a:solidFill>
            <a:srgbClr val="C15F3C"/>
          </a:solidFill>
          <a:ln/>
        </p:spPr>
      </p:sp>
      <p:sp>
        <p:nvSpPr>
          <p:cNvPr id="9" name="Text 7"/>
          <p:cNvSpPr txBox="1"/>
          <p:nvPr/>
        </p:nvSpPr>
        <p:spPr>
          <a:xfrm>
            <a:off x="548640" y="3977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3922776"/>
            <a:ext cx="10104120"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Why it matters: how to satisfy a requirement is a judgment call</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earlier you can inspect that judgment, the cheaper a wrong turn is to catch.</a:t>
            </a:r>
            <a:endParaRPr lang="en-US" sz="1500" dirty="0"/>
          </a:p>
        </p:txBody>
      </p:sp>
      <p:sp>
        <p:nvSpPr>
          <p:cNvPr id="11" name="Shape 9"/>
          <p:cNvSpPr/>
          <p:nvPr/>
        </p:nvSpPr>
        <p:spPr>
          <a:xfrm>
            <a:off x="548640" y="4690872"/>
            <a:ext cx="457200" cy="457200"/>
          </a:xfrm>
          <a:prstGeom prst="ellipse">
            <a:avLst/>
          </a:prstGeom>
          <a:solidFill>
            <a:srgbClr val="C15F3C"/>
          </a:solidFill>
          <a:ln/>
        </p:spPr>
      </p:sp>
      <p:sp>
        <p:nvSpPr>
          <p:cNvPr id="12" name="Text 10"/>
          <p:cNvSpPr txBox="1"/>
          <p:nvPr/>
        </p:nvSpPr>
        <p:spPr>
          <a:xfrm>
            <a:off x="548640" y="46908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txBox="1"/>
          <p:nvPr/>
        </p:nvSpPr>
        <p:spPr>
          <a:xfrm>
            <a:off x="1234440" y="4636008"/>
            <a:ext cx="10104120"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Review and edit the plan before you approve it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terminal: Ctrl+G opens it in your own editor; in VS Code the plan opens as a Markdown document you can comment on.</a:t>
            </a:r>
            <a:endParaRPr lang="en-US" sz="1500" dirty="0"/>
          </a:p>
        </p:txBody>
      </p:sp>
      <p:sp>
        <p:nvSpPr>
          <p:cNvPr id="14" name="Shape 12"/>
          <p:cNvSpPr/>
          <p:nvPr/>
        </p:nvSpPr>
        <p:spPr>
          <a:xfrm>
            <a:off x="548640" y="5404104"/>
            <a:ext cx="457200" cy="457200"/>
          </a:xfrm>
          <a:prstGeom prst="ellipse">
            <a:avLst/>
          </a:prstGeom>
          <a:solidFill>
            <a:srgbClr val="C15F3C"/>
          </a:solidFill>
          <a:ln/>
        </p:spPr>
      </p:sp>
      <p:sp>
        <p:nvSpPr>
          <p:cNvPr id="15" name="Text 13"/>
          <p:cNvSpPr txBox="1"/>
          <p:nvPr/>
        </p:nvSpPr>
        <p:spPr>
          <a:xfrm>
            <a:off x="548640" y="54041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txBox="1"/>
          <p:nvPr/>
        </p:nvSpPr>
        <p:spPr>
          <a:xfrm>
            <a:off x="1234440" y="5349240"/>
            <a:ext cx="10104120"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Esc stops immediately if it heads the wrong way, even after approval</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Plan Mode lowers the odds of a wrong turn; it does not remove them.</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Worked Example: Plan a New Applet (Lab 2.1)</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The course's own teaching analogy (not official documentation): Plan Mode is sending the design doc before anyone touches the branch. The prompt, on BusyBox:</a:t>
            </a:r>
            <a:endParaRPr lang="en-US" sz="1500" dirty="0"/>
          </a:p>
        </p:txBody>
      </p:sp>
      <p:sp>
        <p:nvSpPr>
          <p:cNvPr id="4" name="Shape 2"/>
          <p:cNvSpPr/>
          <p:nvPr/>
        </p:nvSpPr>
        <p:spPr>
          <a:xfrm>
            <a:off x="548640" y="1828800"/>
            <a:ext cx="10789920" cy="1362456"/>
          </a:xfrm>
          <a:prstGeom prst="roundRect">
            <a:avLst>
              <a:gd name="adj" fmla="val 5369"/>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947672"/>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Add a new applet rot13 that reads files or stdin and rotates ASCII letters by 13.</a:t>
            </a:r>
            <a:endParaRPr lang="en-US" sz="1200" dirty="0"/>
          </a:p>
        </p:txBody>
      </p:sp>
      <p:sp>
        <p:nvSpPr>
          <p:cNvPr id="6" name="Text 4"/>
          <p:cNvSpPr txBox="1"/>
          <p:nvPr/>
        </p:nvSpPr>
        <p:spPr>
          <a:xfrm>
            <a:off x="822960" y="2231136"/>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Context: Follow the declaration, config and build blocks of @coreutils/cat.c.</a:t>
            </a:r>
            <a:endParaRPr lang="en-US" sz="1200" dirty="0"/>
          </a:p>
        </p:txBody>
      </p:sp>
      <p:sp>
        <p:nvSpPr>
          <p:cNvPr id="7" name="Text 5"/>
          <p:cNvSpPr txBox="1"/>
          <p:nvPr/>
        </p:nvSpPr>
        <p:spPr>
          <a:xfrm>
            <a:off x="822960" y="2514600"/>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Constraints: plan only; follow Standards in CLAUDE.md.</a:t>
            </a:r>
            <a:endParaRPr lang="en-US" sz="1200" dirty="0"/>
          </a:p>
        </p:txBody>
      </p:sp>
      <p:sp>
        <p:nvSpPr>
          <p:cNvPr id="8" name="Text 6"/>
          <p:cNvSpPr txBox="1"/>
          <p:nvPr/>
        </p:nvSpPr>
        <p:spPr>
          <a:xfrm>
            <a:off x="822960" y="2798064"/>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Output: numbered plan; each step names a file; include the config symbol and the test you would add.</a:t>
            </a:r>
            <a:endParaRPr lang="en-US" sz="1200" dirty="0"/>
          </a:p>
        </p:txBody>
      </p:sp>
      <p:sp>
        <p:nvSpPr>
          <p:cNvPr id="9" name="Shape 7"/>
          <p:cNvSpPr/>
          <p:nvPr/>
        </p:nvSpPr>
        <p:spPr>
          <a:xfrm>
            <a:off x="548640" y="3474720"/>
            <a:ext cx="5234940" cy="1508760"/>
          </a:xfrm>
          <a:prstGeom prst="roundRect">
            <a:avLst>
              <a:gd name="adj" fmla="val 6061"/>
            </a:avLst>
          </a:prstGeom>
          <a:solidFill>
            <a:srgbClr val="F3EFE8"/>
          </a:solidFill>
          <a:ln/>
          <a:effectLst>
            <a:outerShdw sx="100000" sy="100000" kx="0" ky="0" algn="bl" rotWithShape="0" blurRad="76200" dist="25400" dir="5400000">
              <a:srgbClr val="000000">
                <a:alpha val="18000"/>
              </a:srgbClr>
            </a:outerShdw>
          </a:effectLst>
        </p:spPr>
      </p:sp>
      <p:sp>
        <p:nvSpPr>
          <p:cNvPr id="10" name="Text 8"/>
          <p:cNvSpPr txBox="1"/>
          <p:nvPr/>
        </p:nvSpPr>
        <p:spPr>
          <a:xfrm>
            <a:off x="777240" y="3675888"/>
            <a:ext cx="4777740" cy="1106424"/>
          </a:xfrm>
          <a:prstGeom prst="rect">
            <a:avLst/>
          </a:prstGeom>
          <a:noFill/>
          <a:ln/>
        </p:spPr>
        <p:txBody>
          <a:bodyPr wrap="square" lIns="0" tIns="0" rIns="0" bIns="0" rtlCol="0" anchor="t"/>
          <a:lstStyle/>
          <a:p>
            <a:pPr indent="0" marL="0">
              <a:spcAft>
                <a:spcPts val="400"/>
              </a:spcAft>
              <a:buNone/>
            </a:pPr>
            <a:r>
              <a:rPr lang="en-US" sz="1500" b="1" dirty="0">
                <a:solidFill>
                  <a:srgbClr val="262320"/>
                </a:solidFill>
                <a:latin typeface="Calibri" pitchFamily="34" charset="0"/>
                <a:ea typeface="Calibri" pitchFamily="34" charset="-122"/>
                <a:cs typeface="Calibri" pitchFamily="34" charset="-120"/>
              </a:rPr>
              <a:t>In code review</a:t>
            </a:r>
            <a:endParaRPr lang="en-US" sz="1500" dirty="0"/>
          </a:p>
          <a:p>
            <a:pPr indent="0" marL="0">
              <a:spcAft>
                <a:spcPts val="400"/>
              </a:spcAft>
              <a:buNone/>
            </a:pPr>
            <a:r>
              <a:rPr lang="en-US" sz="1050" b="1" dirty="0">
                <a:solidFill>
                  <a:srgbClr val="7A736A"/>
                </a:solidFill>
                <a:latin typeface="Calibri" pitchFamily="34" charset="0"/>
                <a:ea typeface="Calibri" pitchFamily="34" charset="-122"/>
                <a:cs typeface="Calibri" pitchFamily="34" charset="-120"/>
              </a:rPr>
              <a:t>COURSE ANALOGY</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Send the design doc first; reviewers push back before a branch exists</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Rejecting a doc costs a conversation, not a revert</a:t>
            </a:r>
            <a:endParaRPr lang="en-US" sz="1500" dirty="0"/>
          </a:p>
        </p:txBody>
      </p:sp>
      <p:sp>
        <p:nvSpPr>
          <p:cNvPr id="11" name="Shape 9"/>
          <p:cNvSpPr/>
          <p:nvPr/>
        </p:nvSpPr>
        <p:spPr>
          <a:xfrm>
            <a:off x="6103620" y="3474720"/>
            <a:ext cx="5234940" cy="1508760"/>
          </a:xfrm>
          <a:prstGeom prst="roundRect">
            <a:avLst>
              <a:gd name="adj" fmla="val 6061"/>
            </a:avLst>
          </a:prstGeom>
          <a:solidFill>
            <a:srgbClr val="F3EFE8"/>
          </a:solidFill>
          <a:ln/>
          <a:effectLst>
            <a:outerShdw sx="100000" sy="100000" kx="0" ky="0" algn="bl" rotWithShape="0" blurRad="76200" dist="25400" dir="5400000">
              <a:srgbClr val="000000">
                <a:alpha val="18000"/>
              </a:srgbClr>
            </a:outerShdw>
          </a:effectLst>
        </p:spPr>
      </p:sp>
      <p:sp>
        <p:nvSpPr>
          <p:cNvPr id="12" name="Text 10"/>
          <p:cNvSpPr txBox="1"/>
          <p:nvPr/>
        </p:nvSpPr>
        <p:spPr>
          <a:xfrm>
            <a:off x="6332220" y="3675888"/>
            <a:ext cx="4777740" cy="1106424"/>
          </a:xfrm>
          <a:prstGeom prst="rect">
            <a:avLst/>
          </a:prstGeom>
          <a:noFill/>
          <a:ln/>
        </p:spPr>
        <p:txBody>
          <a:bodyPr wrap="square" lIns="0" tIns="0" rIns="0" bIns="0" rtlCol="0" anchor="t"/>
          <a:lstStyle/>
          <a:p>
            <a:pPr indent="0" marL="0">
              <a:spcAft>
                <a:spcPts val="400"/>
              </a:spcAft>
              <a:buNone/>
            </a:pPr>
            <a:r>
              <a:rPr lang="en-US" sz="1500" b="1" dirty="0">
                <a:solidFill>
                  <a:srgbClr val="262320"/>
                </a:solidFill>
                <a:latin typeface="Calibri" pitchFamily="34" charset="0"/>
                <a:ea typeface="Calibri" pitchFamily="34" charset="-122"/>
                <a:cs typeface="Calibri" pitchFamily="34" charset="-120"/>
              </a:rPr>
              <a:t>In Claude Code</a:t>
            </a:r>
            <a:endParaRPr lang="en-US" sz="1500" dirty="0"/>
          </a:p>
          <a:p>
            <a:pPr indent="0" marL="0">
              <a:spcAft>
                <a:spcPts val="400"/>
              </a:spcAft>
              <a:buNone/>
            </a:pPr>
            <a:r>
              <a:rPr lang="en-US" sz="1050" b="1" dirty="0">
                <a:solidFill>
                  <a:srgbClr val="C15F3C"/>
                </a:solidFill>
                <a:latin typeface="Calibri" pitchFamily="34" charset="0"/>
                <a:ea typeface="Calibri" pitchFamily="34" charset="-122"/>
                <a:cs typeface="Calibri" pitchFamily="34" charset="-120"/>
              </a:rPr>
              <a:t>PLAN MODE</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Claude proposes what it will change and why; you comment or rewrite it, then approve</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Rejecting a plan touches no files, so nothing to undo</a:t>
            </a:r>
            <a:endParaRPr lang="en-US" sz="1500" dirty="0"/>
          </a:p>
        </p:txBody>
      </p:sp>
      <p:sp>
        <p:nvSpPr>
          <p:cNvPr id="13" name="Shape 11"/>
          <p:cNvSpPr/>
          <p:nvPr/>
        </p:nvSpPr>
        <p:spPr>
          <a:xfrm>
            <a:off x="548640" y="5166360"/>
            <a:ext cx="457200" cy="457200"/>
          </a:xfrm>
          <a:prstGeom prst="ellipse">
            <a:avLst/>
          </a:prstGeom>
          <a:solidFill>
            <a:srgbClr val="C15F3C"/>
          </a:solidFill>
          <a:ln/>
        </p:spPr>
      </p:sp>
      <p:sp>
        <p:nvSpPr>
          <p:cNvPr id="14" name="Text 12"/>
          <p:cNvSpPr txBox="1"/>
          <p:nvPr/>
        </p:nvSpPr>
        <p:spPr>
          <a:xfrm>
            <a:off x="548640" y="5166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txBox="1"/>
          <p:nvPr/>
        </p:nvSpPr>
        <p:spPr>
          <a:xfrm>
            <a:off x="1234440" y="5111496"/>
            <a:ext cx="10104120" cy="86868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Read the plan as a design document: files, signature, verification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does each step name a file, is there a config symbol, is there a test? If an answer is missing, add detail to the request, or edit the plan, before approving.</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Implementing with Verification, Review &amp; Small Fixes</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Editing is iterative: give Claude the check, then review before you accept. The loop in labs 2.2 and 2.3, on the rot13 applet:</a:t>
            </a:r>
            <a:endParaRPr lang="en-US" sz="1500" dirty="0"/>
          </a:p>
        </p:txBody>
      </p:sp>
      <p:sp>
        <p:nvSpPr>
          <p:cNvPr id="4" name="Shape 2"/>
          <p:cNvSpPr/>
          <p:nvPr/>
        </p:nvSpPr>
        <p:spPr>
          <a:xfrm>
            <a:off x="548640" y="1874520"/>
            <a:ext cx="2423160" cy="1188720"/>
          </a:xfrm>
          <a:prstGeom prst="roundRect">
            <a:avLst>
              <a:gd name="adj" fmla="val 6154"/>
            </a:avLst>
          </a:prstGeom>
          <a:solidFill>
            <a:srgbClr val="F3EFE8"/>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621792" y="1965960"/>
            <a:ext cx="2276856" cy="1005840"/>
          </a:xfrm>
          <a:prstGeom prst="rect">
            <a:avLst/>
          </a:prstGeom>
          <a:noFill/>
          <a:ln/>
        </p:spPr>
        <p:txBody>
          <a:bodyPr wrap="square" lIns="0" tIns="0" rIns="0" bIns="0" rtlCol="0" anchor="ctr"/>
          <a:lstStyle/>
          <a:p>
            <a:pPr algn="ctr" indent="0" marL="0">
              <a:buNone/>
            </a:pPr>
            <a:r>
              <a:rPr lang="en-US" sz="1350" b="1" dirty="0">
                <a:solidFill>
                  <a:srgbClr val="262320"/>
                </a:solidFill>
                <a:latin typeface="Calibri" pitchFamily="34" charset="0"/>
                <a:ea typeface="Calibri" pitchFamily="34" charset="-122"/>
                <a:cs typeface="Calibri" pitchFamily="34" charset="-120"/>
              </a:rPr>
              <a:t>1. Implement</a:t>
            </a:r>
            <a:endParaRPr lang="en-US" sz="1350" dirty="0"/>
          </a:p>
          <a:p>
            <a:pPr algn="ctr" indent="0" marL="0">
              <a:buNone/>
            </a:pPr>
            <a:r>
              <a:rPr lang="en-US" sz="1050" dirty="0">
                <a:solidFill>
                  <a:srgbClr val="7A736A"/>
                </a:solidFill>
                <a:latin typeface="Calibri" pitchFamily="34" charset="0"/>
                <a:ea typeface="Calibri" pitchFamily="34" charset="-122"/>
                <a:cs typeface="Calibri" pitchFamily="34" charset="-120"/>
              </a:rPr>
              <a:t>“Implement the approved plan”, with a Verify line</a:t>
            </a:r>
            <a:endParaRPr lang="en-US" sz="1350" dirty="0"/>
          </a:p>
        </p:txBody>
      </p:sp>
      <p:sp>
        <p:nvSpPr>
          <p:cNvPr id="6" name="Shape 4"/>
          <p:cNvSpPr/>
          <p:nvPr/>
        </p:nvSpPr>
        <p:spPr>
          <a:xfrm>
            <a:off x="2971800" y="2468880"/>
            <a:ext cx="384048" cy="0"/>
          </a:xfrm>
          <a:prstGeom prst="line">
            <a:avLst/>
          </a:prstGeom>
          <a:noFill/>
          <a:ln w="22225">
            <a:solidFill>
              <a:srgbClr val="7A736A"/>
            </a:solidFill>
            <a:prstDash val="solid"/>
            <a:tailEnd type="triangle"/>
          </a:ln>
        </p:spPr>
      </p:sp>
      <p:sp>
        <p:nvSpPr>
          <p:cNvPr id="7" name="Shape 5"/>
          <p:cNvSpPr/>
          <p:nvPr/>
        </p:nvSpPr>
        <p:spPr>
          <a:xfrm>
            <a:off x="3355848" y="1874520"/>
            <a:ext cx="2423160" cy="1188720"/>
          </a:xfrm>
          <a:prstGeom prst="roundRect">
            <a:avLst>
              <a:gd name="adj" fmla="val 6154"/>
            </a:avLst>
          </a:prstGeom>
          <a:solidFill>
            <a:srgbClr val="4F6F64"/>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3429000" y="1965960"/>
            <a:ext cx="2276856" cy="10058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 Verify</a:t>
            </a:r>
            <a:endParaRPr lang="en-US" sz="1350" dirty="0"/>
          </a:p>
          <a:p>
            <a:pPr algn="ctr" indent="0" marL="0">
              <a:buNone/>
            </a:pPr>
            <a:r>
              <a:rPr lang="en-US" sz="1050" dirty="0">
                <a:solidFill>
                  <a:srgbClr val="F3EFE8"/>
                </a:solidFill>
                <a:latin typeface="Calibri" pitchFamily="34" charset="0"/>
                <a:ea typeface="Calibri" pitchFamily="34" charset="-122"/>
                <a:cs typeface="Calibri" pitchFamily="34" charset="-120"/>
              </a:rPr>
              <a:t>echo hello | ./busybox rot13 must print exactly uryyb</a:t>
            </a:r>
            <a:endParaRPr lang="en-US" sz="1350" dirty="0"/>
          </a:p>
        </p:txBody>
      </p:sp>
      <p:sp>
        <p:nvSpPr>
          <p:cNvPr id="9" name="Shape 7"/>
          <p:cNvSpPr/>
          <p:nvPr/>
        </p:nvSpPr>
        <p:spPr>
          <a:xfrm>
            <a:off x="5779008" y="2468880"/>
            <a:ext cx="384048" cy="0"/>
          </a:xfrm>
          <a:prstGeom prst="line">
            <a:avLst/>
          </a:prstGeom>
          <a:noFill/>
          <a:ln w="22225">
            <a:solidFill>
              <a:srgbClr val="7A736A"/>
            </a:solidFill>
            <a:prstDash val="solid"/>
            <a:tailEnd type="triangle"/>
          </a:ln>
        </p:spPr>
      </p:sp>
      <p:sp>
        <p:nvSpPr>
          <p:cNvPr id="10" name="Shape 8"/>
          <p:cNvSpPr/>
          <p:nvPr/>
        </p:nvSpPr>
        <p:spPr>
          <a:xfrm>
            <a:off x="6163056" y="1874520"/>
            <a:ext cx="2423160" cy="1188720"/>
          </a:xfrm>
          <a:prstGeom prst="roundRect">
            <a:avLst>
              <a:gd name="adj" fmla="val 6154"/>
            </a:avLst>
          </a:prstGeom>
          <a:solidFill>
            <a:srgbClr val="C15F3C"/>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11" name="Text 9"/>
          <p:cNvSpPr txBox="1"/>
          <p:nvPr/>
        </p:nvSpPr>
        <p:spPr>
          <a:xfrm>
            <a:off x="6236208" y="1965960"/>
            <a:ext cx="2276856" cy="10058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 Review</a:t>
            </a:r>
            <a:endParaRPr lang="en-US" sz="1350" dirty="0"/>
          </a:p>
          <a:p>
            <a:pPr algn="ctr" indent="0" marL="0">
              <a:buNone/>
            </a:pPr>
            <a:r>
              <a:rPr lang="en-US" sz="1050" dirty="0">
                <a:solidFill>
                  <a:srgbClr val="F3EFE8"/>
                </a:solidFill>
                <a:latin typeface="Calibri" pitchFamily="34" charset="0"/>
                <a:ea typeface="Calibri" pitchFamily="34" charset="-122"/>
                <a:cs typeface="Calibri" pitchFamily="34" charset="-120"/>
              </a:rPr>
              <a:t>read-only: findings with a concrete failing input</a:t>
            </a:r>
            <a:endParaRPr lang="en-US" sz="1350" dirty="0"/>
          </a:p>
        </p:txBody>
      </p:sp>
      <p:sp>
        <p:nvSpPr>
          <p:cNvPr id="12" name="Shape 10"/>
          <p:cNvSpPr/>
          <p:nvPr/>
        </p:nvSpPr>
        <p:spPr>
          <a:xfrm>
            <a:off x="8586216" y="2468880"/>
            <a:ext cx="384048" cy="0"/>
          </a:xfrm>
          <a:prstGeom prst="line">
            <a:avLst/>
          </a:prstGeom>
          <a:noFill/>
          <a:ln w="22225">
            <a:solidFill>
              <a:srgbClr val="7A736A"/>
            </a:solidFill>
            <a:prstDash val="solid"/>
            <a:tailEnd type="triangle"/>
          </a:ln>
        </p:spPr>
      </p:sp>
      <p:sp>
        <p:nvSpPr>
          <p:cNvPr id="13" name="Shape 11"/>
          <p:cNvSpPr/>
          <p:nvPr/>
        </p:nvSpPr>
        <p:spPr>
          <a:xfrm>
            <a:off x="8970264" y="1874520"/>
            <a:ext cx="2423160" cy="1188720"/>
          </a:xfrm>
          <a:prstGeom prst="roundRect">
            <a:avLst>
              <a:gd name="adj" fmla="val 6154"/>
            </a:avLst>
          </a:prstGeom>
          <a:solidFill>
            <a:srgbClr val="8A6D3F"/>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14" name="Text 12"/>
          <p:cNvSpPr txBox="1"/>
          <p:nvPr/>
        </p:nvSpPr>
        <p:spPr>
          <a:xfrm>
            <a:off x="9043416" y="1965960"/>
            <a:ext cx="2276856" cy="10058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4. Apply fix 1</a:t>
            </a:r>
            <a:endParaRPr lang="en-US" sz="1350" dirty="0"/>
          </a:p>
          <a:p>
            <a:pPr algn="ctr" indent="0" marL="0">
              <a:buNone/>
            </a:pPr>
            <a:r>
              <a:rPr lang="en-US" sz="1050" dirty="0">
                <a:solidFill>
                  <a:srgbClr val="F3EFE8"/>
                </a:solidFill>
                <a:latin typeface="Calibri" pitchFamily="34" charset="0"/>
                <a:ea typeface="Calibri" pitchFamily="34" charset="-122"/>
                <a:cs typeface="Calibri" pitchFamily="34" charset="-120"/>
              </a:rPr>
              <a:t>rebuild, rerun the echo test, expect uryyb</a:t>
            </a:r>
            <a:endParaRPr lang="en-US" sz="1350" dirty="0"/>
          </a:p>
        </p:txBody>
      </p:sp>
      <p:sp>
        <p:nvSpPr>
          <p:cNvPr id="15" name="Shape 13"/>
          <p:cNvSpPr/>
          <p:nvPr/>
        </p:nvSpPr>
        <p:spPr>
          <a:xfrm>
            <a:off x="548640" y="3383280"/>
            <a:ext cx="457200" cy="457200"/>
          </a:xfrm>
          <a:prstGeom prst="ellipse">
            <a:avLst/>
          </a:prstGeom>
          <a:solidFill>
            <a:srgbClr val="C15F3C"/>
          </a:solidFill>
          <a:ln/>
        </p:spPr>
      </p:sp>
      <p:sp>
        <p:nvSpPr>
          <p:cNvPr id="16" name="Text 14"/>
          <p:cNvSpPr txBox="1"/>
          <p:nvPr/>
        </p:nvSpPr>
        <p:spPr>
          <a:xfrm>
            <a:off x="548640" y="3383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txBox="1"/>
          <p:nvPr/>
        </p:nvSpPr>
        <p:spPr>
          <a:xfrm>
            <a:off x="1234440" y="332841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Review each proposed change, then accept, reject, or edit it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terminal shows the diff and asks per change; VS Code shows it side by side.</a:t>
            </a:r>
            <a:endParaRPr lang="en-US" sz="1500" dirty="0"/>
          </a:p>
        </p:txBody>
      </p:sp>
      <p:sp>
        <p:nvSpPr>
          <p:cNvPr id="18" name="Shape 16"/>
          <p:cNvSpPr/>
          <p:nvPr/>
        </p:nvSpPr>
        <p:spPr>
          <a:xfrm>
            <a:off x="548640" y="4114800"/>
            <a:ext cx="457200" cy="457200"/>
          </a:xfrm>
          <a:prstGeom prst="ellipse">
            <a:avLst/>
          </a:prstGeom>
          <a:solidFill>
            <a:srgbClr val="C15F3C"/>
          </a:solidFill>
          <a:ln/>
        </p:spPr>
      </p:sp>
      <p:sp>
        <p:nvSpPr>
          <p:cNvPr id="19" name="Text 17"/>
          <p:cNvSpPr txBox="1"/>
          <p:nvPr/>
        </p:nvSpPr>
        <p:spPr>
          <a:xfrm>
            <a:off x="548640" y="4114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0" name="Text 18"/>
          <p:cNvSpPr txBox="1"/>
          <p:nvPr/>
        </p:nvSpPr>
        <p:spPr>
          <a:xfrm>
            <a:off x="1234440" y="405993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Edit the proposal yourself, then accept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Claude is told you changed it, so it will not assume the file still matches its original proposal.</a:t>
            </a:r>
            <a:endParaRPr lang="en-US" sz="1500" dirty="0"/>
          </a:p>
        </p:txBody>
      </p:sp>
      <p:sp>
        <p:nvSpPr>
          <p:cNvPr id="21" name="Shape 19"/>
          <p:cNvSpPr/>
          <p:nvPr/>
        </p:nvSpPr>
        <p:spPr>
          <a:xfrm>
            <a:off x="548640" y="4846320"/>
            <a:ext cx="457200" cy="457200"/>
          </a:xfrm>
          <a:prstGeom prst="ellipse">
            <a:avLst/>
          </a:prstGeom>
          <a:solidFill>
            <a:srgbClr val="C15F3C"/>
          </a:solidFill>
          <a:ln/>
        </p:spPr>
      </p:sp>
      <p:sp>
        <p:nvSpPr>
          <p:cNvPr id="22" name="Text 20"/>
          <p:cNvSpPr txBox="1"/>
          <p:nvPr/>
        </p:nvSpPr>
        <p:spPr>
          <a:xfrm>
            <a:off x="548640" y="4846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3" name="Text 21"/>
          <p:cNvSpPr txBox="1"/>
          <p:nvPr/>
        </p:nvSpPr>
        <p:spPr>
          <a:xfrm>
            <a:off x="1234440" y="479145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Small, testable increments beat one large rewrite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apply only fix 1, rebuild, rerun the check; a smaller diff is easier to review.</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Lab 2.2 and 2.3: Implement, Then Review Without Editing</a:t>
            </a:r>
            <a:endParaRPr lang="en-US" sz="3200" dirty="0"/>
          </a:p>
        </p:txBody>
      </p:sp>
      <p:sp>
        <p:nvSpPr>
          <p:cNvPr id="3" name="Text 1"/>
          <p:cNvSpPr txBox="1"/>
          <p:nvPr/>
        </p:nvSpPr>
        <p:spPr>
          <a:xfrm>
            <a:off x="548640" y="1188720"/>
            <a:ext cx="10789920" cy="292608"/>
          </a:xfrm>
          <a:prstGeom prst="rect">
            <a:avLst/>
          </a:prstGeom>
          <a:noFill/>
          <a:ln/>
        </p:spPr>
        <p:txBody>
          <a:bodyPr wrap="square" lIns="0" tIns="0" rIns="0" bIns="0" rtlCol="0" anchor="ctr"/>
          <a:lstStyle/>
          <a:p>
            <a:pPr indent="0" marL="0">
              <a:buNone/>
            </a:pPr>
            <a:r>
              <a:rPr lang="en-US" sz="1400" b="1" dirty="0">
                <a:solidFill>
                  <a:srgbClr val="C15F3C"/>
                </a:solidFill>
                <a:latin typeface="Calibri" pitchFamily="34" charset="0"/>
                <a:ea typeface="Calibri" pitchFamily="34" charset="-122"/>
                <a:cs typeface="Calibri" pitchFamily="34" charset="-120"/>
              </a:rPr>
              <a:t>2.2  Implement and verify</a:t>
            </a:r>
            <a:endParaRPr lang="en-US" sz="1400" dirty="0"/>
          </a:p>
        </p:txBody>
      </p:sp>
      <p:sp>
        <p:nvSpPr>
          <p:cNvPr id="4" name="Shape 2"/>
          <p:cNvSpPr/>
          <p:nvPr/>
        </p:nvSpPr>
        <p:spPr>
          <a:xfrm>
            <a:off x="548640" y="1536192"/>
            <a:ext cx="10789920" cy="1307592"/>
          </a:xfrm>
          <a:prstGeom prst="roundRect">
            <a:avLst>
              <a:gd name="adj" fmla="val 5594"/>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627632"/>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Implement the approved plan.</a:t>
            </a:r>
            <a:endParaRPr lang="en-US" sz="1200" dirty="0"/>
          </a:p>
        </p:txBody>
      </p:sp>
      <p:sp>
        <p:nvSpPr>
          <p:cNvPr id="6" name="Text 4"/>
          <p:cNvSpPr txBox="1"/>
          <p:nvPr/>
        </p:nvSpPr>
        <p:spPr>
          <a:xfrm>
            <a:off x="822960" y="1911096"/>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Constraints: follow CLAUDE.md; introduce no new gcc warnings in files you change.</a:t>
            </a:r>
            <a:endParaRPr lang="en-US" sz="1200" dirty="0"/>
          </a:p>
        </p:txBody>
      </p:sp>
      <p:sp>
        <p:nvSpPr>
          <p:cNvPr id="7" name="Text 5"/>
          <p:cNvSpPr txBox="1"/>
          <p:nvPr/>
        </p:nvSpPr>
        <p:spPr>
          <a:xfrm>
            <a:off x="822960" y="2194560"/>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Verify: build, then run `echo hello | ./busybox rot13`; expected output is exactly `uryyb`.</a:t>
            </a:r>
            <a:endParaRPr lang="en-US" sz="1200" dirty="0"/>
          </a:p>
        </p:txBody>
      </p:sp>
      <p:sp>
        <p:nvSpPr>
          <p:cNvPr id="8" name="Text 6"/>
          <p:cNvSpPr txBox="1"/>
          <p:nvPr/>
        </p:nvSpPr>
        <p:spPr>
          <a:xfrm>
            <a:off x="822960" y="2478024"/>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Output: show the command and its output.</a:t>
            </a:r>
            <a:endParaRPr lang="en-US" sz="1200" dirty="0"/>
          </a:p>
        </p:txBody>
      </p:sp>
      <p:sp>
        <p:nvSpPr>
          <p:cNvPr id="9" name="Text 7"/>
          <p:cNvSpPr txBox="1"/>
          <p:nvPr/>
        </p:nvSpPr>
        <p:spPr>
          <a:xfrm>
            <a:off x="548640" y="3200400"/>
            <a:ext cx="10789920" cy="292608"/>
          </a:xfrm>
          <a:prstGeom prst="rect">
            <a:avLst/>
          </a:prstGeom>
          <a:noFill/>
          <a:ln/>
        </p:spPr>
        <p:txBody>
          <a:bodyPr wrap="square" lIns="0" tIns="0" rIns="0" bIns="0" rtlCol="0" anchor="ctr"/>
          <a:lstStyle/>
          <a:p>
            <a:pPr indent="0" marL="0">
              <a:buNone/>
            </a:pPr>
            <a:r>
              <a:rPr lang="en-US" sz="1400" b="1" dirty="0">
                <a:solidFill>
                  <a:srgbClr val="C15F3C"/>
                </a:solidFill>
                <a:latin typeface="Calibri" pitchFamily="34" charset="0"/>
                <a:ea typeface="Calibri" pitchFamily="34" charset="-122"/>
                <a:cs typeface="Calibri" pitchFamily="34" charset="-120"/>
              </a:rPr>
              <a:t>2.3  Review loop</a:t>
            </a:r>
            <a:endParaRPr lang="en-US" sz="1400" dirty="0"/>
          </a:p>
        </p:txBody>
      </p:sp>
      <p:sp>
        <p:nvSpPr>
          <p:cNvPr id="10" name="Shape 8"/>
          <p:cNvSpPr/>
          <p:nvPr/>
        </p:nvSpPr>
        <p:spPr>
          <a:xfrm>
            <a:off x="548640" y="3547872"/>
            <a:ext cx="10789920" cy="1874520"/>
          </a:xfrm>
          <a:prstGeom prst="roundRect">
            <a:avLst>
              <a:gd name="adj" fmla="val 3902"/>
            </a:avLst>
          </a:prstGeom>
          <a:solidFill>
            <a:srgbClr val="262320"/>
          </a:solidFill>
          <a:ln/>
          <a:effectLst>
            <a:outerShdw sx="100000" sy="100000" kx="0" ky="0" algn="bl" rotWithShape="0" blurRad="76200" dist="25400" dir="5400000">
              <a:srgbClr val="000000">
                <a:alpha val="18000"/>
              </a:srgbClr>
            </a:outerShdw>
          </a:effectLst>
        </p:spPr>
      </p:sp>
      <p:sp>
        <p:nvSpPr>
          <p:cNvPr id="11" name="Text 9"/>
          <p:cNvSpPr txBox="1"/>
          <p:nvPr/>
        </p:nvSpPr>
        <p:spPr>
          <a:xfrm>
            <a:off x="822960" y="3639312"/>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Review the rot13 applet for buffer handling and error returns.</a:t>
            </a:r>
            <a:endParaRPr lang="en-US" sz="1200" dirty="0"/>
          </a:p>
        </p:txBody>
      </p:sp>
      <p:sp>
        <p:nvSpPr>
          <p:cNvPr id="12" name="Text 10"/>
          <p:cNvSpPr txBox="1"/>
          <p:nvPr/>
        </p:nvSpPr>
        <p:spPr>
          <a:xfrm>
            <a:off x="822960" y="3922776"/>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Constraints: do not edit. Report only issues with a concrete failing input.</a:t>
            </a:r>
            <a:endParaRPr lang="en-US" sz="1200" dirty="0"/>
          </a:p>
        </p:txBody>
      </p:sp>
      <p:sp>
        <p:nvSpPr>
          <p:cNvPr id="13" name="Text 11"/>
          <p:cNvSpPr txBox="1"/>
          <p:nvPr/>
        </p:nvSpPr>
        <p:spPr>
          <a:xfrm>
            <a:off x="822960" y="4206240"/>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Output: numbered findings, file and line.</a:t>
            </a:r>
            <a:endParaRPr lang="en-US" sz="1200" dirty="0"/>
          </a:p>
        </p:txBody>
      </p:sp>
      <p:sp>
        <p:nvSpPr>
          <p:cNvPr id="14" name="Text 12"/>
          <p:cNvSpPr txBox="1"/>
          <p:nvPr/>
        </p:nvSpPr>
        <p:spPr>
          <a:xfrm>
            <a:off x="822960" y="4489704"/>
            <a:ext cx="10241280" cy="283464"/>
          </a:xfrm>
          <a:prstGeom prst="rect">
            <a:avLst/>
          </a:prstGeom>
          <a:noFill/>
          <a:ln/>
        </p:spPr>
        <p:txBody>
          <a:bodyPr wrap="square" lIns="0" tIns="0" rIns="0" bIns="0" rtlCol="0" anchor="ctr"/>
          <a:lstStyle/>
          <a:p>
            <a:pPr indent="0" marL="0">
              <a:buNone/>
            </a:pPr>
            <a:endParaRPr lang="en-US" sz="1200" dirty="0"/>
          </a:p>
        </p:txBody>
      </p:sp>
      <p:sp>
        <p:nvSpPr>
          <p:cNvPr id="15" name="Text 13"/>
          <p:cNvSpPr txBox="1"/>
          <p:nvPr/>
        </p:nvSpPr>
        <p:spPr>
          <a:xfrm>
            <a:off x="822960" y="4773168"/>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Apply only fix 1.</a:t>
            </a:r>
            <a:endParaRPr lang="en-US" sz="1200" dirty="0"/>
          </a:p>
        </p:txBody>
      </p:sp>
      <p:sp>
        <p:nvSpPr>
          <p:cNvPr id="16" name="Text 14"/>
          <p:cNvSpPr txBox="1"/>
          <p:nvPr/>
        </p:nvSpPr>
        <p:spPr>
          <a:xfrm>
            <a:off x="822960" y="5056632"/>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Verify: rebuild; rerun the echo test; expected `uryyb`.</a:t>
            </a:r>
            <a:endParaRPr lang="en-US" sz="1200" dirty="0"/>
          </a:p>
        </p:txBody>
      </p:sp>
      <p:sp>
        <p:nvSpPr>
          <p:cNvPr id="17" name="Shape 15"/>
          <p:cNvSpPr/>
          <p:nvPr/>
        </p:nvSpPr>
        <p:spPr>
          <a:xfrm>
            <a:off x="548640" y="5623560"/>
            <a:ext cx="457200" cy="457200"/>
          </a:xfrm>
          <a:prstGeom prst="ellipse">
            <a:avLst/>
          </a:prstGeom>
          <a:solidFill>
            <a:srgbClr val="7A736A"/>
          </a:solidFill>
          <a:ln/>
        </p:spPr>
      </p:sp>
      <p:sp>
        <p:nvSpPr>
          <p:cNvPr id="18" name="Text 16"/>
          <p:cNvSpPr txBox="1"/>
          <p:nvPr/>
        </p:nvSpPr>
        <p:spPr>
          <a:xfrm>
            <a:off x="548640" y="5623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txBox="1"/>
          <p:nvPr/>
        </p:nvSpPr>
        <p:spPr>
          <a:xfrm>
            <a:off x="1234440" y="5568696"/>
            <a:ext cx="10104120" cy="68580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Evidence, not assertion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Output line forces Claude to show the command and what it printed; compare it with uryyb yourself.</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Lab 2.4: A Cross-Build Script with the Custom Toolchain</a:t>
            </a:r>
            <a:endParaRPr lang="en-US" sz="3200" dirty="0"/>
          </a:p>
        </p:txBody>
      </p:sp>
      <p:sp>
        <p:nvSpPr>
          <p:cNvPr id="3" name="Text 1"/>
          <p:cNvSpPr txBox="1"/>
          <p:nvPr/>
        </p:nvSpPr>
        <p:spPr>
          <a:xfrm>
            <a:off x="548640" y="1188720"/>
            <a:ext cx="10789920" cy="3657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Shell scripting plus a custom toolchain: Claude writes the script, runs it, and proves the output is an ARM binary.</a:t>
            </a:r>
            <a:endParaRPr lang="en-US" sz="1500" dirty="0"/>
          </a:p>
        </p:txBody>
      </p:sp>
      <p:sp>
        <p:nvSpPr>
          <p:cNvPr id="4" name="Shape 2"/>
          <p:cNvSpPr/>
          <p:nvPr/>
        </p:nvSpPr>
        <p:spPr>
          <a:xfrm>
            <a:off x="548640" y="1737360"/>
            <a:ext cx="10789920" cy="1645920"/>
          </a:xfrm>
          <a:prstGeom prst="roundRect">
            <a:avLst>
              <a:gd name="adj" fmla="val 4444"/>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856232"/>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Write scripts/build.sh that builds BusyBox for ARM with the custom toolchain.</a:t>
            </a:r>
            <a:endParaRPr lang="en-US" sz="1200" dirty="0"/>
          </a:p>
        </p:txBody>
      </p:sp>
      <p:sp>
        <p:nvSpPr>
          <p:cNvPr id="6" name="Text 4"/>
          <p:cNvSpPr txBox="1"/>
          <p:nvPr/>
        </p:nvSpPr>
        <p:spPr>
          <a:xfrm>
            <a:off x="822960" y="2139696"/>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Context: toolchain prefix is $CROSS (see CLAUDE.md).</a:t>
            </a:r>
            <a:endParaRPr lang="en-US" sz="1200" dirty="0"/>
          </a:p>
        </p:txBody>
      </p:sp>
      <p:sp>
        <p:nvSpPr>
          <p:cNvPr id="7" name="Text 5"/>
          <p:cNvSpPr txBox="1"/>
          <p:nvPr/>
        </p:nvSpPr>
        <p:spPr>
          <a:xfrm>
            <a:off x="822960" y="2423160"/>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Constraints: bash; set -euo pipefail; print `${CROSS}gcc --version` first; run `make O=build-arm</a:t>
            </a:r>
            <a:endParaRPr lang="en-US" sz="1200" dirty="0"/>
          </a:p>
        </p:txBody>
      </p:sp>
      <p:sp>
        <p:nvSpPr>
          <p:cNvPr id="8" name="Text 6"/>
          <p:cNvSpPr txBox="1"/>
          <p:nvPr/>
        </p:nvSpPr>
        <p:spPr>
          <a:xfrm>
            <a:off x="822960" y="2706624"/>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  defconfig` then `make O=build-arm CROSS_COMPILE=$CROSS -j$(nproc)`; no hard-coded paths.</a:t>
            </a:r>
            <a:endParaRPr lang="en-US" sz="1200" dirty="0"/>
          </a:p>
        </p:txBody>
      </p:sp>
      <p:sp>
        <p:nvSpPr>
          <p:cNvPr id="9" name="Text 7"/>
          <p:cNvSpPr txBox="1"/>
          <p:nvPr/>
        </p:nvSpPr>
        <p:spPr>
          <a:xfrm>
            <a:off x="822960" y="2990088"/>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Verify: run it; `file build-arm/busybox` reports ELF 32-bit ARM.</a:t>
            </a:r>
            <a:endParaRPr lang="en-US" sz="1200" dirty="0"/>
          </a:p>
        </p:txBody>
      </p:sp>
      <p:sp>
        <p:nvSpPr>
          <p:cNvPr id="10" name="Shape 8"/>
          <p:cNvSpPr/>
          <p:nvPr/>
        </p:nvSpPr>
        <p:spPr>
          <a:xfrm>
            <a:off x="548640" y="3840480"/>
            <a:ext cx="384048" cy="384048"/>
          </a:xfrm>
          <a:prstGeom prst="ellipse">
            <a:avLst/>
          </a:prstGeom>
          <a:solidFill>
            <a:srgbClr val="4F6F64"/>
          </a:solidFill>
          <a:ln/>
        </p:spPr>
      </p:sp>
      <p:sp>
        <p:nvSpPr>
          <p:cNvPr id="11" name="Text 9"/>
          <p:cNvSpPr txBox="1"/>
          <p:nvPr/>
        </p:nvSpPr>
        <p:spPr>
          <a:xfrm>
            <a:off x="548640" y="38404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2" name="Text 10"/>
          <p:cNvSpPr txBox="1"/>
          <p:nvPr/>
        </p:nvSpPr>
        <p:spPr>
          <a:xfrm>
            <a:off x="1161288" y="3785616"/>
            <a:ext cx="10177272" cy="7772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The path-scoped shell rule applies to the script it writes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bash shebang, set -euo pipefail, quoted expansions, no absolute paths; rule file on the standards slide.</a:t>
            </a:r>
            <a:endParaRPr lang="en-US" sz="1500" dirty="0"/>
          </a:p>
        </p:txBody>
      </p:sp>
      <p:sp>
        <p:nvSpPr>
          <p:cNvPr id="13" name="Shape 11"/>
          <p:cNvSpPr/>
          <p:nvPr/>
        </p:nvSpPr>
        <p:spPr>
          <a:xfrm>
            <a:off x="548640" y="4617720"/>
            <a:ext cx="384048" cy="384048"/>
          </a:xfrm>
          <a:prstGeom prst="ellipse">
            <a:avLst/>
          </a:prstGeom>
          <a:solidFill>
            <a:srgbClr val="4F6F64"/>
          </a:solidFill>
          <a:ln/>
        </p:spPr>
      </p:sp>
      <p:sp>
        <p:nvSpPr>
          <p:cNvPr id="14" name="Text 12"/>
          <p:cNvSpPr txBox="1"/>
          <p:nvPr/>
        </p:nvSpPr>
        <p:spPr>
          <a:xfrm>
            <a:off x="548640" y="4617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txBox="1"/>
          <p:nvPr/>
        </p:nvSpPr>
        <p:spPr>
          <a:xfrm>
            <a:off x="1161288" y="4562856"/>
            <a:ext cx="10177272" cy="7772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The allow list in settings.json removes the prompts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Bash(bash scripts/*) and Bash(file *) were allowed in Module 1, so the run and the check go through unprompted.</a:t>
            </a:r>
            <a:endParaRPr lang="en-US" sz="1500" dirty="0"/>
          </a:p>
        </p:txBody>
      </p:sp>
      <p:sp>
        <p:nvSpPr>
          <p:cNvPr id="16" name="Shape 14"/>
          <p:cNvSpPr/>
          <p:nvPr/>
        </p:nvSpPr>
        <p:spPr>
          <a:xfrm>
            <a:off x="548640" y="5394960"/>
            <a:ext cx="384048" cy="384048"/>
          </a:xfrm>
          <a:prstGeom prst="ellipse">
            <a:avLst/>
          </a:prstGeom>
          <a:solidFill>
            <a:srgbClr val="4F6F64"/>
          </a:solidFill>
          <a:ln/>
        </p:spPr>
      </p:sp>
      <p:sp>
        <p:nvSpPr>
          <p:cNvPr id="17" name="Text 15"/>
          <p:cNvSpPr txBox="1"/>
          <p:nvPr/>
        </p:nvSpPr>
        <p:spPr>
          <a:xfrm>
            <a:off x="548640" y="53949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1161288" y="5340096"/>
            <a:ext cx="10177272" cy="7772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The out-of-tree build keeps the source tree clean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O=build-arm puts all output in build-arm/, which CLAUDE.md lists as do-not-touch.</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Lab 2.5: A GStreamer Element in C from Generator Tools</a:t>
            </a:r>
            <a:endParaRPr lang="en-US" sz="3200" dirty="0"/>
          </a:p>
        </p:txBody>
      </p:sp>
      <p:sp>
        <p:nvSpPr>
          <p:cNvPr id="3" name="Text 1"/>
          <p:cNvSpPr txBox="1"/>
          <p:nvPr/>
        </p:nvSpPr>
        <p:spPr>
          <a:xfrm>
            <a:off x="548640" y="1188720"/>
            <a:ext cx="10789920" cy="3657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Open source plus C: use the generator tools shipped in the GStreamer source rather than hand-writing the plugin boilerplate.</a:t>
            </a:r>
            <a:endParaRPr lang="en-US" sz="1500" dirty="0"/>
          </a:p>
        </p:txBody>
      </p:sp>
      <p:sp>
        <p:nvSpPr>
          <p:cNvPr id="4" name="Shape 2"/>
          <p:cNvSpPr/>
          <p:nvPr/>
        </p:nvSpPr>
        <p:spPr>
          <a:xfrm>
            <a:off x="548640" y="1737360"/>
            <a:ext cx="10789920" cy="2423160"/>
          </a:xfrm>
          <a:prstGeom prst="roundRect">
            <a:avLst>
              <a:gd name="adj" fmla="val 3019"/>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856232"/>
            <a:ext cx="1024128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Goal: Create a GStreamer element rot13filter in C (GstBaseTransform) that rotates ASCII letters by 13 in</a:t>
            </a:r>
            <a:endParaRPr lang="en-US" sz="1150" dirty="0"/>
          </a:p>
        </p:txBody>
      </p:sp>
      <p:sp>
        <p:nvSpPr>
          <p:cNvPr id="6" name="Text 4"/>
          <p:cNvSpPr txBox="1"/>
          <p:nvPr/>
        </p:nvSpPr>
        <p:spPr>
          <a:xfrm>
            <a:off x="822960" y="2130552"/>
            <a:ext cx="1024128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place.</a:t>
            </a:r>
            <a:endParaRPr lang="en-US" sz="1150" dirty="0"/>
          </a:p>
        </p:txBody>
      </p:sp>
      <p:sp>
        <p:nvSpPr>
          <p:cNvPr id="7" name="Text 5"/>
          <p:cNvSpPr txBox="1"/>
          <p:nvPr/>
        </p:nvSpPr>
        <p:spPr>
          <a:xfrm>
            <a:off x="822960" y="2404872"/>
            <a:ext cx="1024128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Context: generate the skeleton with gst-project-maker and gst-element-maker from</a:t>
            </a:r>
            <a:endParaRPr lang="en-US" sz="1150" dirty="0"/>
          </a:p>
        </p:txBody>
      </p:sp>
      <p:sp>
        <p:nvSpPr>
          <p:cNvPr id="8" name="Text 6"/>
          <p:cNvSpPr txBox="1"/>
          <p:nvPr/>
        </p:nvSpPr>
        <p:spPr>
          <a:xfrm>
            <a:off x="822960" y="2679192"/>
            <a:ext cx="1024128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~/work/gstreamer/subprojects/gst-plugins-bad/tools/ (run --help first).</a:t>
            </a:r>
            <a:endParaRPr lang="en-US" sz="1150" dirty="0"/>
          </a:p>
        </p:txBody>
      </p:sp>
      <p:sp>
        <p:nvSpPr>
          <p:cNvPr id="9" name="Text 7"/>
          <p:cNvSpPr txBox="1"/>
          <p:nvPr/>
        </p:nvSpPr>
        <p:spPr>
          <a:xfrm>
            <a:off x="822960" y="2953512"/>
            <a:ext cx="1024128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Constraints: ANY caps on both pads; meson build in builddir; no extra dependencies; follow the C rules in</a:t>
            </a:r>
            <a:endParaRPr lang="en-US" sz="1150" dirty="0"/>
          </a:p>
        </p:txBody>
      </p:sp>
      <p:sp>
        <p:nvSpPr>
          <p:cNvPr id="10" name="Text 8"/>
          <p:cNvSpPr txBox="1"/>
          <p:nvPr/>
        </p:nvSpPr>
        <p:spPr>
          <a:xfrm>
            <a:off x="822960" y="3227832"/>
            <a:ext cx="1024128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.claude/rules/c-security.md.</a:t>
            </a:r>
            <a:endParaRPr lang="en-US" sz="1150" dirty="0"/>
          </a:p>
        </p:txBody>
      </p:sp>
      <p:sp>
        <p:nvSpPr>
          <p:cNvPr id="11" name="Text 9"/>
          <p:cNvSpPr txBox="1"/>
          <p:nvPr/>
        </p:nvSpPr>
        <p:spPr>
          <a:xfrm>
            <a:off x="822960" y="3502152"/>
            <a:ext cx="1024128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Verify: `meson setup builddir &amp;&amp; ninja -C builddir` succeeds; `GST_PLUGIN_PATH=$(dirname $(find builddir</a:t>
            </a:r>
            <a:endParaRPr lang="en-US" sz="1150" dirty="0"/>
          </a:p>
        </p:txBody>
      </p:sp>
      <p:sp>
        <p:nvSpPr>
          <p:cNvPr id="12" name="Text 10"/>
          <p:cNvSpPr txBox="1"/>
          <p:nvPr/>
        </p:nvSpPr>
        <p:spPr>
          <a:xfrm>
            <a:off x="822960" y="3776472"/>
            <a:ext cx="1024128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-name '*.so' | head -1)) gst-inspect-1.0 rot13filter` lists the element and its pads.</a:t>
            </a:r>
            <a:endParaRPr lang="en-US" sz="1150" dirty="0"/>
          </a:p>
        </p:txBody>
      </p:sp>
      <p:sp>
        <p:nvSpPr>
          <p:cNvPr id="13" name="Shape 11"/>
          <p:cNvSpPr/>
          <p:nvPr/>
        </p:nvSpPr>
        <p:spPr>
          <a:xfrm>
            <a:off x="548640" y="4389120"/>
            <a:ext cx="384048" cy="384048"/>
          </a:xfrm>
          <a:prstGeom prst="ellipse">
            <a:avLst/>
          </a:prstGeom>
          <a:solidFill>
            <a:srgbClr val="4F6F64"/>
          </a:solidFill>
          <a:ln/>
        </p:spPr>
      </p:sp>
      <p:sp>
        <p:nvSpPr>
          <p:cNvPr id="14" name="Text 12"/>
          <p:cNvSpPr txBox="1"/>
          <p:nvPr/>
        </p:nvSpPr>
        <p:spPr>
          <a:xfrm>
            <a:off x="548640" y="43891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5" name="Text 13"/>
          <p:cNvSpPr txBox="1"/>
          <p:nvPr/>
        </p:nvSpPr>
        <p:spPr>
          <a:xfrm>
            <a:off x="1161288" y="4334256"/>
            <a:ext cx="10177272"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run --help first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makes Claude read the real tool options instead of guessing flags; the tool paths are the GStreamer 1.24.9 checkout from Part A.</a:t>
            </a:r>
            <a:endParaRPr lang="en-US" sz="1500" dirty="0"/>
          </a:p>
        </p:txBody>
      </p:sp>
      <p:sp>
        <p:nvSpPr>
          <p:cNvPr id="16" name="Shape 14"/>
          <p:cNvSpPr/>
          <p:nvPr/>
        </p:nvSpPr>
        <p:spPr>
          <a:xfrm>
            <a:off x="548640" y="5120640"/>
            <a:ext cx="384048" cy="384048"/>
          </a:xfrm>
          <a:prstGeom prst="ellipse">
            <a:avLst/>
          </a:prstGeom>
          <a:solidFill>
            <a:srgbClr val="4F6F64"/>
          </a:solidFill>
          <a:ln/>
        </p:spPr>
      </p:sp>
      <p:sp>
        <p:nvSpPr>
          <p:cNvPr id="17" name="Text 15"/>
          <p:cNvSpPr txBox="1"/>
          <p:nvPr/>
        </p:nvSpPr>
        <p:spPr>
          <a:xfrm>
            <a:off x="548640" y="51206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8" name="Text 16"/>
          <p:cNvSpPr txBox="1"/>
          <p:nvPr/>
        </p:nvSpPr>
        <p:spPr>
          <a:xfrm>
            <a:off x="1161288" y="5065776"/>
            <a:ext cx="10177272"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ANY caps keeps the element generic</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it transforms bytes, so it must accept whatever the upstream pad offers.</a:t>
            </a:r>
            <a:endParaRPr lang="en-US" sz="1500" dirty="0"/>
          </a:p>
        </p:txBody>
      </p:sp>
      <p:sp>
        <p:nvSpPr>
          <p:cNvPr id="19" name="Shape 17"/>
          <p:cNvSpPr/>
          <p:nvPr/>
        </p:nvSpPr>
        <p:spPr>
          <a:xfrm>
            <a:off x="548640" y="5852160"/>
            <a:ext cx="384048" cy="384048"/>
          </a:xfrm>
          <a:prstGeom prst="ellipse">
            <a:avLst/>
          </a:prstGeom>
          <a:solidFill>
            <a:srgbClr val="4F6F64"/>
          </a:solidFill>
          <a:ln/>
        </p:spPr>
      </p:sp>
      <p:sp>
        <p:nvSpPr>
          <p:cNvPr id="20" name="Text 18"/>
          <p:cNvSpPr txBox="1"/>
          <p:nvPr/>
        </p:nvSpPr>
        <p:spPr>
          <a:xfrm>
            <a:off x="548640" y="58521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txBox="1"/>
          <p:nvPr/>
        </p:nvSpPr>
        <p:spPr>
          <a:xfrm>
            <a:off x="1161288" y="5797296"/>
            <a:ext cx="10177272"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The Verify line is two commands: build, then inspect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gst-inspect-1.0 listing the element and its pads proves the plugin loads, not just that it compiles.</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Problem: Rules That Can't Be Left to Judgment</a:t>
            </a:r>
            <a:endParaRPr lang="en-US" sz="3200" dirty="0"/>
          </a:p>
        </p:txBody>
      </p:sp>
      <p:sp>
        <p:nvSpPr>
          <p:cNvPr id="3" name="Shape 1"/>
          <p:cNvSpPr/>
          <p:nvPr/>
        </p:nvSpPr>
        <p:spPr>
          <a:xfrm>
            <a:off x="548640" y="1508760"/>
            <a:ext cx="457200" cy="457200"/>
          </a:xfrm>
          <a:prstGeom prst="ellipse">
            <a:avLst/>
          </a:prstGeom>
          <a:solidFill>
            <a:srgbClr val="8E3B2E"/>
          </a:solidFill>
          <a:ln/>
        </p:spPr>
      </p:sp>
      <p:sp>
        <p:nvSpPr>
          <p:cNvPr id="4" name="Text 2"/>
          <p:cNvSpPr txBox="1"/>
          <p:nvPr/>
        </p:nvSpPr>
        <p:spPr>
          <a:xfrm>
            <a:off x="548640"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5" name="Text 3"/>
          <p:cNvSpPr txBox="1"/>
          <p:nvPr/>
        </p:nvSpPr>
        <p:spPr>
          <a:xfrm>
            <a:off x="1234440" y="1453896"/>
            <a:ext cx="10104120" cy="107899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Deciding what to do next is a judgment call, not a rule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which tool runs next, and with what input, is chosen by the model each time and can vary between runs.</a:t>
            </a:r>
            <a:endParaRPr lang="en-US" sz="1500" dirty="0"/>
          </a:p>
        </p:txBody>
      </p:sp>
      <p:sp>
        <p:nvSpPr>
          <p:cNvPr id="6" name="Shape 4"/>
          <p:cNvSpPr/>
          <p:nvPr/>
        </p:nvSpPr>
        <p:spPr>
          <a:xfrm>
            <a:off x="548640" y="2587752"/>
            <a:ext cx="457200" cy="457200"/>
          </a:xfrm>
          <a:prstGeom prst="ellipse">
            <a:avLst/>
          </a:prstGeom>
          <a:solidFill>
            <a:srgbClr val="8E3B2E"/>
          </a:solidFill>
          <a:ln/>
        </p:spPr>
      </p:sp>
      <p:sp>
        <p:nvSpPr>
          <p:cNvPr id="7" name="Text 5"/>
          <p:cNvSpPr txBox="1"/>
          <p:nvPr/>
        </p:nvSpPr>
        <p:spPr>
          <a:xfrm>
            <a:off x="548640" y="25877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2532888"/>
            <a:ext cx="10104120" cy="107899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Some conventions cannot be "mostly" followed</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a C copy into a fixed buffer is either bounded or it is not; include/autoconf.h is either untouched or it is not.</a:t>
            </a:r>
            <a:endParaRPr lang="en-US" sz="1500" dirty="0"/>
          </a:p>
        </p:txBody>
      </p:sp>
      <p:sp>
        <p:nvSpPr>
          <p:cNvPr id="9" name="Shape 7"/>
          <p:cNvSpPr/>
          <p:nvPr/>
        </p:nvSpPr>
        <p:spPr>
          <a:xfrm>
            <a:off x="548640" y="3666744"/>
            <a:ext cx="457200" cy="457200"/>
          </a:xfrm>
          <a:prstGeom prst="ellipse">
            <a:avLst/>
          </a:prstGeom>
          <a:solidFill>
            <a:srgbClr val="8E3B2E"/>
          </a:solidFill>
          <a:ln/>
        </p:spPr>
      </p:sp>
      <p:sp>
        <p:nvSpPr>
          <p:cNvPr id="10" name="Text 8"/>
          <p:cNvSpPr txBox="1"/>
          <p:nvPr/>
        </p:nvSpPr>
        <p:spPr>
          <a:xfrm>
            <a:off x="548640" y="366674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Text 9"/>
          <p:cNvSpPr txBox="1"/>
          <p:nvPr/>
        </p:nvSpPr>
        <p:spPr>
          <a:xfrm>
            <a:off x="1234440" y="3611880"/>
            <a:ext cx="10104120" cy="107899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Re-explaining the same rule in every prompt does not scale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CLAUDE.md can ask for a convention, but nothing guarantees the check actually ran.</a:t>
            </a:r>
            <a:endParaRPr lang="en-US" sz="1500" dirty="0"/>
          </a:p>
        </p:txBody>
      </p:sp>
      <p:sp>
        <p:nvSpPr>
          <p:cNvPr id="12" name="Shape 10"/>
          <p:cNvSpPr/>
          <p:nvPr/>
        </p:nvSpPr>
        <p:spPr>
          <a:xfrm>
            <a:off x="548640" y="4745736"/>
            <a:ext cx="457200" cy="457200"/>
          </a:xfrm>
          <a:prstGeom prst="ellipse">
            <a:avLst/>
          </a:prstGeom>
          <a:solidFill>
            <a:srgbClr val="8E3B2E"/>
          </a:solidFill>
          <a:ln/>
        </p:spPr>
      </p:sp>
      <p:sp>
        <p:nvSpPr>
          <p:cNvPr id="13" name="Text 11"/>
          <p:cNvSpPr txBox="1"/>
          <p:nvPr/>
        </p:nvSpPr>
        <p:spPr>
          <a:xfrm>
            <a:off x="548640" y="47457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2"/>
          <p:cNvSpPr txBox="1"/>
          <p:nvPr/>
        </p:nvSpPr>
        <p:spPr>
          <a:xfrm>
            <a:off x="1234440" y="4690872"/>
            <a:ext cx="10104120" cy="107899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You want it applied the same way, every single time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path-scoped rules put the standard in front of the model; a hook enforces it outside the model's judgment.</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Standards as Path-Scoped Rules (Lab 2.6)</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Files under .claude/rules/ with a paths: list load only when Claude reads a matching file, so the C standard stays out of context during shell work.</a:t>
            </a:r>
            <a:endParaRPr lang="en-US" sz="1500" dirty="0"/>
          </a:p>
        </p:txBody>
      </p:sp>
      <p:sp>
        <p:nvSpPr>
          <p:cNvPr id="4" name="Shape 2"/>
          <p:cNvSpPr/>
          <p:nvPr/>
        </p:nvSpPr>
        <p:spPr>
          <a:xfrm>
            <a:off x="548640" y="1783080"/>
            <a:ext cx="5212080" cy="3621024"/>
          </a:xfrm>
          <a:prstGeom prst="roundRect">
            <a:avLst>
              <a:gd name="adj" fmla="val 2020"/>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901952"/>
            <a:ext cx="4663440" cy="242316"/>
          </a:xfrm>
          <a:prstGeom prst="rect">
            <a:avLst/>
          </a:prstGeom>
          <a:noFill/>
          <a:ln/>
        </p:spPr>
        <p:txBody>
          <a:bodyPr wrap="square" lIns="0" tIns="0" rIns="0" bIns="0" rtlCol="0" anchor="ctr"/>
          <a:lstStyle/>
          <a:p>
            <a:pPr indent="0" marL="0">
              <a:buNone/>
            </a:pPr>
            <a:r>
              <a:rPr lang="en-US" sz="1000" dirty="0">
                <a:solidFill>
                  <a:srgbClr val="F3EFE8"/>
                </a:solidFill>
                <a:latin typeface="Courier New" pitchFamily="34" charset="0"/>
                <a:ea typeface="Courier New" pitchFamily="34" charset="-122"/>
                <a:cs typeface="Courier New" pitchFamily="34" charset="-120"/>
              </a:rPr>
              <a:t># .claude/rules/c-security.md</a:t>
            </a:r>
            <a:endParaRPr lang="en-US" sz="1000" dirty="0"/>
          </a:p>
        </p:txBody>
      </p:sp>
      <p:sp>
        <p:nvSpPr>
          <p:cNvPr id="6" name="Text 4"/>
          <p:cNvSpPr txBox="1"/>
          <p:nvPr/>
        </p:nvSpPr>
        <p:spPr>
          <a:xfrm>
            <a:off x="822960" y="2144268"/>
            <a:ext cx="466344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7" name="Text 5"/>
          <p:cNvSpPr txBox="1"/>
          <p:nvPr/>
        </p:nvSpPr>
        <p:spPr>
          <a:xfrm>
            <a:off x="822960" y="2386584"/>
            <a:ext cx="466344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paths:</a:t>
            </a:r>
            <a:endParaRPr lang="en-US" sz="1100" dirty="0"/>
          </a:p>
        </p:txBody>
      </p:sp>
      <p:sp>
        <p:nvSpPr>
          <p:cNvPr id="8" name="Text 6"/>
          <p:cNvSpPr txBox="1"/>
          <p:nvPr/>
        </p:nvSpPr>
        <p:spPr>
          <a:xfrm>
            <a:off x="822960" y="2628900"/>
            <a:ext cx="466344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 "**/*.c"</a:t>
            </a:r>
            <a:endParaRPr lang="en-US" sz="1100" dirty="0"/>
          </a:p>
        </p:txBody>
      </p:sp>
      <p:sp>
        <p:nvSpPr>
          <p:cNvPr id="9" name="Text 7"/>
          <p:cNvSpPr txBox="1"/>
          <p:nvPr/>
        </p:nvSpPr>
        <p:spPr>
          <a:xfrm>
            <a:off x="822960" y="2871216"/>
            <a:ext cx="466344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 "**/*.h"</a:t>
            </a:r>
            <a:endParaRPr lang="en-US" sz="1100" dirty="0"/>
          </a:p>
        </p:txBody>
      </p:sp>
      <p:sp>
        <p:nvSpPr>
          <p:cNvPr id="10" name="Text 8"/>
          <p:cNvSpPr txBox="1"/>
          <p:nvPr/>
        </p:nvSpPr>
        <p:spPr>
          <a:xfrm>
            <a:off x="822960" y="3113532"/>
            <a:ext cx="466344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11" name="Text 9"/>
          <p:cNvSpPr txBox="1"/>
          <p:nvPr/>
        </p:nvSpPr>
        <p:spPr>
          <a:xfrm>
            <a:off x="822960" y="3355848"/>
            <a:ext cx="466344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Bounded string functions only;</a:t>
            </a:r>
            <a:endParaRPr lang="en-US" sz="1100" dirty="0"/>
          </a:p>
        </p:txBody>
      </p:sp>
      <p:sp>
        <p:nvSpPr>
          <p:cNvPr id="12" name="Text 10"/>
          <p:cNvSpPr txBox="1"/>
          <p:nvPr/>
        </p:nvSpPr>
        <p:spPr>
          <a:xfrm>
            <a:off x="822960" y="3598164"/>
            <a:ext cx="466344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no strcpy, strcat, sprintf, gets</a:t>
            </a:r>
            <a:endParaRPr lang="en-US" sz="1100" dirty="0"/>
          </a:p>
        </p:txBody>
      </p:sp>
      <p:sp>
        <p:nvSpPr>
          <p:cNvPr id="13" name="Text 11"/>
          <p:cNvSpPr txBox="1"/>
          <p:nvPr/>
        </p:nvSpPr>
        <p:spPr>
          <a:xfrm>
            <a:off x="822960" y="3840480"/>
            <a:ext cx="466344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Validate every length from input</a:t>
            </a:r>
            <a:endParaRPr lang="en-US" sz="1100" dirty="0"/>
          </a:p>
        </p:txBody>
      </p:sp>
      <p:sp>
        <p:nvSpPr>
          <p:cNvPr id="14" name="Text 12"/>
          <p:cNvSpPr txBox="1"/>
          <p:nvPr/>
        </p:nvSpPr>
        <p:spPr>
          <a:xfrm>
            <a:off x="822960" y="4082796"/>
            <a:ext cx="466344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before using it as an index or size</a:t>
            </a:r>
            <a:endParaRPr lang="en-US" sz="1100" dirty="0"/>
          </a:p>
        </p:txBody>
      </p:sp>
      <p:sp>
        <p:nvSpPr>
          <p:cNvPr id="15" name="Text 13"/>
          <p:cNvSpPr txBox="1"/>
          <p:nvPr/>
        </p:nvSpPr>
        <p:spPr>
          <a:xfrm>
            <a:off x="822960" y="4325112"/>
            <a:ext cx="466344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Check integer overflow on size</a:t>
            </a:r>
            <a:endParaRPr lang="en-US" sz="1100" dirty="0"/>
          </a:p>
        </p:txBody>
      </p:sp>
      <p:sp>
        <p:nvSpPr>
          <p:cNvPr id="16" name="Text 14"/>
          <p:cNvSpPr txBox="1"/>
          <p:nvPr/>
        </p:nvSpPr>
        <p:spPr>
          <a:xfrm>
            <a:off x="822960" y="4567428"/>
            <a:ext cx="466344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arithmetic before allocation</a:t>
            </a:r>
            <a:endParaRPr lang="en-US" sz="1100" dirty="0"/>
          </a:p>
        </p:txBody>
      </p:sp>
      <p:sp>
        <p:nvSpPr>
          <p:cNvPr id="17" name="Text 15"/>
          <p:cNvSpPr txBox="1"/>
          <p:nvPr/>
        </p:nvSpPr>
        <p:spPr>
          <a:xfrm>
            <a:off x="822960" y="4809744"/>
            <a:ext cx="466344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Check every malloc/xmalloc result</a:t>
            </a:r>
            <a:endParaRPr lang="en-US" sz="1100" dirty="0"/>
          </a:p>
        </p:txBody>
      </p:sp>
      <p:sp>
        <p:nvSpPr>
          <p:cNvPr id="18" name="Text 16"/>
          <p:cNvSpPr txBox="1"/>
          <p:nvPr/>
        </p:nvSpPr>
        <p:spPr>
          <a:xfrm>
            <a:off x="822960" y="5052060"/>
            <a:ext cx="466344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and every read/write return value</a:t>
            </a:r>
            <a:endParaRPr lang="en-US" sz="1100" dirty="0"/>
          </a:p>
        </p:txBody>
      </p:sp>
      <p:sp>
        <p:nvSpPr>
          <p:cNvPr id="19" name="Shape 17"/>
          <p:cNvSpPr/>
          <p:nvPr/>
        </p:nvSpPr>
        <p:spPr>
          <a:xfrm>
            <a:off x="6035040" y="1783080"/>
            <a:ext cx="5303520" cy="2894076"/>
          </a:xfrm>
          <a:prstGeom prst="roundRect">
            <a:avLst>
              <a:gd name="adj" fmla="val 2528"/>
            </a:avLst>
          </a:prstGeom>
          <a:solidFill>
            <a:srgbClr val="262320"/>
          </a:solidFill>
          <a:ln/>
          <a:effectLst>
            <a:outerShdw sx="100000" sy="100000" kx="0" ky="0" algn="bl" rotWithShape="0" blurRad="76200" dist="25400" dir="5400000">
              <a:srgbClr val="000000">
                <a:alpha val="18000"/>
              </a:srgbClr>
            </a:outerShdw>
          </a:effectLst>
        </p:spPr>
      </p:sp>
      <p:sp>
        <p:nvSpPr>
          <p:cNvPr id="20" name="Text 18"/>
          <p:cNvSpPr txBox="1"/>
          <p:nvPr/>
        </p:nvSpPr>
        <p:spPr>
          <a:xfrm>
            <a:off x="6309360" y="1901952"/>
            <a:ext cx="4754880" cy="242316"/>
          </a:xfrm>
          <a:prstGeom prst="rect">
            <a:avLst/>
          </a:prstGeom>
          <a:noFill/>
          <a:ln/>
        </p:spPr>
        <p:txBody>
          <a:bodyPr wrap="square" lIns="0" tIns="0" rIns="0" bIns="0" rtlCol="0" anchor="ctr"/>
          <a:lstStyle/>
          <a:p>
            <a:pPr indent="0" marL="0">
              <a:buNone/>
            </a:pPr>
            <a:r>
              <a:rPr lang="en-US" sz="1000" dirty="0">
                <a:solidFill>
                  <a:srgbClr val="F3EFE8"/>
                </a:solidFill>
                <a:latin typeface="Courier New" pitchFamily="34" charset="0"/>
                <a:ea typeface="Courier New" pitchFamily="34" charset="-122"/>
                <a:cs typeface="Courier New" pitchFamily="34" charset="-120"/>
              </a:rPr>
              <a:t># .claude/rules/shell.md  (paths: **/*.sh, scripts/**)</a:t>
            </a:r>
            <a:endParaRPr lang="en-US" sz="1000" dirty="0"/>
          </a:p>
        </p:txBody>
      </p:sp>
      <p:sp>
        <p:nvSpPr>
          <p:cNvPr id="21" name="Text 19"/>
          <p:cNvSpPr txBox="1"/>
          <p:nvPr/>
        </p:nvSpPr>
        <p:spPr>
          <a:xfrm>
            <a:off x="6309360" y="2144268"/>
            <a:ext cx="475488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#!/usr/bin/env bash, set -euo pipefail</a:t>
            </a:r>
            <a:endParaRPr lang="en-US" sz="1100" dirty="0"/>
          </a:p>
        </p:txBody>
      </p:sp>
      <p:sp>
        <p:nvSpPr>
          <p:cNvPr id="22" name="Text 20"/>
          <p:cNvSpPr txBox="1"/>
          <p:nvPr/>
        </p:nvSpPr>
        <p:spPr>
          <a:xfrm>
            <a:off x="6309360" y="2386584"/>
            <a:ext cx="475488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Quote all variable expansions</a:t>
            </a:r>
            <a:endParaRPr lang="en-US" sz="1100" dirty="0"/>
          </a:p>
        </p:txBody>
      </p:sp>
      <p:sp>
        <p:nvSpPr>
          <p:cNvPr id="23" name="Text 21"/>
          <p:cNvSpPr txBox="1"/>
          <p:nvPr/>
        </p:nvSpPr>
        <p:spPr>
          <a:xfrm>
            <a:off x="6309360" y="2628900"/>
            <a:ext cx="475488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No hard-coded absolute paths</a:t>
            </a:r>
            <a:endParaRPr lang="en-US" sz="1100" dirty="0"/>
          </a:p>
        </p:txBody>
      </p:sp>
      <p:sp>
        <p:nvSpPr>
          <p:cNvPr id="24" name="Text 22"/>
          <p:cNvSpPr txBox="1"/>
          <p:nvPr/>
        </p:nvSpPr>
        <p:spPr>
          <a:xfrm>
            <a:off x="6309360" y="2871216"/>
            <a:ext cx="4754880" cy="242316"/>
          </a:xfrm>
          <a:prstGeom prst="rect">
            <a:avLst/>
          </a:prstGeom>
          <a:noFill/>
          <a:ln/>
        </p:spPr>
        <p:txBody>
          <a:bodyPr wrap="square" lIns="0" tIns="0" rIns="0" bIns="0" rtlCol="0" anchor="ctr"/>
          <a:lstStyle/>
          <a:p>
            <a:pPr indent="0" marL="0">
              <a:buNone/>
            </a:pPr>
            <a:endParaRPr lang="en-US" sz="1100" dirty="0"/>
          </a:p>
        </p:txBody>
      </p:sp>
      <p:sp>
        <p:nvSpPr>
          <p:cNvPr id="25" name="Text 23"/>
          <p:cNvSpPr txBox="1"/>
          <p:nvPr/>
        </p:nvSpPr>
        <p:spPr>
          <a:xfrm>
            <a:off x="6309360" y="3113532"/>
            <a:ext cx="4754880" cy="242316"/>
          </a:xfrm>
          <a:prstGeom prst="rect">
            <a:avLst/>
          </a:prstGeom>
          <a:noFill/>
          <a:ln/>
        </p:spPr>
        <p:txBody>
          <a:bodyPr wrap="square" lIns="0" tIns="0" rIns="0" bIns="0" rtlCol="0" anchor="ctr"/>
          <a:lstStyle/>
          <a:p>
            <a:pPr indent="0" marL="0">
              <a:buNone/>
            </a:pPr>
            <a:r>
              <a:rPr lang="en-US" sz="1000" dirty="0">
                <a:solidFill>
                  <a:srgbClr val="F3EFE8"/>
                </a:solidFill>
                <a:latin typeface="Courier New" pitchFamily="34" charset="0"/>
                <a:ea typeface="Courier New" pitchFamily="34" charset="-122"/>
                <a:cs typeface="Courier New" pitchFamily="34" charset="-120"/>
              </a:rPr>
              <a:t># .claude/rules/python.md  (paths: tools/**/*.py)</a:t>
            </a:r>
            <a:endParaRPr lang="en-US" sz="1000" dirty="0"/>
          </a:p>
        </p:txBody>
      </p:sp>
      <p:sp>
        <p:nvSpPr>
          <p:cNvPr id="26" name="Text 24"/>
          <p:cNvSpPr txBox="1"/>
          <p:nvPr/>
        </p:nvSpPr>
        <p:spPr>
          <a:xfrm>
            <a:off x="6309360" y="3355848"/>
            <a:ext cx="475488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Python 3 stdlib only</a:t>
            </a:r>
            <a:endParaRPr lang="en-US" sz="1100" dirty="0"/>
          </a:p>
        </p:txBody>
      </p:sp>
      <p:sp>
        <p:nvSpPr>
          <p:cNvPr id="27" name="Text 25"/>
          <p:cNvSpPr txBox="1"/>
          <p:nvPr/>
        </p:nvSpPr>
        <p:spPr>
          <a:xfrm>
            <a:off x="6309360" y="3598164"/>
            <a:ext cx="4754880" cy="242316"/>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Type hints; non-zero exit on failure</a:t>
            </a:r>
            <a:endParaRPr lang="en-US" sz="1100" dirty="0"/>
          </a:p>
        </p:txBody>
      </p:sp>
      <p:sp>
        <p:nvSpPr>
          <p:cNvPr id="28" name="Text 26"/>
          <p:cNvSpPr txBox="1"/>
          <p:nvPr/>
        </p:nvSpPr>
        <p:spPr>
          <a:xfrm>
            <a:off x="6309360" y="3840480"/>
            <a:ext cx="4754880" cy="242316"/>
          </a:xfrm>
          <a:prstGeom prst="rect">
            <a:avLst/>
          </a:prstGeom>
          <a:noFill/>
          <a:ln/>
        </p:spPr>
        <p:txBody>
          <a:bodyPr wrap="square" lIns="0" tIns="0" rIns="0" bIns="0" rtlCol="0" anchor="ctr"/>
          <a:lstStyle/>
          <a:p>
            <a:pPr indent="0" marL="0">
              <a:buNone/>
            </a:pPr>
            <a:endParaRPr lang="en-US" sz="1100" dirty="0"/>
          </a:p>
        </p:txBody>
      </p:sp>
      <p:sp>
        <p:nvSpPr>
          <p:cNvPr id="29" name="Text 27"/>
          <p:cNvSpPr txBox="1"/>
          <p:nvPr/>
        </p:nvSpPr>
        <p:spPr>
          <a:xfrm>
            <a:off x="6309360" y="4082796"/>
            <a:ext cx="4754880" cy="242316"/>
          </a:xfrm>
          <a:prstGeom prst="rect">
            <a:avLst/>
          </a:prstGeom>
          <a:noFill/>
          <a:ln/>
        </p:spPr>
        <p:txBody>
          <a:bodyPr wrap="square" lIns="0" tIns="0" rIns="0" bIns="0" rtlCol="0" anchor="ctr"/>
          <a:lstStyle/>
          <a:p>
            <a:pPr indent="0" marL="0">
              <a:buNone/>
            </a:pPr>
            <a:r>
              <a:rPr lang="en-US" sz="1000" dirty="0">
                <a:solidFill>
                  <a:srgbClr val="F3EFE8"/>
                </a:solidFill>
                <a:latin typeface="Courier New" pitchFamily="34" charset="0"/>
                <a:ea typeface="Courier New" pitchFamily="34" charset="-122"/>
                <a:cs typeface="Courier New" pitchFamily="34" charset="-120"/>
              </a:rPr>
              <a:t># each file starts with the same front matter</a:t>
            </a:r>
            <a:endParaRPr lang="en-US" sz="1000" dirty="0"/>
          </a:p>
        </p:txBody>
      </p:sp>
      <p:sp>
        <p:nvSpPr>
          <p:cNvPr id="30" name="Text 28"/>
          <p:cNvSpPr txBox="1"/>
          <p:nvPr/>
        </p:nvSpPr>
        <p:spPr>
          <a:xfrm>
            <a:off x="6309360" y="4325112"/>
            <a:ext cx="4754880" cy="242316"/>
          </a:xfrm>
          <a:prstGeom prst="rect">
            <a:avLst/>
          </a:prstGeom>
          <a:noFill/>
          <a:ln/>
        </p:spPr>
        <p:txBody>
          <a:bodyPr wrap="square" lIns="0" tIns="0" rIns="0" bIns="0" rtlCol="0" anchor="ctr"/>
          <a:lstStyle/>
          <a:p>
            <a:pPr indent="0" marL="0">
              <a:buNone/>
            </a:pPr>
            <a:r>
              <a:rPr lang="en-US" sz="1000" dirty="0">
                <a:solidFill>
                  <a:srgbClr val="F3EFE8"/>
                </a:solidFill>
                <a:latin typeface="Courier New" pitchFamily="34" charset="0"/>
                <a:ea typeface="Courier New" pitchFamily="34" charset="-122"/>
                <a:cs typeface="Courier New" pitchFamily="34" charset="-120"/>
              </a:rPr>
              <a:t># shape as c-security.md, with its own globs</a:t>
            </a:r>
            <a:endParaRPr lang="en-US" sz="1000" dirty="0"/>
          </a:p>
        </p:txBody>
      </p:sp>
      <p:sp>
        <p:nvSpPr>
          <p:cNvPr id="31" name="Shape 29"/>
          <p:cNvSpPr/>
          <p:nvPr/>
        </p:nvSpPr>
        <p:spPr>
          <a:xfrm>
            <a:off x="548640" y="5577840"/>
            <a:ext cx="457200" cy="457200"/>
          </a:xfrm>
          <a:prstGeom prst="ellipse">
            <a:avLst/>
          </a:prstGeom>
          <a:solidFill>
            <a:srgbClr val="7A736A"/>
          </a:solidFill>
          <a:ln/>
        </p:spPr>
      </p:sp>
      <p:sp>
        <p:nvSpPr>
          <p:cNvPr id="32" name="Text 30"/>
          <p:cNvSpPr txBox="1"/>
          <p:nvPr/>
        </p:nvSpPr>
        <p:spPr>
          <a:xfrm>
            <a:off x="548640" y="5577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3" name="Text 31"/>
          <p:cNvSpPr txBox="1"/>
          <p:nvPr/>
        </p:nvSpPr>
        <p:spPr>
          <a:xfrm>
            <a:off x="1234440" y="552297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Test it: ask for a helper that copies argv[1] into a 16-byte stack buffer</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expect a bounded copy and a length check, and an answer that names the rule it applied.</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Solution: Hooks</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A hook is a handler Claude Code runs automatically at a defined point in its lifecycle. It is deterministic: it runs for every matching action, whatever the model decided.</a:t>
            </a:r>
            <a:endParaRPr lang="en-US" sz="1500" dirty="0"/>
          </a:p>
        </p:txBody>
      </p:sp>
      <p:sp>
        <p:nvSpPr>
          <p:cNvPr id="4" name="Shape 2"/>
          <p:cNvSpPr/>
          <p:nvPr/>
        </p:nvSpPr>
        <p:spPr>
          <a:xfrm>
            <a:off x="822960" y="1874520"/>
            <a:ext cx="3017520" cy="914400"/>
          </a:xfrm>
          <a:prstGeom prst="roundRect">
            <a:avLst>
              <a:gd name="adj" fmla="val 8000"/>
            </a:avLst>
          </a:prstGeom>
          <a:solidFill>
            <a:srgbClr val="F3EFE8"/>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896112" y="1965960"/>
            <a:ext cx="2871216" cy="731520"/>
          </a:xfrm>
          <a:prstGeom prst="rect">
            <a:avLst/>
          </a:prstGeom>
          <a:noFill/>
          <a:ln/>
        </p:spPr>
        <p:txBody>
          <a:bodyPr wrap="square" lIns="0" tIns="0" rIns="0" bIns="0" rtlCol="0" anchor="ctr"/>
          <a:lstStyle/>
          <a:p>
            <a:pPr algn="ctr" indent="0" marL="0">
              <a:buNone/>
            </a:pPr>
            <a:r>
              <a:rPr lang="en-US" sz="1350" b="1" dirty="0">
                <a:solidFill>
                  <a:srgbClr val="262320"/>
                </a:solidFill>
                <a:latin typeface="Calibri" pitchFamily="34" charset="0"/>
                <a:ea typeface="Calibri" pitchFamily="34" charset="-122"/>
                <a:cs typeface="Calibri" pitchFamily="34" charset="-120"/>
              </a:rPr>
              <a:t>Edit or Write attempted</a:t>
            </a:r>
            <a:endParaRPr lang="en-US" sz="1350" dirty="0"/>
          </a:p>
          <a:p>
            <a:pPr algn="ctr" indent="0" marL="0">
              <a:buNone/>
            </a:pPr>
            <a:r>
              <a:rPr lang="en-US" sz="1050" dirty="0">
                <a:solidFill>
                  <a:srgbClr val="7A736A"/>
                </a:solidFill>
                <a:latin typeface="Calibri" pitchFamily="34" charset="0"/>
                <a:ea typeface="Calibri" pitchFamily="34" charset="-122"/>
                <a:cs typeface="Calibri" pitchFamily="34" charset="-120"/>
              </a:rPr>
              <a:t>e.g. on include/autoconf.h</a:t>
            </a:r>
            <a:endParaRPr lang="en-US" sz="1350" dirty="0"/>
          </a:p>
        </p:txBody>
      </p:sp>
      <p:sp>
        <p:nvSpPr>
          <p:cNvPr id="6" name="Shape 4"/>
          <p:cNvSpPr/>
          <p:nvPr/>
        </p:nvSpPr>
        <p:spPr>
          <a:xfrm>
            <a:off x="3840480" y="2331720"/>
            <a:ext cx="457200" cy="0"/>
          </a:xfrm>
          <a:prstGeom prst="line">
            <a:avLst/>
          </a:prstGeom>
          <a:noFill/>
          <a:ln w="22225">
            <a:solidFill>
              <a:srgbClr val="7A736A"/>
            </a:solidFill>
            <a:prstDash val="solid"/>
            <a:tailEnd type="triangle"/>
          </a:ln>
        </p:spPr>
      </p:sp>
      <p:sp>
        <p:nvSpPr>
          <p:cNvPr id="7" name="Shape 5"/>
          <p:cNvSpPr/>
          <p:nvPr/>
        </p:nvSpPr>
        <p:spPr>
          <a:xfrm>
            <a:off x="4297680" y="1874520"/>
            <a:ext cx="3017520" cy="914400"/>
          </a:xfrm>
          <a:prstGeom prst="roundRect">
            <a:avLst>
              <a:gd name="adj" fmla="val 8000"/>
            </a:avLst>
          </a:prstGeom>
          <a:solidFill>
            <a:srgbClr val="C15F3C"/>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4370832" y="1965960"/>
            <a:ext cx="2871216"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PreToolUse hook checks</a:t>
            </a:r>
            <a:endParaRPr lang="en-US" sz="1350" dirty="0"/>
          </a:p>
          <a:p>
            <a:pPr algn="ctr" indent="0" marL="0">
              <a:buNone/>
            </a:pPr>
            <a:r>
              <a:rPr lang="en-US" sz="1050" dirty="0">
                <a:solidFill>
                  <a:srgbClr val="F3EFE8"/>
                </a:solidFill>
                <a:latin typeface="Calibri" pitchFamily="34" charset="0"/>
                <a:ea typeface="Calibri" pitchFamily="34" charset="-122"/>
                <a:cs typeface="Calibri" pitchFamily="34" charset="-120"/>
              </a:rPr>
              <a:t>runs before the tool, every time</a:t>
            </a:r>
            <a:endParaRPr lang="en-US" sz="1350" dirty="0"/>
          </a:p>
        </p:txBody>
      </p:sp>
      <p:sp>
        <p:nvSpPr>
          <p:cNvPr id="9" name="Shape 7"/>
          <p:cNvSpPr/>
          <p:nvPr/>
        </p:nvSpPr>
        <p:spPr>
          <a:xfrm>
            <a:off x="7315200" y="2331720"/>
            <a:ext cx="457200" cy="0"/>
          </a:xfrm>
          <a:prstGeom prst="line">
            <a:avLst/>
          </a:prstGeom>
          <a:noFill/>
          <a:ln w="22225">
            <a:solidFill>
              <a:srgbClr val="7A736A"/>
            </a:solidFill>
            <a:prstDash val="solid"/>
            <a:tailEnd type="triangle"/>
          </a:ln>
        </p:spPr>
      </p:sp>
      <p:sp>
        <p:nvSpPr>
          <p:cNvPr id="10" name="Shape 8"/>
          <p:cNvSpPr/>
          <p:nvPr/>
        </p:nvSpPr>
        <p:spPr>
          <a:xfrm>
            <a:off x="7772400" y="1874520"/>
            <a:ext cx="3017520" cy="914400"/>
          </a:xfrm>
          <a:prstGeom prst="roundRect">
            <a:avLst>
              <a:gd name="adj" fmla="val 8000"/>
            </a:avLst>
          </a:prstGeom>
          <a:solidFill>
            <a:srgbClr val="4F6F64"/>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11" name="Text 9"/>
          <p:cNvSpPr txBox="1"/>
          <p:nvPr/>
        </p:nvSpPr>
        <p:spPr>
          <a:xfrm>
            <a:off x="7845552" y="1965960"/>
            <a:ext cx="2871216"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Allow or block</a:t>
            </a:r>
            <a:endParaRPr lang="en-US" sz="1350" dirty="0"/>
          </a:p>
          <a:p>
            <a:pPr algn="ctr" indent="0" marL="0">
              <a:buNone/>
            </a:pPr>
            <a:r>
              <a:rPr lang="en-US" sz="1050" dirty="0">
                <a:solidFill>
                  <a:srgbClr val="F3EFE8"/>
                </a:solidFill>
                <a:latin typeface="Calibri" pitchFamily="34" charset="0"/>
                <a:ea typeface="Calibri" pitchFamily="34" charset="-122"/>
                <a:cs typeface="Calibri" pitchFamily="34" charset="-120"/>
              </a:rPr>
              <a:t>exit 2 blocks; stderr is sent to Claude</a:t>
            </a:r>
            <a:endParaRPr lang="en-US" sz="1350" dirty="0"/>
          </a:p>
        </p:txBody>
      </p:sp>
      <p:sp>
        <p:nvSpPr>
          <p:cNvPr id="12" name="Shape 10"/>
          <p:cNvSpPr/>
          <p:nvPr/>
        </p:nvSpPr>
        <p:spPr>
          <a:xfrm>
            <a:off x="548640" y="3017520"/>
            <a:ext cx="10789920" cy="1325880"/>
          </a:xfrm>
          <a:prstGeom prst="roundRect">
            <a:avLst>
              <a:gd name="adj" fmla="val 5517"/>
            </a:avLst>
          </a:prstGeom>
          <a:solidFill>
            <a:srgbClr val="262320"/>
          </a:solidFill>
          <a:ln/>
          <a:effectLst>
            <a:outerShdw sx="100000" sy="100000" kx="0" ky="0" algn="bl" rotWithShape="0" blurRad="76200" dist="25400" dir="5400000">
              <a:srgbClr val="000000">
                <a:alpha val="18000"/>
              </a:srgbClr>
            </a:outerShdw>
          </a:effectLst>
        </p:spPr>
      </p:sp>
      <p:sp>
        <p:nvSpPr>
          <p:cNvPr id="13" name="Text 11"/>
          <p:cNvSpPr txBox="1"/>
          <p:nvPr/>
        </p:nvSpPr>
        <p:spPr>
          <a:xfrm>
            <a:off x="822960" y="3136392"/>
            <a:ext cx="10241280" cy="274320"/>
          </a:xfrm>
          <a:prstGeom prst="rect">
            <a:avLst/>
          </a:prstGeom>
          <a:noFill/>
          <a:ln/>
        </p:spPr>
        <p:txBody>
          <a:bodyPr wrap="square" lIns="0" tIns="0" rIns="0" bIns="0" rtlCol="0" anchor="ctr"/>
          <a:lstStyle/>
          <a:p>
            <a:pPr indent="0" marL="0">
              <a:buNone/>
            </a:pPr>
            <a:r>
              <a:rPr lang="en-US" sz="1100" dirty="0">
                <a:solidFill>
                  <a:srgbClr val="F3EFE8"/>
                </a:solidFill>
                <a:latin typeface="Courier New" pitchFamily="34" charset="0"/>
                <a:ea typeface="Courier New" pitchFamily="34" charset="-122"/>
                <a:cs typeface="Courier New" pitchFamily="34" charset="-120"/>
              </a:rPr>
              <a:t># .claude/settings.json (installed in lab 1.5)</a:t>
            </a:r>
            <a:endParaRPr lang="en-US" sz="1100" dirty="0"/>
          </a:p>
        </p:txBody>
      </p:sp>
      <p:sp>
        <p:nvSpPr>
          <p:cNvPr id="14" name="Text 12"/>
          <p:cNvSpPr txBox="1"/>
          <p:nvPr/>
        </p:nvSpPr>
        <p:spPr>
          <a:xfrm>
            <a:off x="822960" y="3410712"/>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"hooks": { "PreToolUse": [ { "matcher": "Edit|Write",</a:t>
            </a:r>
            <a:endParaRPr lang="en-US" sz="1200" dirty="0"/>
          </a:p>
        </p:txBody>
      </p:sp>
      <p:sp>
        <p:nvSpPr>
          <p:cNvPr id="15" name="Text 13"/>
          <p:cNvSpPr txBox="1"/>
          <p:nvPr/>
        </p:nvSpPr>
        <p:spPr>
          <a:xfrm>
            <a:off x="822960" y="3685032"/>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  "hooks": [ { "type": "command",</a:t>
            </a:r>
            <a:endParaRPr lang="en-US" sz="1200" dirty="0"/>
          </a:p>
        </p:txBody>
      </p:sp>
      <p:sp>
        <p:nvSpPr>
          <p:cNvPr id="16" name="Text 14"/>
          <p:cNvSpPr txBox="1"/>
          <p:nvPr/>
        </p:nvSpPr>
        <p:spPr>
          <a:xfrm>
            <a:off x="822960" y="3959352"/>
            <a:ext cx="10241280"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               "command": "${CLAUDE_PROJECT_DIR}/.claude/hooks/protect-generated.sh" } ] } ] }</a:t>
            </a:r>
            <a:endParaRPr lang="en-US" sz="1200" dirty="0"/>
          </a:p>
        </p:txBody>
      </p:sp>
      <p:sp>
        <p:nvSpPr>
          <p:cNvPr id="17" name="Shape 15"/>
          <p:cNvSpPr/>
          <p:nvPr/>
        </p:nvSpPr>
        <p:spPr>
          <a:xfrm>
            <a:off x="548640" y="4434840"/>
            <a:ext cx="457200" cy="457200"/>
          </a:xfrm>
          <a:prstGeom prst="ellipse">
            <a:avLst/>
          </a:prstGeom>
          <a:solidFill>
            <a:srgbClr val="C15F3C"/>
          </a:solidFill>
          <a:ln/>
        </p:spPr>
      </p:sp>
      <p:sp>
        <p:nvSpPr>
          <p:cNvPr id="18" name="Text 16"/>
          <p:cNvSpPr txBox="1"/>
          <p:nvPr/>
        </p:nvSpPr>
        <p:spPr>
          <a:xfrm>
            <a:off x="548640" y="4434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txBox="1"/>
          <p:nvPr/>
        </p:nvSpPr>
        <p:spPr>
          <a:xfrm>
            <a:off x="1234440" y="4379976"/>
            <a:ext cx="10104120"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Event, then matcher, then handler</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event is when it fires, the matcher filters which tools it applies to, the handler does the check.</a:t>
            </a:r>
            <a:endParaRPr lang="en-US" sz="1500" dirty="0"/>
          </a:p>
        </p:txBody>
      </p:sp>
      <p:sp>
        <p:nvSpPr>
          <p:cNvPr id="20" name="Shape 18"/>
          <p:cNvSpPr/>
          <p:nvPr/>
        </p:nvSpPr>
        <p:spPr>
          <a:xfrm>
            <a:off x="548640" y="5148072"/>
            <a:ext cx="457200" cy="457200"/>
          </a:xfrm>
          <a:prstGeom prst="ellipse">
            <a:avLst/>
          </a:prstGeom>
          <a:solidFill>
            <a:srgbClr val="C15F3C"/>
          </a:solidFill>
          <a:ln/>
        </p:spPr>
      </p:sp>
      <p:sp>
        <p:nvSpPr>
          <p:cNvPr id="21" name="Text 19"/>
          <p:cNvSpPr txBox="1"/>
          <p:nvPr/>
        </p:nvSpPr>
        <p:spPr>
          <a:xfrm>
            <a:off x="548640" y="5148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txBox="1"/>
          <p:nvPr/>
        </p:nvSpPr>
        <p:spPr>
          <a:xfrm>
            <a:off x="1234440" y="5093208"/>
            <a:ext cx="10104120" cy="71323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The handler reads the attempted call as JSON on stdin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it blocks by writing a reason to stderr and exiting with code 2; /hooks confirms it is registered.</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Worked Example: Blocking an Edit to a Generated File</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The script from Module 1, read line by line. Then the test (lab 2.7): ask Claude to do exactly what the hook forbids.</a:t>
            </a:r>
            <a:endParaRPr lang="en-US" sz="1500" dirty="0"/>
          </a:p>
        </p:txBody>
      </p:sp>
      <p:sp>
        <p:nvSpPr>
          <p:cNvPr id="4" name="Shape 2"/>
          <p:cNvSpPr/>
          <p:nvPr/>
        </p:nvSpPr>
        <p:spPr>
          <a:xfrm>
            <a:off x="548640" y="1828800"/>
            <a:ext cx="6309360" cy="3095244"/>
          </a:xfrm>
          <a:prstGeom prst="roundRect">
            <a:avLst>
              <a:gd name="adj" fmla="val 2363"/>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947672"/>
            <a:ext cx="5760720" cy="260604"/>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#!/usr/bin/env bash</a:t>
            </a:r>
            <a:endParaRPr lang="en-US" sz="1100" dirty="0"/>
          </a:p>
        </p:txBody>
      </p:sp>
      <p:sp>
        <p:nvSpPr>
          <p:cNvPr id="6" name="Text 4"/>
          <p:cNvSpPr txBox="1"/>
          <p:nvPr/>
        </p:nvSpPr>
        <p:spPr>
          <a:xfrm>
            <a:off x="822960" y="2208276"/>
            <a:ext cx="5760720" cy="260604"/>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set -euo pipefail</a:t>
            </a:r>
            <a:endParaRPr lang="en-US" sz="1100" dirty="0"/>
          </a:p>
        </p:txBody>
      </p:sp>
      <p:sp>
        <p:nvSpPr>
          <p:cNvPr id="7" name="Text 5"/>
          <p:cNvSpPr txBox="1"/>
          <p:nvPr/>
        </p:nvSpPr>
        <p:spPr>
          <a:xfrm>
            <a:off x="822960" y="2468880"/>
            <a:ext cx="5760720" cy="260604"/>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FILE=$(jq -r '.tool_input.file_path // empty')</a:t>
            </a:r>
            <a:endParaRPr lang="en-US" sz="1100" dirty="0"/>
          </a:p>
        </p:txBody>
      </p:sp>
      <p:sp>
        <p:nvSpPr>
          <p:cNvPr id="8" name="Text 6"/>
          <p:cNvSpPr txBox="1"/>
          <p:nvPr/>
        </p:nvSpPr>
        <p:spPr>
          <a:xfrm>
            <a:off x="822960" y="2729484"/>
            <a:ext cx="5760720" cy="260604"/>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for p in ".config" "include/autoconf.h" \</a:t>
            </a:r>
            <a:endParaRPr lang="en-US" sz="1100" dirty="0"/>
          </a:p>
        </p:txBody>
      </p:sp>
      <p:sp>
        <p:nvSpPr>
          <p:cNvPr id="9" name="Text 7"/>
          <p:cNvSpPr txBox="1"/>
          <p:nvPr/>
        </p:nvSpPr>
        <p:spPr>
          <a:xfrm>
            <a:off x="822960" y="2990088"/>
            <a:ext cx="5760720" cy="260604"/>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"include/applet_tables.h"; do</a:t>
            </a:r>
            <a:endParaRPr lang="en-US" sz="1100" dirty="0"/>
          </a:p>
        </p:txBody>
      </p:sp>
      <p:sp>
        <p:nvSpPr>
          <p:cNvPr id="10" name="Text 8"/>
          <p:cNvSpPr txBox="1"/>
          <p:nvPr/>
        </p:nvSpPr>
        <p:spPr>
          <a:xfrm>
            <a:off x="822960" y="3250692"/>
            <a:ext cx="5760720" cy="260604"/>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if [[ "$FILE" == *"/$p" || "$FILE" == "$p" ]]; then</a:t>
            </a:r>
            <a:endParaRPr lang="en-US" sz="1100" dirty="0"/>
          </a:p>
        </p:txBody>
      </p:sp>
      <p:sp>
        <p:nvSpPr>
          <p:cNvPr id="11" name="Text 9"/>
          <p:cNvSpPr txBox="1"/>
          <p:nvPr/>
        </p:nvSpPr>
        <p:spPr>
          <a:xfrm>
            <a:off x="822960" y="3511296"/>
            <a:ext cx="5760720" cy="260604"/>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echo "Blocked: $FILE is generated;" \</a:t>
            </a:r>
            <a:endParaRPr lang="en-US" sz="1100" dirty="0"/>
          </a:p>
        </p:txBody>
      </p:sp>
      <p:sp>
        <p:nvSpPr>
          <p:cNvPr id="12" name="Text 10"/>
          <p:cNvSpPr txBox="1"/>
          <p:nvPr/>
        </p:nvSpPr>
        <p:spPr>
          <a:xfrm>
            <a:off x="822960" y="3771900"/>
            <a:ext cx="5760720" cy="260604"/>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"change it through make" &gt;&amp;2</a:t>
            </a:r>
            <a:endParaRPr lang="en-US" sz="1100" dirty="0"/>
          </a:p>
        </p:txBody>
      </p:sp>
      <p:sp>
        <p:nvSpPr>
          <p:cNvPr id="13" name="Text 11"/>
          <p:cNvSpPr txBox="1"/>
          <p:nvPr/>
        </p:nvSpPr>
        <p:spPr>
          <a:xfrm>
            <a:off x="822960" y="4032504"/>
            <a:ext cx="5760720" cy="260604"/>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exit 2</a:t>
            </a:r>
            <a:endParaRPr lang="en-US" sz="1100" dirty="0"/>
          </a:p>
        </p:txBody>
      </p:sp>
      <p:sp>
        <p:nvSpPr>
          <p:cNvPr id="14" name="Text 12"/>
          <p:cNvSpPr txBox="1"/>
          <p:nvPr/>
        </p:nvSpPr>
        <p:spPr>
          <a:xfrm>
            <a:off x="822960" y="4293108"/>
            <a:ext cx="5760720" cy="260604"/>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  fi</a:t>
            </a:r>
            <a:endParaRPr lang="en-US" sz="1100" dirty="0"/>
          </a:p>
        </p:txBody>
      </p:sp>
      <p:sp>
        <p:nvSpPr>
          <p:cNvPr id="15" name="Text 13"/>
          <p:cNvSpPr txBox="1"/>
          <p:nvPr/>
        </p:nvSpPr>
        <p:spPr>
          <a:xfrm>
            <a:off x="822960" y="4553712"/>
            <a:ext cx="5760720" cy="260604"/>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done; exit 0</a:t>
            </a:r>
            <a:endParaRPr lang="en-US" sz="1100" dirty="0"/>
          </a:p>
        </p:txBody>
      </p:sp>
      <p:sp>
        <p:nvSpPr>
          <p:cNvPr id="16" name="Shape 14"/>
          <p:cNvSpPr/>
          <p:nvPr/>
        </p:nvSpPr>
        <p:spPr>
          <a:xfrm>
            <a:off x="7132320" y="1828800"/>
            <a:ext cx="4206240" cy="2788920"/>
          </a:xfrm>
          <a:prstGeom prst="roundRect">
            <a:avLst>
              <a:gd name="adj" fmla="val 3279"/>
            </a:avLst>
          </a:prstGeom>
          <a:solidFill>
            <a:srgbClr val="F3EFE8"/>
          </a:solidFill>
          <a:ln/>
          <a:effectLst>
            <a:outerShdw sx="100000" sy="100000" kx="0" ky="0" algn="bl" rotWithShape="0" blurRad="76200" dist="25400" dir="5400000">
              <a:srgbClr val="000000">
                <a:alpha val="18000"/>
              </a:srgbClr>
            </a:outerShdw>
          </a:effectLst>
        </p:spPr>
      </p:sp>
      <p:sp>
        <p:nvSpPr>
          <p:cNvPr id="17" name="Text 15"/>
          <p:cNvSpPr txBox="1"/>
          <p:nvPr/>
        </p:nvSpPr>
        <p:spPr>
          <a:xfrm>
            <a:off x="7360920" y="2029968"/>
            <a:ext cx="3749040" cy="2386584"/>
          </a:xfrm>
          <a:prstGeom prst="rect">
            <a:avLst/>
          </a:prstGeom>
          <a:noFill/>
          <a:ln/>
        </p:spPr>
        <p:txBody>
          <a:bodyPr wrap="square" lIns="0" tIns="0" rIns="0" bIns="0" rtlCol="0" anchor="t"/>
          <a:lstStyle/>
          <a:p>
            <a:pPr indent="0" marL="0">
              <a:spcAft>
                <a:spcPts val="400"/>
              </a:spcAft>
              <a:buNone/>
            </a:pPr>
            <a:r>
              <a:rPr lang="en-US" sz="1500" b="1" dirty="0">
                <a:solidFill>
                  <a:srgbClr val="262320"/>
                </a:solidFill>
                <a:latin typeface="Calibri" pitchFamily="34" charset="0"/>
                <a:ea typeface="Calibri" pitchFamily="34" charset="-122"/>
                <a:cs typeface="Calibri" pitchFamily="34" charset="-120"/>
              </a:rPr>
              <a:t>The test prompt</a:t>
            </a:r>
            <a:endParaRPr lang="en-US" sz="1500" dirty="0"/>
          </a:p>
          <a:p>
            <a:pPr indent="0" marL="0">
              <a:spcAft>
                <a:spcPts val="400"/>
              </a:spcAft>
              <a:buNone/>
            </a:pPr>
            <a:r>
              <a:rPr lang="en-US" sz="1050" b="1" dirty="0">
                <a:solidFill>
                  <a:srgbClr val="C15F3C"/>
                </a:solidFill>
                <a:latin typeface="Calibri" pitchFamily="34" charset="0"/>
                <a:ea typeface="Calibri" pitchFamily="34" charset="-122"/>
                <a:cs typeface="Calibri" pitchFamily="34" charset="-120"/>
              </a:rPr>
              <a:t>LAB 2.7</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Edit include/autoconf.h and add a comment on the first line.</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Expected: blocked with "Blocked: ... is generated"</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Then ask for a legitimate change: Claude should use make</a:t>
            </a:r>
            <a:endParaRPr lang="en-US" sz="1500" dirty="0"/>
          </a:p>
        </p:txBody>
      </p:sp>
      <p:sp>
        <p:nvSpPr>
          <p:cNvPr id="18" name="Shape 16"/>
          <p:cNvSpPr/>
          <p:nvPr/>
        </p:nvSpPr>
        <p:spPr>
          <a:xfrm>
            <a:off x="548640" y="5212080"/>
            <a:ext cx="457200" cy="457200"/>
          </a:xfrm>
          <a:prstGeom prst="ellipse">
            <a:avLst/>
          </a:prstGeom>
          <a:solidFill>
            <a:srgbClr val="C15F3C"/>
          </a:solidFill>
          <a:ln/>
        </p:spPr>
      </p:sp>
      <p:sp>
        <p:nvSpPr>
          <p:cNvPr id="19" name="Text 17"/>
          <p:cNvSpPr txBox="1"/>
          <p:nvPr/>
        </p:nvSpPr>
        <p:spPr>
          <a:xfrm>
            <a:off x="548640" y="5212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0" name="Text 18"/>
          <p:cNvSpPr txBox="1"/>
          <p:nvPr/>
        </p:nvSpPr>
        <p:spPr>
          <a:xfrm>
            <a:off x="1234440" y="515721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jq reads the path; the loop checks it; exit 2 blocks and the message reaches Claude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Claude can then explain that the change must go through make, instead of retrying the same edit.</a:t>
            </a:r>
            <a:endParaRPr lang="en-US" sz="1500" dirty="0"/>
          </a:p>
        </p:txBody>
      </p:sp>
      <p:sp>
        <p:nvSpPr>
          <p:cNvPr id="21" name="Shape 19"/>
          <p:cNvSpPr/>
          <p:nvPr/>
        </p:nvSpPr>
        <p:spPr>
          <a:xfrm>
            <a:off x="548640" y="5943600"/>
            <a:ext cx="457200" cy="457200"/>
          </a:xfrm>
          <a:prstGeom prst="ellipse">
            <a:avLst/>
          </a:prstGeom>
          <a:solidFill>
            <a:srgbClr val="C15F3C"/>
          </a:solidFill>
          <a:ln/>
        </p:spPr>
      </p:sp>
      <p:sp>
        <p:nvSpPr>
          <p:cNvPr id="22" name="Text 20"/>
          <p:cNvSpPr txBox="1"/>
          <p:nvPr/>
        </p:nvSpPr>
        <p:spPr>
          <a:xfrm>
            <a:off x="548640" y="5943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3" name="Text 21"/>
          <p:cNvSpPr txBox="1"/>
          <p:nvPr/>
        </p:nvSpPr>
        <p:spPr>
          <a:xfrm>
            <a:off x="1234440" y="588873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Same files as the deny rules, a second layer</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remove the deny rule temporarily and the hook still blocks the edit; that proves the layers are independent.</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Pitfalls: Hooks, Rules and Plans That Quietly Fail</a:t>
            </a:r>
            <a:endParaRPr lang="en-US" sz="3200" dirty="0"/>
          </a:p>
        </p:txBody>
      </p:sp>
      <p:sp>
        <p:nvSpPr>
          <p:cNvPr id="3" name="Text 1"/>
          <p:cNvSpPr txBox="1"/>
          <p:nvPr/>
        </p:nvSpPr>
        <p:spPr>
          <a:xfrm>
            <a:off x="548640" y="1188720"/>
            <a:ext cx="10789920" cy="45720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Four pitfalls from this module's labs, each with the first thing to check.</a:t>
            </a:r>
            <a:endParaRPr lang="en-US" sz="1500" dirty="0"/>
          </a:p>
        </p:txBody>
      </p:sp>
      <p:sp>
        <p:nvSpPr>
          <p:cNvPr id="4" name="Shape 2"/>
          <p:cNvSpPr/>
          <p:nvPr/>
        </p:nvSpPr>
        <p:spPr>
          <a:xfrm>
            <a:off x="548640" y="1828800"/>
            <a:ext cx="3383280" cy="2148840"/>
          </a:xfrm>
          <a:prstGeom prst="roundRect">
            <a:avLst>
              <a:gd name="adj" fmla="val 4255"/>
            </a:avLst>
          </a:prstGeom>
          <a:solidFill>
            <a:srgbClr val="F3EFE8"/>
          </a:solidFill>
          <a:ln/>
          <a:effectLst>
            <a:outerShdw sx="100000" sy="100000" kx="0" ky="0" algn="bl" rotWithShape="0" blurRad="76200" dist="25400" dir="5400000">
              <a:srgbClr val="000000">
                <a:alpha val="18000"/>
              </a:srgbClr>
            </a:outerShdw>
          </a:effectLst>
        </p:spPr>
      </p:sp>
      <p:sp>
        <p:nvSpPr>
          <p:cNvPr id="5" name="Text 3"/>
          <p:cNvSpPr txBox="1"/>
          <p:nvPr/>
        </p:nvSpPr>
        <p:spPr>
          <a:xfrm>
            <a:off x="777240" y="2029968"/>
            <a:ext cx="2926080" cy="1746504"/>
          </a:xfrm>
          <a:prstGeom prst="rect">
            <a:avLst/>
          </a:prstGeom>
          <a:noFill/>
          <a:ln/>
        </p:spPr>
        <p:txBody>
          <a:bodyPr wrap="square" lIns="0" tIns="0" rIns="0" bIns="0" rtlCol="0" anchor="t"/>
          <a:lstStyle/>
          <a:p>
            <a:pPr indent="0" marL="0">
              <a:spcAft>
                <a:spcPts val="400"/>
              </a:spcAft>
              <a:buNone/>
            </a:pPr>
            <a:r>
              <a:rPr lang="en-US" sz="1500" b="1" dirty="0">
                <a:solidFill>
                  <a:srgbClr val="262320"/>
                </a:solidFill>
                <a:latin typeface="Calibri" pitchFamily="34" charset="0"/>
                <a:ea typeface="Calibri" pitchFamily="34" charset="-122"/>
                <a:cs typeface="Calibri" pitchFamily="34" charset="-120"/>
              </a:rPr>
              <a:t>Hook script not executable</a:t>
            </a:r>
            <a:endParaRPr lang="en-US" sz="1500" dirty="0"/>
          </a:p>
          <a:p>
            <a:pPr indent="0" marL="0">
              <a:spcAft>
                <a:spcPts val="400"/>
              </a:spcAft>
              <a:buNone/>
            </a:pPr>
            <a:r>
              <a:rPr lang="en-US" sz="1050" b="1" dirty="0">
                <a:solidFill>
                  <a:srgbClr val="8E3B2E"/>
                </a:solidFill>
                <a:latin typeface="Calibri" pitchFamily="34" charset="0"/>
                <a:ea typeface="Calibri" pitchFamily="34" charset="-122"/>
                <a:cs typeface="Calibri" pitchFamily="34" charset="-120"/>
              </a:rPr>
              <a:t>WATCH OUT</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The hook never seems to fire</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Fix: chmod +x .claude/hooks/protect-generated.sh; check /hooks</a:t>
            </a:r>
            <a:endParaRPr lang="en-US" sz="1500" dirty="0"/>
          </a:p>
        </p:txBody>
      </p:sp>
      <p:sp>
        <p:nvSpPr>
          <p:cNvPr id="6" name="Shape 4"/>
          <p:cNvSpPr/>
          <p:nvPr/>
        </p:nvSpPr>
        <p:spPr>
          <a:xfrm>
            <a:off x="4251960" y="1828800"/>
            <a:ext cx="3383280" cy="2148840"/>
          </a:xfrm>
          <a:prstGeom prst="roundRect">
            <a:avLst>
              <a:gd name="adj" fmla="val 4255"/>
            </a:avLst>
          </a:prstGeom>
          <a:solidFill>
            <a:srgbClr val="F3EFE8"/>
          </a:solidFill>
          <a:ln/>
          <a:effectLst>
            <a:outerShdw sx="100000" sy="100000" kx="0" ky="0" algn="bl" rotWithShape="0" blurRad="76200" dist="25400" dir="5400000">
              <a:srgbClr val="000000">
                <a:alpha val="18000"/>
              </a:srgbClr>
            </a:outerShdw>
          </a:effectLst>
        </p:spPr>
      </p:sp>
      <p:sp>
        <p:nvSpPr>
          <p:cNvPr id="7" name="Text 5"/>
          <p:cNvSpPr txBox="1"/>
          <p:nvPr/>
        </p:nvSpPr>
        <p:spPr>
          <a:xfrm>
            <a:off x="4480560" y="2029968"/>
            <a:ext cx="2926080" cy="1746504"/>
          </a:xfrm>
          <a:prstGeom prst="rect">
            <a:avLst/>
          </a:prstGeom>
          <a:noFill/>
          <a:ln/>
        </p:spPr>
        <p:txBody>
          <a:bodyPr wrap="square" lIns="0" tIns="0" rIns="0" bIns="0" rtlCol="0" anchor="t"/>
          <a:lstStyle/>
          <a:p>
            <a:pPr indent="0" marL="0">
              <a:spcAft>
                <a:spcPts val="400"/>
              </a:spcAft>
              <a:buNone/>
            </a:pPr>
            <a:r>
              <a:rPr lang="en-US" sz="1500" b="1" dirty="0">
                <a:solidFill>
                  <a:srgbClr val="262320"/>
                </a:solidFill>
                <a:latin typeface="Calibri" pitchFamily="34" charset="0"/>
                <a:ea typeface="Calibri" pitchFamily="34" charset="-122"/>
                <a:cs typeface="Calibri" pitchFamily="34" charset="-120"/>
              </a:rPr>
              <a:t>Matcher misses the path</a:t>
            </a:r>
            <a:endParaRPr lang="en-US" sz="1500" dirty="0"/>
          </a:p>
          <a:p>
            <a:pPr indent="0" marL="0">
              <a:spcAft>
                <a:spcPts val="400"/>
              </a:spcAft>
              <a:buNone/>
            </a:pPr>
            <a:r>
              <a:rPr lang="en-US" sz="1050" b="1" dirty="0">
                <a:solidFill>
                  <a:srgbClr val="8E3B2E"/>
                </a:solidFill>
                <a:latin typeface="Calibri" pitchFamily="34" charset="0"/>
                <a:ea typeface="Calibri" pitchFamily="34" charset="-122"/>
                <a:cs typeface="Calibri" pitchFamily="34" charset="-120"/>
              </a:rPr>
              <a:t>WATCH OUT</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Edit|Write does not see a Bash sed -i on the same file</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Fix: keep the deny rule and the sandbox as other layers</a:t>
            </a:r>
            <a:endParaRPr lang="en-US" sz="1500" dirty="0"/>
          </a:p>
        </p:txBody>
      </p:sp>
      <p:sp>
        <p:nvSpPr>
          <p:cNvPr id="8" name="Shape 6"/>
          <p:cNvSpPr/>
          <p:nvPr/>
        </p:nvSpPr>
        <p:spPr>
          <a:xfrm>
            <a:off x="7955280" y="1828800"/>
            <a:ext cx="3383280" cy="2148840"/>
          </a:xfrm>
          <a:prstGeom prst="roundRect">
            <a:avLst>
              <a:gd name="adj" fmla="val 4255"/>
            </a:avLst>
          </a:prstGeom>
          <a:solidFill>
            <a:srgbClr val="F3EFE8"/>
          </a:solidFill>
          <a:ln/>
          <a:effectLst>
            <a:outerShdw sx="100000" sy="100000" kx="0" ky="0" algn="bl" rotWithShape="0" blurRad="76200" dist="25400" dir="5400000">
              <a:srgbClr val="000000">
                <a:alpha val="18000"/>
              </a:srgbClr>
            </a:outerShdw>
          </a:effectLst>
        </p:spPr>
      </p:sp>
      <p:sp>
        <p:nvSpPr>
          <p:cNvPr id="9" name="Text 7"/>
          <p:cNvSpPr txBox="1"/>
          <p:nvPr/>
        </p:nvSpPr>
        <p:spPr>
          <a:xfrm>
            <a:off x="8183880" y="2029968"/>
            <a:ext cx="2926080" cy="1746504"/>
          </a:xfrm>
          <a:prstGeom prst="rect">
            <a:avLst/>
          </a:prstGeom>
          <a:noFill/>
          <a:ln/>
        </p:spPr>
        <p:txBody>
          <a:bodyPr wrap="square" lIns="0" tIns="0" rIns="0" bIns="0" rtlCol="0" anchor="t"/>
          <a:lstStyle/>
          <a:p>
            <a:pPr indent="0" marL="0">
              <a:spcAft>
                <a:spcPts val="400"/>
              </a:spcAft>
              <a:buNone/>
            </a:pPr>
            <a:r>
              <a:rPr lang="en-US" sz="1500" b="1" dirty="0">
                <a:solidFill>
                  <a:srgbClr val="262320"/>
                </a:solidFill>
                <a:latin typeface="Calibri" pitchFamily="34" charset="0"/>
                <a:ea typeface="Calibri" pitchFamily="34" charset="-122"/>
                <a:cs typeface="Calibri" pitchFamily="34" charset="-120"/>
              </a:rPr>
              <a:t>Rule file never loads</a:t>
            </a:r>
            <a:endParaRPr lang="en-US" sz="1500" dirty="0"/>
          </a:p>
          <a:p>
            <a:pPr indent="0" marL="0">
              <a:spcAft>
                <a:spcPts val="400"/>
              </a:spcAft>
              <a:buNone/>
            </a:pPr>
            <a:r>
              <a:rPr lang="en-US" sz="1050" b="1" dirty="0">
                <a:solidFill>
                  <a:srgbClr val="8E3B2E"/>
                </a:solidFill>
                <a:latin typeface="Calibri" pitchFamily="34" charset="0"/>
                <a:ea typeface="Calibri" pitchFamily="34" charset="-122"/>
                <a:cs typeface="Calibri" pitchFamily="34" charset="-120"/>
              </a:rPr>
              <a:t>WATCH OUT</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The generated helper ignores the C rule</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Fix: check the paths: glob and /context; the rule loads on matching reads</a:t>
            </a:r>
            <a:endParaRPr lang="en-US" sz="1500" dirty="0"/>
          </a:p>
        </p:txBody>
      </p:sp>
      <p:sp>
        <p:nvSpPr>
          <p:cNvPr id="10" name="Shape 8"/>
          <p:cNvSpPr/>
          <p:nvPr/>
        </p:nvSpPr>
        <p:spPr>
          <a:xfrm>
            <a:off x="548640" y="4343400"/>
            <a:ext cx="457200" cy="457200"/>
          </a:xfrm>
          <a:prstGeom prst="ellipse">
            <a:avLst/>
          </a:prstGeom>
          <a:solidFill>
            <a:srgbClr val="C15F3C"/>
          </a:solidFill>
          <a:ln/>
        </p:spPr>
      </p:sp>
      <p:sp>
        <p:nvSpPr>
          <p:cNvPr id="11" name="Text 9"/>
          <p:cNvSpPr txBox="1"/>
          <p:nvPr/>
        </p:nvSpPr>
        <p:spPr>
          <a:xfrm>
            <a:off x="548640" y="4343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28853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Test both ways: one violating edit, one compliant edit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violating edit should be blocked with a clear reason, the compliant one should proceed normally.</a:t>
            </a:r>
            <a:endParaRPr lang="en-US" sz="1500" dirty="0"/>
          </a:p>
        </p:txBody>
      </p:sp>
      <p:sp>
        <p:nvSpPr>
          <p:cNvPr id="13" name="Shape 11"/>
          <p:cNvSpPr/>
          <p:nvPr/>
        </p:nvSpPr>
        <p:spPr>
          <a:xfrm>
            <a:off x="548640" y="5074920"/>
            <a:ext cx="457200" cy="457200"/>
          </a:xfrm>
          <a:prstGeom prst="ellipse">
            <a:avLst/>
          </a:prstGeom>
          <a:solidFill>
            <a:srgbClr val="C15F3C"/>
          </a:solidFill>
          <a:ln/>
        </p:spPr>
      </p:sp>
      <p:sp>
        <p:nvSpPr>
          <p:cNvPr id="14" name="Text 12"/>
          <p:cNvSpPr txBox="1"/>
          <p:nvPr/>
        </p:nvSpPr>
        <p:spPr>
          <a:xfrm>
            <a:off x="548640" y="5074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txBox="1"/>
          <p:nvPr/>
        </p:nvSpPr>
        <p:spPr>
          <a:xfrm>
            <a:off x="1234440" y="502005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Underspecified plan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implementation fills the gaps by guessing; add detail to the request or edit the plan, do not approve and hope.</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Module 2: Done When</a:t>
            </a:r>
            <a:endParaRPr lang="en-US" sz="3200" dirty="0"/>
          </a:p>
        </p:txBody>
      </p:sp>
      <p:sp>
        <p:nvSpPr>
          <p:cNvPr id="3" name="Text 1"/>
          <p:cNvSpPr txBox="1"/>
          <p:nvPr/>
        </p:nvSpPr>
        <p:spPr>
          <a:xfrm>
            <a:off x="548640" y="1188720"/>
            <a:ext cx="10789920" cy="3657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Each item is a check you can run.</a:t>
            </a:r>
            <a:endParaRPr lang="en-US" sz="1500" dirty="0"/>
          </a:p>
        </p:txBody>
      </p:sp>
      <p:sp>
        <p:nvSpPr>
          <p:cNvPr id="4" name="Shape 2"/>
          <p:cNvSpPr/>
          <p:nvPr/>
        </p:nvSpPr>
        <p:spPr>
          <a:xfrm>
            <a:off x="548640" y="1691640"/>
            <a:ext cx="384048" cy="384048"/>
          </a:xfrm>
          <a:prstGeom prst="ellipse">
            <a:avLst/>
          </a:prstGeom>
          <a:solidFill>
            <a:srgbClr val="4F6F64"/>
          </a:solidFill>
          <a:ln/>
        </p:spPr>
      </p:sp>
      <p:sp>
        <p:nvSpPr>
          <p:cNvPr id="5" name="Text 3"/>
          <p:cNvSpPr txBox="1"/>
          <p:nvPr/>
        </p:nvSpPr>
        <p:spPr>
          <a:xfrm>
            <a:off x="548640" y="16916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161288" y="1636776"/>
            <a:ext cx="10177272" cy="74980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echo hello | ./busybox rot13 prints uryyb</a:t>
            </a:r>
            <a:endParaRPr lang="en-US" sz="1500" dirty="0"/>
          </a:p>
          <a:p>
            <a:pPr indent="0" marL="0">
              <a:lnSpc>
                <a:spcPct val="112000"/>
              </a:lnSpc>
              <a:buNone/>
            </a:pPr>
            <a:endParaRPr lang="en-US" sz="1500" dirty="0"/>
          </a:p>
        </p:txBody>
      </p:sp>
      <p:sp>
        <p:nvSpPr>
          <p:cNvPr id="7" name="Shape 5"/>
          <p:cNvSpPr/>
          <p:nvPr/>
        </p:nvSpPr>
        <p:spPr>
          <a:xfrm>
            <a:off x="548640" y="2441448"/>
            <a:ext cx="384048" cy="384048"/>
          </a:xfrm>
          <a:prstGeom prst="ellipse">
            <a:avLst/>
          </a:prstGeom>
          <a:solidFill>
            <a:srgbClr val="4F6F64"/>
          </a:solidFill>
          <a:ln/>
        </p:spPr>
      </p:sp>
      <p:sp>
        <p:nvSpPr>
          <p:cNvPr id="8" name="Text 6"/>
          <p:cNvSpPr txBox="1"/>
          <p:nvPr/>
        </p:nvSpPr>
        <p:spPr>
          <a:xfrm>
            <a:off x="548640" y="244144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7"/>
          <p:cNvSpPr txBox="1"/>
          <p:nvPr/>
        </p:nvSpPr>
        <p:spPr>
          <a:xfrm>
            <a:off x="1161288" y="2386584"/>
            <a:ext cx="10177272" cy="74980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file build-arm/busybox reports ELF 32-bit ARM</a:t>
            </a:r>
            <a:endParaRPr lang="en-US" sz="1500" dirty="0"/>
          </a:p>
          <a:p>
            <a:pPr indent="0" marL="0">
              <a:lnSpc>
                <a:spcPct val="112000"/>
              </a:lnSpc>
              <a:buNone/>
            </a:pPr>
            <a:endParaRPr lang="en-US" sz="1500" dirty="0"/>
          </a:p>
        </p:txBody>
      </p:sp>
      <p:sp>
        <p:nvSpPr>
          <p:cNvPr id="10" name="Shape 8"/>
          <p:cNvSpPr/>
          <p:nvPr/>
        </p:nvSpPr>
        <p:spPr>
          <a:xfrm>
            <a:off x="548640" y="3191256"/>
            <a:ext cx="384048" cy="384048"/>
          </a:xfrm>
          <a:prstGeom prst="ellipse">
            <a:avLst/>
          </a:prstGeom>
          <a:solidFill>
            <a:srgbClr val="4F6F64"/>
          </a:solidFill>
          <a:ln/>
        </p:spPr>
      </p:sp>
      <p:sp>
        <p:nvSpPr>
          <p:cNvPr id="11" name="Text 9"/>
          <p:cNvSpPr txBox="1"/>
          <p:nvPr/>
        </p:nvSpPr>
        <p:spPr>
          <a:xfrm>
            <a:off x="548640" y="319125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161288" y="3136392"/>
            <a:ext cx="10177272" cy="74980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gst-inspect-1.0 rot13filter lists the element and its pads</a:t>
            </a:r>
            <a:endParaRPr lang="en-US" sz="1500" dirty="0"/>
          </a:p>
          <a:p>
            <a:pPr indent="0" marL="0">
              <a:lnSpc>
                <a:spcPct val="112000"/>
              </a:lnSpc>
              <a:buNone/>
            </a:pPr>
            <a:endParaRPr lang="en-US" sz="1500" dirty="0"/>
          </a:p>
        </p:txBody>
      </p:sp>
      <p:sp>
        <p:nvSpPr>
          <p:cNvPr id="13" name="Shape 11"/>
          <p:cNvSpPr/>
          <p:nvPr/>
        </p:nvSpPr>
        <p:spPr>
          <a:xfrm>
            <a:off x="548640" y="3941064"/>
            <a:ext cx="384048" cy="384048"/>
          </a:xfrm>
          <a:prstGeom prst="ellipse">
            <a:avLst/>
          </a:prstGeom>
          <a:solidFill>
            <a:srgbClr val="4F6F64"/>
          </a:solidFill>
          <a:ln/>
        </p:spPr>
      </p:sp>
      <p:sp>
        <p:nvSpPr>
          <p:cNvPr id="14" name="Text 12"/>
          <p:cNvSpPr txBox="1"/>
          <p:nvPr/>
        </p:nvSpPr>
        <p:spPr>
          <a:xfrm>
            <a:off x="548640" y="394106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txBox="1"/>
          <p:nvPr/>
        </p:nvSpPr>
        <p:spPr>
          <a:xfrm>
            <a:off x="1161288" y="3886200"/>
            <a:ext cx="10177272" cy="74980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The C rule file shaped the generated helper, and Claude named the rule</a:t>
            </a:r>
            <a:endParaRPr lang="en-US" sz="1500" dirty="0"/>
          </a:p>
          <a:p>
            <a:pPr indent="0" marL="0">
              <a:lnSpc>
                <a:spcPct val="112000"/>
              </a:lnSpc>
              <a:buNone/>
            </a:pPr>
            <a:endParaRPr lang="en-US" sz="1500" dirty="0"/>
          </a:p>
        </p:txBody>
      </p:sp>
      <p:sp>
        <p:nvSpPr>
          <p:cNvPr id="16" name="Shape 14"/>
          <p:cNvSpPr/>
          <p:nvPr/>
        </p:nvSpPr>
        <p:spPr>
          <a:xfrm>
            <a:off x="548640" y="4690872"/>
            <a:ext cx="384048" cy="384048"/>
          </a:xfrm>
          <a:prstGeom prst="ellipse">
            <a:avLst/>
          </a:prstGeom>
          <a:solidFill>
            <a:srgbClr val="4F6F64"/>
          </a:solidFill>
          <a:ln/>
        </p:spPr>
      </p:sp>
      <p:sp>
        <p:nvSpPr>
          <p:cNvPr id="17" name="Text 15"/>
          <p:cNvSpPr txBox="1"/>
          <p:nvPr/>
        </p:nvSpPr>
        <p:spPr>
          <a:xfrm>
            <a:off x="548640" y="46908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txBox="1"/>
          <p:nvPr/>
        </p:nvSpPr>
        <p:spPr>
          <a:xfrm>
            <a:off x="1161288" y="4636008"/>
            <a:ext cx="10177272" cy="74980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An edit to include/autoconf.h is refused</a:t>
            </a:r>
            <a:endParaRPr lang="en-US" sz="1500" dirty="0"/>
          </a:p>
          <a:p>
            <a:pPr indent="0" marL="0">
              <a:lnSpc>
                <a:spcPct val="112000"/>
              </a:lnSpc>
              <a:buNone/>
            </a:pP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Claude Code Training">
  <a:themeElements>
    <a:clrScheme name="Claude Code Training">
      <a:dk1>
        <a:srgbClr val="262320"/>
      </a:dk1>
      <a:lt1>
        <a:srgbClr val="FFFFFF"/>
      </a:lt1>
      <a:dk2>
        <a:srgbClr val="241F1B"/>
      </a:dk2>
      <a:lt2>
        <a:srgbClr val="F3EFE8"/>
      </a:lt2>
      <a:accent1>
        <a:srgbClr val="C15F3C"/>
      </a:accent1>
      <a:accent2>
        <a:srgbClr val="4F6F64"/>
      </a:accent2>
      <a:accent3>
        <a:srgbClr val="8A6D3F"/>
      </a:accent3>
      <a:accent4>
        <a:srgbClr val="7A736A"/>
      </a:accent4>
      <a:accent5>
        <a:srgbClr val="3D5A80"/>
      </a:accent5>
      <a:accent6>
        <a:srgbClr val="8E3B2E"/>
      </a:accent6>
      <a:hlink>
        <a:srgbClr val="C15F3C"/>
      </a:hlink>
      <a:folHlink>
        <a:srgbClr val="8A6D3F"/>
      </a:folHlink>
    </a:clrScheme>
    <a:fontScheme name="Claude Code Training">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Claude Code Training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for System Software and Embedded Engineering - Day 1 - Module 2: System Software Development</dc:title>
  <dc:subject>PptxGenJS Presentation</dc:subject>
  <dc:creator>Claude Code Training</dc:creator>
  <cp:lastModifiedBy>Claude Code Training</cp:lastModifiedBy>
  <cp:revision>1</cp:revision>
  <dcterms:created xsi:type="dcterms:W3CDTF">2026-10-07T00:11:08Z</dcterms:created>
  <dcterms:modified xsi:type="dcterms:W3CDTF">2026-10-07T00:11:08Z</dcterms:modified>
</cp:coreProperties>
</file>