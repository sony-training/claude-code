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4: Testing, Debugging &amp; QA" id="{86cc61e6-04f5-a0b8-f17a-fc5aee600540}">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2 and 3 practiced making changes. This module is the verification half: how you know a change is right, and how you recover when it is not. Test subjects are the rot13 applet and rot13filter built in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 work specifically, push on edge cases hard: boundary values and invalid input are exactly where real bugs live. The recorded test command from lab 1.3 is the Verify line that closes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an existing small *.tests file first so the room sees the format. Expect cases like echo hello into rot13 giving uryyb, a digits string unchanged, and an empty stdin. The 4 KB input checks a buffer boundary, which is where a bad loop bound would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codecs module's rot_13 codec is the independent oracle. Randomized inputs find cases a hand-written test list misses. Seed the random generator and print the seed, or the failure cannot be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a vague report against a precise one live: the difference in Claude's first response is immediate. The next slides give the loop and then the lab's two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Claude the exact failing command plus expected output is exactly this and watch it iterate against that target without you reviewing every intermediate attempt. To enforce rather than request it: /goal keeps Claude working until a stated condition holds, a Stop hook can block finishing until tests pass, and /verify or a verification subagent can check the result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bug through Claude Code (or by git, then rewind plan) so it is not an invisible outside edit. Let one participant try the vague prompt first as a deliberate contrast, then the precise one, and count the corrections each needed. Stop is used in the precise prompt: suggest fixes and wait, so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natural worry after the previous slide's iteration loop: what if iteration goes the wrong way? That is exactly what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introduce the bug, fail the test, then rewind back to just before it was introduced and show the applet is clean again, before redoing the real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result: the comment is gone, build-arm and scratch.txt are not restored. The deleted build-arm directory means rebuilding with scripts/build.sh. The message: checkpoints see Edit and Write, not Bash side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reuses the cross-built binary from Module 2. 4.6 follows the shell rule file: strict mode, quoted expansions. The script exits non-zero on mismatch, so it can become a CI step in Day 2. If the element passes bytes through unchanged, the comparison fails, which is the intended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pitfalls come straight from the lab and from the checkpointing limits. The vague-report contrast is worth demonstrating live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against this list before Module 5. The scripts written here are reused in Day 2's CI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241F1B"/>
        </a:solidFill>
      </p:bgPr>
    </p:bg>
    <p:spTree>
      <p:nvGrpSpPr>
        <p:cNvPr id="1" name=""/>
        <p:cNvGrpSpPr/>
        <p:nvPr/>
      </p:nvGrpSpPr>
      <p:grpSpPr>
        <a:xfrm>
          <a:off x="0" y="0"/>
          <a:ext cx="0" cy="0"/>
          <a:chOff x="0" y="0"/>
          <a:chExt cx="0" cy="0"/>
        </a:xfrm>
      </p:grpSpPr>
      <p:sp>
        <p:nvSpPr>
          <p:cNvPr id="2" name="Text 0"/>
          <p:cNvSpPr/>
          <p:nvPr/>
        </p:nvSpPr>
        <p:spPr>
          <a:xfrm>
            <a:off x="548640" y="502920"/>
            <a:ext cx="8229600" cy="365760"/>
          </a:xfrm>
          <a:prstGeom prst="rect">
            <a:avLst/>
          </a:prstGeom>
          <a:noFill/>
          <a:ln/>
        </p:spPr>
        <p:txBody>
          <a:bodyPr wrap="square" rtlCol="0" anchor="ctr"/>
          <a:lstStyle/>
          <a:p>
            <a:pPr indent="0" marL="0">
              <a:buNone/>
            </a:pPr>
            <a:r>
              <a:rPr lang="en-US" sz="1200" b="1" spc="200" kern="0" dirty="0">
                <a:solidFill>
                  <a:srgbClr val="C15F3C"/>
                </a:solidFill>
                <a:latin typeface="Calibri" pitchFamily="34" charset="0"/>
                <a:ea typeface="Calibri" pitchFamily="34" charset="-122"/>
                <a:cs typeface="Calibri" pitchFamily="34" charset="-120"/>
              </a:rPr>
              <a:t>CLAUDE CODE TRAINING  ·  MODULE 4: TESTING, DEBUGGING &amp; QA</a:t>
            </a:r>
            <a:endParaRPr lang="en-US" sz="1200" dirty="0"/>
          </a:p>
        </p:txBody>
      </p:sp>
      <p:sp>
        <p:nvSpPr>
          <p:cNvPr id="3" name="Text 1"/>
          <p:cNvSpPr/>
          <p:nvPr>
            <p:ph idx="103" type="title" hasCustomPrompt="1"/>
          </p:nvPr>
        </p:nvSpPr>
        <p:spPr>
          <a:xfrm>
            <a:off x="548640" y="2331720"/>
            <a:ext cx="10424160" cy="12801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1"/>
          <p:cNvSpPr/>
          <p:nvPr>
            <p:ph idx="104" type="body" hasCustomPrompt="1"/>
          </p:nvPr>
        </p:nvSpPr>
        <p:spPr>
          <a:xfrm>
            <a:off x="548640" y="3657600"/>
            <a:ext cx="10058400" cy="548640"/>
          </a:xfrm>
          <a:prstGeom prst="rect">
            <a:avLst/>
          </a:prstGeom>
          <a:noFill/>
          <a:ln/>
        </p:spPr>
        <p:txBody>
          <a:bodyPr wrap="square" rtlCol="0"/>
          <a:lstStyle>
            <a:lvl1pPr algn="l" indent="0" marL="0">
              <a:buNone/>
              <a:defRPr lang="en-US" sz="1800" dirty="0">
                <a:solidFill>
                  <a:srgbClr val="F3EFE8"/>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LID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6400800" cy="274320"/>
          </a:xfrm>
          <a:prstGeom prst="rect">
            <a:avLst/>
          </a:prstGeom>
          <a:noFill/>
          <a:ln/>
        </p:spPr>
        <p:txBody>
          <a:bodyPr wrap="square" rtlCol="0" anchor="ctr"/>
          <a:lstStyle/>
          <a:p>
            <a:pPr indent="0" marL="0">
              <a:buNone/>
            </a:pPr>
            <a:r>
              <a:rPr lang="en-US" sz="950" dirty="0">
                <a:solidFill>
                  <a:srgbClr val="7A736A"/>
                </a:solidFill>
                <a:latin typeface="Calibri" pitchFamily="34" charset="0"/>
                <a:ea typeface="Calibri" pitchFamily="34" charset="-122"/>
                <a:cs typeface="Calibri" pitchFamily="34" charset="-120"/>
              </a:rPr>
              <a:t>Claude Code Training  ·  Module 4: Testing, Debugging &amp; QA</a:t>
            </a:r>
            <a:endParaRPr lang="en-US" sz="950" dirty="0"/>
          </a:p>
        </p:txBody>
      </p:sp>
      <p:sp>
        <p:nvSpPr>
          <p:cNvPr id="3" name="Text 1"/>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3200" b="1" dirty="0">
                <a:solidFill>
                  <a:srgbClr val="26232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_SLIDE">
    <p:bg>
      <p:bgPr>
        <a:solidFill>
          <a:srgbClr val="241F1B"/>
        </a:solidFill>
      </p:bgPr>
    </p:bg>
    <p:spTree>
      <p:nvGrpSpPr>
        <p:cNvPr id="1" name=""/>
        <p:cNvGrpSpPr/>
        <p:nvPr/>
      </p:nvGrpSpPr>
      <p:grpSpPr>
        <a:xfrm>
          <a:off x="0" y="0"/>
          <a:ext cx="0" cy="0"/>
          <a:chOff x="0" y="0"/>
          <a:chExt cx="0" cy="0"/>
        </a:xfrm>
      </p:grpSpPr>
      <p:sp>
        <p:nvSpPr>
          <p:cNvPr id="2" name="Text 0"/>
          <p:cNvSpPr/>
          <p:nvPr/>
        </p:nvSpPr>
        <p:spPr>
          <a:xfrm>
            <a:off x="548640" y="6473952"/>
            <a:ext cx="6400800" cy="274320"/>
          </a:xfrm>
          <a:prstGeom prst="rect">
            <a:avLst/>
          </a:prstGeom>
          <a:noFill/>
          <a:ln/>
        </p:spPr>
        <p:txBody>
          <a:bodyPr wrap="square" rtlCol="0" anchor="ctr"/>
          <a:lstStyle/>
          <a:p>
            <a:pPr indent="0" marL="0">
              <a:buNone/>
            </a:pPr>
            <a:r>
              <a:rPr lang="en-US" sz="950" dirty="0">
                <a:solidFill>
                  <a:srgbClr val="7A736A"/>
                </a:solidFill>
                <a:latin typeface="Calibri" pitchFamily="34" charset="0"/>
                <a:ea typeface="Calibri" pitchFamily="34" charset="-122"/>
                <a:cs typeface="Calibri" pitchFamily="34" charset="-120"/>
              </a:rPr>
              <a:t>Claude Code Training  ·  Module 4: Testing, Debugging &amp; QA</a:t>
            </a:r>
            <a:endParaRPr lang="en-US" sz="950" dirty="0"/>
          </a:p>
        </p:txBody>
      </p:sp>
      <p:sp>
        <p:nvSpPr>
          <p:cNvPr id="3" name="Text 1"/>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AI-Assisted Testing, Debugging &amp; QA</a:t>
            </a:r>
            <a:endParaRPr lang="en-US" sz="3200" dirty="0"/>
          </a:p>
        </p:txBody>
      </p:sp>
      <p:sp>
        <p:nvSpPr>
          <p:cNvPr id="3" name="Shape 1"/>
          <p:cNvSpPr/>
          <p:nvPr/>
        </p:nvSpPr>
        <p:spPr>
          <a:xfrm>
            <a:off x="548640" y="1737360"/>
            <a:ext cx="457200" cy="457200"/>
          </a:xfrm>
          <a:prstGeom prst="ellipse">
            <a:avLst/>
          </a:prstGeom>
          <a:solidFill>
            <a:srgbClr val="C15F3C"/>
          </a:solidFill>
          <a:ln/>
        </p:spPr>
      </p:sp>
      <p:sp>
        <p:nvSpPr>
          <p:cNvPr id="4" name="Text 2"/>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68249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Generating and running tests</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BusyBox testsuite format for rot13, a Python cross-check, and a shell test for the GStreamer element</a:t>
            </a:r>
            <a:endParaRPr lang="en-US" sz="1500" dirty="0"/>
          </a:p>
        </p:txBody>
      </p:sp>
      <p:sp>
        <p:nvSpPr>
          <p:cNvPr id="6" name="Shape 4"/>
          <p:cNvSpPr/>
          <p:nvPr/>
        </p:nvSpPr>
        <p:spPr>
          <a:xfrm>
            <a:off x="548640" y="2788920"/>
            <a:ext cx="457200" cy="457200"/>
          </a:xfrm>
          <a:prstGeom prst="ellipse">
            <a:avLst/>
          </a:prstGeom>
          <a:solidFill>
            <a:srgbClr val="C15F3C"/>
          </a:solidFill>
          <a:ln/>
        </p:spPr>
      </p:sp>
      <p:sp>
        <p:nvSpPr>
          <p:cNvPr id="7" name="Text 5"/>
          <p:cNvSpPr txBox="1"/>
          <p:nvPr/>
        </p:nvSpPr>
        <p:spPr>
          <a:xfrm>
            <a:off x="54864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234440" y="273405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Iterative debugging with verification targets</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an exact failing command and an exact expected output, so Claude can check its own fixes</a:t>
            </a:r>
            <a:endParaRPr lang="en-US" sz="1500" dirty="0"/>
          </a:p>
        </p:txBody>
      </p:sp>
      <p:sp>
        <p:nvSpPr>
          <p:cNvPr id="9" name="Shape 7"/>
          <p:cNvSpPr/>
          <p:nvPr/>
        </p:nvSpPr>
        <p:spPr>
          <a:xfrm>
            <a:off x="548640" y="3840480"/>
            <a:ext cx="457200" cy="457200"/>
          </a:xfrm>
          <a:prstGeom prst="ellipse">
            <a:avLst/>
          </a:prstGeom>
          <a:solidFill>
            <a:srgbClr val="C15F3C"/>
          </a:solidFill>
          <a:ln/>
        </p:spPr>
      </p:sp>
      <p:sp>
        <p:nvSpPr>
          <p:cNvPr id="10" name="Text 8"/>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234440" y="378561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Checkpoints and /rewind for recovering state</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a session-level undo, and what it cannot undo</a:t>
            </a:r>
            <a:endParaRPr lang="en-US" sz="1500" dirty="0"/>
          </a:p>
        </p:txBody>
      </p:sp>
      <p:sp>
        <p:nvSpPr>
          <p:cNvPr id="12" name="Shape 10"/>
          <p:cNvSpPr/>
          <p:nvPr/>
        </p:nvSpPr>
        <p:spPr>
          <a:xfrm>
            <a:off x="548640" y="4892040"/>
            <a:ext cx="457200" cy="457200"/>
          </a:xfrm>
          <a:prstGeom prst="ellipse">
            <a:avLst/>
          </a:prstGeom>
          <a:solidFill>
            <a:srgbClr val="C15F3C"/>
          </a:solidFill>
          <a:ln/>
        </p:spPr>
      </p:sp>
      <p:sp>
        <p:nvSpPr>
          <p:cNvPr id="13" name="Text 11"/>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234440" y="4837176"/>
            <a:ext cx="10104120" cy="1051560"/>
          </a:xfrm>
          <a:prstGeom prst="rect">
            <a:avLst/>
          </a:prstGeom>
          <a:noFill/>
          <a:ln/>
        </p:spPr>
        <p:txBody>
          <a:bodyPr wrap="square" lIns="0" tIns="0" rIns="0" bIns="0" rtlCol="0" anchor="t"/>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Testing on the target</a:t>
            </a:r>
            <a:endParaRPr lang="en-US" sz="1500" dirty="0"/>
          </a:p>
          <a:p>
            <a:pPr indent="0" marL="0">
              <a:lnSpc>
                <a:spcPct val="112000"/>
              </a:lnSpc>
              <a:buNone/>
            </a:pPr>
            <a:r>
              <a:rPr lang="en-US" sz="1250" dirty="0">
                <a:solidFill>
                  <a:srgbClr val="F3EFE8"/>
                </a:solidFill>
                <a:latin typeface="Calibri" pitchFamily="34" charset="0"/>
                <a:ea typeface="Calibri" pitchFamily="34" charset="-122"/>
                <a:cs typeface="Calibri" pitchFamily="34" charset="-120"/>
              </a:rPr>
              <a:t>running the cross-built binary under qemu-arm</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Generating &amp; Running Tests</a:t>
            </a:r>
            <a:endParaRPr lang="en-US" sz="3200" dirty="0"/>
          </a:p>
        </p:txBody>
      </p:sp>
      <p:sp>
        <p:nvSpPr>
          <p:cNvPr id="3" name="Text 1"/>
          <p:cNvSpPr txBox="1"/>
          <p:nvPr/>
        </p:nvSpPr>
        <p:spPr>
          <a:xfrm>
            <a:off x="548640" y="1188720"/>
            <a:ext cx="10789920" cy="64008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Claude starts from the tests the project already has, not from a blank page. The documented recipe: find what is untested, generate scaffolding, ask for edge cases, then run and fix.</a:t>
            </a:r>
            <a:endParaRPr lang="en-US" sz="1500" dirty="0"/>
          </a:p>
        </p:txBody>
      </p:sp>
      <p:sp>
        <p:nvSpPr>
          <p:cNvPr id="4" name="Shape 2"/>
          <p:cNvSpPr/>
          <p:nvPr/>
        </p:nvSpPr>
        <p:spPr>
          <a:xfrm>
            <a:off x="548640" y="1920240"/>
            <a:ext cx="457200" cy="457200"/>
          </a:xfrm>
          <a:prstGeom prst="ellipse">
            <a:avLst/>
          </a:prstGeom>
          <a:solidFill>
            <a:srgbClr val="C15F3C"/>
          </a:solidFill>
          <a:ln/>
        </p:spPr>
      </p:sp>
      <p:sp>
        <p:nvSpPr>
          <p:cNvPr id="5" name="Text 3"/>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86537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"List 5 applets that have no test file under testsuite/"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ask what is untested before writing any, so effort goes where the gaps are.</a:t>
            </a:r>
            <a:endParaRPr lang="en-US" sz="1500" dirty="0"/>
          </a:p>
        </p:txBody>
      </p:sp>
      <p:sp>
        <p:nvSpPr>
          <p:cNvPr id="7" name="Shape 5"/>
          <p:cNvSpPr/>
          <p:nvPr/>
        </p:nvSpPr>
        <p:spPr>
          <a:xfrm>
            <a:off x="548640" y="2651760"/>
            <a:ext cx="457200" cy="457200"/>
          </a:xfrm>
          <a:prstGeom prst="ellipse">
            <a:avLst/>
          </a:prstGeom>
          <a:solidFill>
            <a:srgbClr val="C15F3C"/>
          </a:solidFill>
          <a:ln/>
        </p:spPr>
      </p:sp>
      <p:sp>
        <p:nvSpPr>
          <p:cNvPr id="8" name="Text 6"/>
          <p:cNvSpPr txBox="1"/>
          <p:nvPr/>
        </p:nvSpPr>
        <p:spPr>
          <a:xfrm>
            <a:off x="548640" y="2651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59689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Generated tests match your existing style and frameworks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point at one small existing *.tests file; Claude copies its structure instead of inventing one.</a:t>
            </a:r>
            <a:endParaRPr lang="en-US" sz="1500" dirty="0"/>
          </a:p>
        </p:txBody>
      </p:sp>
      <p:sp>
        <p:nvSpPr>
          <p:cNvPr id="10" name="Shape 8"/>
          <p:cNvSpPr/>
          <p:nvPr/>
        </p:nvSpPr>
        <p:spPr>
          <a:xfrm>
            <a:off x="548640" y="3383280"/>
            <a:ext cx="457200" cy="457200"/>
          </a:xfrm>
          <a:prstGeom prst="ellipse">
            <a:avLst/>
          </a:prstGeom>
          <a:solidFill>
            <a:srgbClr val="C15F3C"/>
          </a:solidFill>
          <a:ln/>
        </p:spPr>
      </p:sp>
      <p:sp>
        <p:nvSpPr>
          <p:cNvPr id="11" name="Text 9"/>
          <p:cNvSpPr txBox="1"/>
          <p:nvPr/>
        </p:nvSpPr>
        <p:spPr>
          <a:xfrm>
            <a:off x="548640" y="3383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234440" y="33284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Name the cases: lowercase, uppercase, digits, empty input, a 4 KB input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boundaries and invalid input are the easy-to-overlook cases where C bugs tend to live.</a:t>
            </a:r>
            <a:endParaRPr lang="en-US" sz="1500" dirty="0"/>
          </a:p>
        </p:txBody>
      </p:sp>
      <p:sp>
        <p:nvSpPr>
          <p:cNvPr id="13" name="Shape 11"/>
          <p:cNvSpPr/>
          <p:nvPr/>
        </p:nvSpPr>
        <p:spPr>
          <a:xfrm>
            <a:off x="548640" y="4114800"/>
            <a:ext cx="457200" cy="457200"/>
          </a:xfrm>
          <a:prstGeom prst="ellipse">
            <a:avLst/>
          </a:prstGeom>
          <a:solidFill>
            <a:srgbClr val="C15F3C"/>
          </a:solidFill>
          <a:ln/>
        </p:spPr>
      </p:sp>
      <p:sp>
        <p:nvSpPr>
          <p:cNvPr id="14" name="Text 12"/>
          <p:cNvSpPr txBox="1"/>
          <p:nvPr/>
        </p:nvSpPr>
        <p:spPr>
          <a:xfrm>
            <a:off x="54864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234440" y="40599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Run the new tests and let Claude fix failures itself</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use the test command recorded in CLAUDE.md in Module 1; no pasting each failure back by hand.</a:t>
            </a:r>
            <a:endParaRPr lang="en-US" sz="1500" dirty="0"/>
          </a:p>
        </p:txBody>
      </p:sp>
      <p:sp>
        <p:nvSpPr>
          <p:cNvPr id="16" name="Shape 14"/>
          <p:cNvSpPr/>
          <p:nvPr/>
        </p:nvSpPr>
        <p:spPr>
          <a:xfrm>
            <a:off x="548640" y="4846320"/>
            <a:ext cx="457200" cy="457200"/>
          </a:xfrm>
          <a:prstGeom prst="ellipse">
            <a:avLst/>
          </a:prstGeom>
          <a:solidFill>
            <a:srgbClr val="8E3B2E"/>
          </a:solidFill>
          <a:ln/>
        </p:spPr>
      </p:sp>
      <p:sp>
        <p:nvSpPr>
          <p:cNvPr id="17" name="Text 15"/>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234440" y="479145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Watch out: say what behavior each test should verify</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 generic "more tests" request can produce tests that merely execute the code instead of checking it.</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4.1: Find Gaps, Write rot13 Tests</a:t>
            </a:r>
            <a:endParaRPr lang="en-US" sz="3200" dirty="0"/>
          </a:p>
        </p:txBody>
      </p:sp>
      <p:sp>
        <p:nvSpPr>
          <p:cNvPr id="3" name="Shape 1"/>
          <p:cNvSpPr/>
          <p:nvPr/>
        </p:nvSpPr>
        <p:spPr>
          <a:xfrm>
            <a:off x="548640" y="1234440"/>
            <a:ext cx="10789920" cy="2724912"/>
          </a:xfrm>
          <a:prstGeom prst="roundRect">
            <a:avLst>
              <a:gd name="adj" fmla="val 2685"/>
            </a:avLst>
          </a:prstGeom>
          <a:solidFill>
            <a:srgbClr val="262320"/>
          </a:solidFill>
          <a:ln/>
          <a:effectLst>
            <a:outerShdw sx="100000" sy="100000" kx="0" ky="0" algn="bl" rotWithShape="0" blurRad="76200" dist="25400" dir="5400000">
              <a:srgbClr val="000000">
                <a:alpha val="18000"/>
              </a:srgbClr>
            </a:outerShdw>
          </a:effectLst>
        </p:spPr>
      </p:sp>
      <p:sp>
        <p:nvSpPr>
          <p:cNvPr id="4" name="Text 2"/>
          <p:cNvSpPr txBox="1"/>
          <p:nvPr/>
        </p:nvSpPr>
        <p:spPr>
          <a:xfrm>
            <a:off x="822960" y="1325880"/>
            <a:ext cx="10241280" cy="283464"/>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1 find gaps</a:t>
            </a:r>
            <a:endParaRPr lang="en-US" sz="1100" dirty="0"/>
          </a:p>
        </p:txBody>
      </p:sp>
      <p:sp>
        <p:nvSpPr>
          <p:cNvPr id="5" name="Text 3"/>
          <p:cNvSpPr txBox="1"/>
          <p:nvPr/>
        </p:nvSpPr>
        <p:spPr>
          <a:xfrm>
            <a:off x="822960" y="160934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List 5 applets that have no test file under testsuite/.</a:t>
            </a:r>
            <a:endParaRPr lang="en-US" sz="1200" dirty="0"/>
          </a:p>
        </p:txBody>
      </p:sp>
      <p:sp>
        <p:nvSpPr>
          <p:cNvPr id="6" name="Text 4"/>
          <p:cNvSpPr txBox="1"/>
          <p:nvPr/>
        </p:nvSpPr>
        <p:spPr>
          <a:xfrm>
            <a:off x="822960" y="189280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read-only.</a:t>
            </a:r>
            <a:endParaRPr lang="en-US" sz="1200" dirty="0"/>
          </a:p>
        </p:txBody>
      </p:sp>
      <p:sp>
        <p:nvSpPr>
          <p:cNvPr id="7" name="Text 5"/>
          <p:cNvSpPr txBox="1"/>
          <p:nvPr/>
        </p:nvSpPr>
        <p:spPr>
          <a:xfrm>
            <a:off x="822960" y="2176272"/>
            <a:ext cx="10241280" cy="283464"/>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2 write the tests</a:t>
            </a:r>
            <a:endParaRPr lang="en-US" sz="1100" dirty="0"/>
          </a:p>
        </p:txBody>
      </p:sp>
      <p:sp>
        <p:nvSpPr>
          <p:cNvPr id="8" name="Text 6"/>
          <p:cNvSpPr txBox="1"/>
          <p:nvPr/>
        </p:nvSpPr>
        <p:spPr>
          <a:xfrm>
            <a:off x="822960" y="245973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Write testsuite/rot13.tests in the existing format: testing "description" "command" "result"</a:t>
            </a:r>
            <a:endParaRPr lang="en-US" sz="1200" dirty="0"/>
          </a:p>
        </p:txBody>
      </p:sp>
      <p:sp>
        <p:nvSpPr>
          <p:cNvPr id="9" name="Text 7"/>
          <p:cNvSpPr txBox="1"/>
          <p:nvPr/>
        </p:nvSpPr>
        <p:spPr>
          <a:xfrm>
            <a:off x="822960" y="274320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"infile" "stdin".</a:t>
            </a:r>
            <a:endParaRPr lang="en-US" sz="1200" dirty="0"/>
          </a:p>
        </p:txBody>
      </p:sp>
      <p:sp>
        <p:nvSpPr>
          <p:cNvPr id="10" name="Text 8"/>
          <p:cNvSpPr txBox="1"/>
          <p:nvPr/>
        </p:nvSpPr>
        <p:spPr>
          <a:xfrm>
            <a:off x="822960" y="302666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copy the structure of one small existing *.tests file under @testsuite/.</a:t>
            </a:r>
            <a:endParaRPr lang="en-US" sz="1200" dirty="0"/>
          </a:p>
        </p:txBody>
      </p:sp>
      <p:sp>
        <p:nvSpPr>
          <p:cNvPr id="11" name="Text 9"/>
          <p:cNvSpPr txBox="1"/>
          <p:nvPr/>
        </p:nvSpPr>
        <p:spPr>
          <a:xfrm>
            <a:off x="822960" y="331012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cases: lowercase, uppercase, digits unchanged, empty input, 4 KB input.</a:t>
            </a:r>
            <a:endParaRPr lang="en-US" sz="1200" dirty="0"/>
          </a:p>
        </p:txBody>
      </p:sp>
      <p:sp>
        <p:nvSpPr>
          <p:cNvPr id="12" name="Text 10"/>
          <p:cNvSpPr txBox="1"/>
          <p:nvPr/>
        </p:nvSpPr>
        <p:spPr>
          <a:xfrm>
            <a:off x="822960" y="359359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run the test command recorded in CLAUDE.md; all rot13 tests pass.</a:t>
            </a:r>
            <a:endParaRPr lang="en-US" sz="1200" dirty="0"/>
          </a:p>
        </p:txBody>
      </p:sp>
      <p:sp>
        <p:nvSpPr>
          <p:cNvPr id="13" name="Shape 11"/>
          <p:cNvSpPr/>
          <p:nvPr/>
        </p:nvSpPr>
        <p:spPr>
          <a:xfrm>
            <a:off x="548640" y="4526280"/>
            <a:ext cx="457200" cy="457200"/>
          </a:xfrm>
          <a:prstGeom prst="ellipse">
            <a:avLst/>
          </a:prstGeom>
          <a:solidFill>
            <a:srgbClr val="4F6F64"/>
          </a:solidFill>
          <a:ln/>
        </p:spPr>
      </p:sp>
      <p:sp>
        <p:nvSpPr>
          <p:cNvPr id="14" name="Text 12"/>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234440" y="447141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testing "description" "command" "result" "infile" "stdin" shape is the project's own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naming it in the prompt, and copying one small existing file, keeps the generated tests in house style.</a:t>
            </a:r>
            <a:endParaRPr lang="en-US" sz="1500" dirty="0"/>
          </a:p>
        </p:txBody>
      </p:sp>
      <p:sp>
        <p:nvSpPr>
          <p:cNvPr id="16" name="Shape 14"/>
          <p:cNvSpPr/>
          <p:nvPr/>
        </p:nvSpPr>
        <p:spPr>
          <a:xfrm>
            <a:off x="548640" y="5257800"/>
            <a:ext cx="457200" cy="457200"/>
          </a:xfrm>
          <a:prstGeom prst="ellipse">
            <a:avLst/>
          </a:prstGeom>
          <a:solidFill>
            <a:srgbClr val="4F6F64"/>
          </a:solidFill>
          <a:ln/>
        </p:spPr>
      </p:sp>
      <p:sp>
        <p:nvSpPr>
          <p:cNvPr id="17" name="Text 15"/>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234440" y="52029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Check the 4 KB case and the empty case by hand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these are the boundaries; if Claude skipped one, say which and re-run.</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4.2: A Python Cross-Check of rot13</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Two implementations that agree are stronger evidence than one test you wrote yourself. Python's codecs module already knows rot13.</a:t>
            </a:r>
            <a:endParaRPr lang="en-US" sz="1500" dirty="0"/>
          </a:p>
        </p:txBody>
      </p:sp>
      <p:sp>
        <p:nvSpPr>
          <p:cNvPr id="4" name="Shape 2"/>
          <p:cNvSpPr/>
          <p:nvPr/>
        </p:nvSpPr>
        <p:spPr>
          <a:xfrm>
            <a:off x="548640" y="1737360"/>
            <a:ext cx="10789920" cy="1362456"/>
          </a:xfrm>
          <a:prstGeom prst="roundRect">
            <a:avLst>
              <a:gd name="adj" fmla="val 5369"/>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85623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Write tools/check_rot13.py (Python 3, stdlib only).</a:t>
            </a:r>
            <a:endParaRPr lang="en-US" sz="1200" dirty="0"/>
          </a:p>
        </p:txBody>
      </p:sp>
      <p:sp>
        <p:nvSpPr>
          <p:cNvPr id="6" name="Text 4"/>
          <p:cNvSpPr txBox="1"/>
          <p:nvPr/>
        </p:nvSpPr>
        <p:spPr>
          <a:xfrm>
            <a:off x="822960" y="213969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generate 50 random strings; compute rot13 with the codecs module; run ./busybox rot13 on</a:t>
            </a:r>
            <a:endParaRPr lang="en-US" sz="1200" dirty="0"/>
          </a:p>
        </p:txBody>
      </p:sp>
      <p:sp>
        <p:nvSpPr>
          <p:cNvPr id="7" name="Text 5"/>
          <p:cNvSpPr txBox="1"/>
          <p:nvPr/>
        </p:nvSpPr>
        <p:spPr>
          <a:xfrm>
            <a:off x="822960" y="242316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each; print mismatches; exit non-zero if any.</a:t>
            </a:r>
            <a:endParaRPr lang="en-US" sz="1200" dirty="0"/>
          </a:p>
        </p:txBody>
      </p:sp>
      <p:sp>
        <p:nvSpPr>
          <p:cNvPr id="8" name="Text 6"/>
          <p:cNvSpPr txBox="1"/>
          <p:nvPr/>
        </p:nvSpPr>
        <p:spPr>
          <a:xfrm>
            <a:off x="822960" y="270662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python3 tools/check_rot13.py exits 0.</a:t>
            </a:r>
            <a:endParaRPr lang="en-US" sz="1200" dirty="0"/>
          </a:p>
        </p:txBody>
      </p:sp>
      <p:sp>
        <p:nvSpPr>
          <p:cNvPr id="9" name="Shape 7"/>
          <p:cNvSpPr/>
          <p:nvPr/>
        </p:nvSpPr>
        <p:spPr>
          <a:xfrm>
            <a:off x="548640" y="3566160"/>
            <a:ext cx="384048" cy="384048"/>
          </a:xfrm>
          <a:prstGeom prst="ellipse">
            <a:avLst/>
          </a:prstGeom>
          <a:solidFill>
            <a:srgbClr val="4F6F64"/>
          </a:solidFill>
          <a:ln/>
        </p:spPr>
      </p:sp>
      <p:sp>
        <p:nvSpPr>
          <p:cNvPr id="10" name="Text 8"/>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1161288" y="3511296"/>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Python rule applies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stdlib only, type hints, non-zero exit on failure: the path-scoped rule file from Module 2 shapes the script.</a:t>
            </a:r>
            <a:endParaRPr lang="en-US" sz="1500" dirty="0"/>
          </a:p>
        </p:txBody>
      </p:sp>
      <p:sp>
        <p:nvSpPr>
          <p:cNvPr id="12" name="Shape 10"/>
          <p:cNvSpPr/>
          <p:nvPr/>
        </p:nvSpPr>
        <p:spPr>
          <a:xfrm>
            <a:off x="548640" y="4315968"/>
            <a:ext cx="384048" cy="384048"/>
          </a:xfrm>
          <a:prstGeom prst="ellipse">
            <a:avLst/>
          </a:prstGeom>
          <a:solidFill>
            <a:srgbClr val="4F6F64"/>
          </a:solidFill>
          <a:ln/>
        </p:spPr>
      </p:sp>
      <p:sp>
        <p:nvSpPr>
          <p:cNvPr id="13" name="Text 11"/>
          <p:cNvSpPr txBox="1"/>
          <p:nvPr/>
        </p:nvSpPr>
        <p:spPr>
          <a:xfrm>
            <a:off x="548640" y="431596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1161288" y="4261104"/>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allow list covers the run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Bash(python3 tools/*) was allowed in Module 1, so the check runs unprompted.</a:t>
            </a:r>
            <a:endParaRPr lang="en-US" sz="1500" dirty="0"/>
          </a:p>
        </p:txBody>
      </p:sp>
      <p:sp>
        <p:nvSpPr>
          <p:cNvPr id="15" name="Shape 13"/>
          <p:cNvSpPr/>
          <p:nvPr/>
        </p:nvSpPr>
        <p:spPr>
          <a:xfrm>
            <a:off x="548640" y="5065776"/>
            <a:ext cx="384048" cy="384048"/>
          </a:xfrm>
          <a:prstGeom prst="ellipse">
            <a:avLst/>
          </a:prstGeom>
          <a:solidFill>
            <a:srgbClr val="4F6F64"/>
          </a:solidFill>
          <a:ln/>
        </p:spPr>
      </p:sp>
      <p:sp>
        <p:nvSpPr>
          <p:cNvPr id="16" name="Text 14"/>
          <p:cNvSpPr txBox="1"/>
          <p:nvPr/>
        </p:nvSpPr>
        <p:spPr>
          <a:xfrm>
            <a:off x="548640" y="50657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161288" y="5010912"/>
            <a:ext cx="10177272"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 mismatch is information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print the input, expected, and actual for each mismatch so the failure is reproducible; that is the precise bug report on the next slide, produced automatically.</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Problem: A Failure Tells You "What," Not "Why"</a:t>
            </a:r>
            <a:endParaRPr lang="en-US" sz="3200" dirty="0"/>
          </a:p>
        </p:txBody>
      </p:sp>
      <p:sp>
        <p:nvSpPr>
          <p:cNvPr id="3" name="Shape 1"/>
          <p:cNvSpPr/>
          <p:nvPr/>
        </p:nvSpPr>
        <p:spPr>
          <a:xfrm>
            <a:off x="548640" y="1554480"/>
            <a:ext cx="457200" cy="457200"/>
          </a:xfrm>
          <a:prstGeom prst="ellipse">
            <a:avLst/>
          </a:prstGeom>
          <a:solidFill>
            <a:srgbClr val="8E3B2E"/>
          </a:solidFill>
          <a:ln/>
        </p:spPr>
      </p:sp>
      <p:sp>
        <p:nvSpPr>
          <p:cNvPr id="4"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1234440" y="149961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 failing test confirms something broke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it gives you the symptom (what), nothing about where or why.</a:t>
            </a:r>
            <a:endParaRPr lang="en-US" sz="1500" dirty="0"/>
          </a:p>
        </p:txBody>
      </p:sp>
      <p:sp>
        <p:nvSpPr>
          <p:cNvPr id="6" name="Shape 4"/>
          <p:cNvSpPr/>
          <p:nvPr/>
        </p:nvSpPr>
        <p:spPr>
          <a:xfrm>
            <a:off x="548640" y="2560320"/>
            <a:ext cx="457200" cy="457200"/>
          </a:xfrm>
          <a:prstGeom prst="ellipse">
            <a:avLst/>
          </a:prstGeom>
          <a:solidFill>
            <a:srgbClr val="8E3B2E"/>
          </a:solidFill>
          <a:ln/>
        </p:spPr>
      </p:sp>
      <p:sp>
        <p:nvSpPr>
          <p:cNvPr id="7" name="Text 5"/>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250545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It does not explain the root cause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finding the cause means working from the real failure output, not a description of it.</a:t>
            </a:r>
            <a:endParaRPr lang="en-US" sz="1500" dirty="0"/>
          </a:p>
        </p:txBody>
      </p:sp>
      <p:sp>
        <p:nvSpPr>
          <p:cNvPr id="9" name="Shape 7"/>
          <p:cNvSpPr/>
          <p:nvPr/>
        </p:nvSpPr>
        <p:spPr>
          <a:xfrm>
            <a:off x="548640" y="3566160"/>
            <a:ext cx="457200" cy="457200"/>
          </a:xfrm>
          <a:prstGeom prst="ellipse">
            <a:avLst/>
          </a:prstGeom>
          <a:solidFill>
            <a:srgbClr val="8E3B2E"/>
          </a:solidFill>
          <a:ln/>
        </p:spPr>
      </p:sp>
      <p:sp>
        <p:nvSpPr>
          <p:cNvPr id="10" name="Text 8"/>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234440" y="351129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 vague bug report produces a vague fix</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"rot13 is broken" leaves Claude guessing what to run and what correct looks like.</a:t>
            </a:r>
            <a:endParaRPr lang="en-US" sz="1500" dirty="0"/>
          </a:p>
        </p:txBody>
      </p:sp>
      <p:sp>
        <p:nvSpPr>
          <p:cNvPr id="12" name="Shape 10"/>
          <p:cNvSpPr/>
          <p:nvPr/>
        </p:nvSpPr>
        <p:spPr>
          <a:xfrm>
            <a:off x="548640" y="4572000"/>
            <a:ext cx="457200" cy="457200"/>
          </a:xfrm>
          <a:prstGeom prst="ellipse">
            <a:avLst/>
          </a:prstGeom>
          <a:solidFill>
            <a:srgbClr val="8E3B2E"/>
          </a:solidFill>
          <a:ln/>
        </p:spPr>
      </p:sp>
      <p:sp>
        <p:nvSpPr>
          <p:cNvPr id="13" name="Text 11"/>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234440" y="451713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Intermittent vs. consistent failures need different approaches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an intermittent failure points toward something like a race or an uninitialized value.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Solution: Iterative Debugging with Verification Targets</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Debugging is the same propose, inspect, correct loop as a refactor (Module 2), pointed at a failure. Give Claude a target it can check itself, so you do not review every attempt.</a:t>
            </a:r>
            <a:endParaRPr lang="en-US" sz="1500" dirty="0"/>
          </a:p>
        </p:txBody>
      </p:sp>
      <p:sp>
        <p:nvSpPr>
          <p:cNvPr id="4" name="Shape 2"/>
          <p:cNvSpPr/>
          <p:nvPr/>
        </p:nvSpPr>
        <p:spPr>
          <a:xfrm>
            <a:off x="548640" y="1874520"/>
            <a:ext cx="2514600" cy="914400"/>
          </a:xfrm>
          <a:prstGeom prst="roundRect">
            <a:avLst>
              <a:gd name="adj" fmla="val 8000"/>
            </a:avLst>
          </a:prstGeom>
          <a:solidFill>
            <a:srgbClr val="F3EFE8"/>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621792" y="1965960"/>
            <a:ext cx="2368296" cy="731520"/>
          </a:xfrm>
          <a:prstGeom prst="rect">
            <a:avLst/>
          </a:prstGeom>
          <a:noFill/>
          <a:ln/>
        </p:spPr>
        <p:txBody>
          <a:bodyPr wrap="square" lIns="0" tIns="0" rIns="0" bIns="0" rtlCol="0" anchor="ctr"/>
          <a:lstStyle/>
          <a:p>
            <a:pPr algn="ctr" indent="0" marL="0">
              <a:buNone/>
            </a:pPr>
            <a:r>
              <a:rPr lang="en-US" sz="1350" b="1" dirty="0">
                <a:solidFill>
                  <a:srgbClr val="262320"/>
                </a:solidFill>
                <a:latin typeface="Calibri" pitchFamily="34" charset="0"/>
                <a:ea typeface="Calibri" pitchFamily="34" charset="-122"/>
                <a:cs typeface="Calibri" pitchFamily="34" charset="-120"/>
              </a:rPr>
              <a:t>Propose fix</a:t>
            </a:r>
            <a:endParaRPr lang="en-US" sz="1350" dirty="0"/>
          </a:p>
          <a:p>
            <a:pPr algn="ctr" indent="0" marL="0">
              <a:buNone/>
            </a:pPr>
            <a:r>
              <a:rPr lang="en-US" sz="1050" dirty="0">
                <a:solidFill>
                  <a:srgbClr val="7A736A"/>
                </a:solidFill>
                <a:latin typeface="Calibri" pitchFamily="34" charset="0"/>
                <a:ea typeface="Calibri" pitchFamily="34" charset="-122"/>
                <a:cs typeface="Calibri" pitchFamily="34" charset="-120"/>
              </a:rPr>
              <a:t>exact command + output given</a:t>
            </a:r>
            <a:endParaRPr lang="en-US" sz="1350" dirty="0"/>
          </a:p>
        </p:txBody>
      </p:sp>
      <p:sp>
        <p:nvSpPr>
          <p:cNvPr id="6" name="Shape 4"/>
          <p:cNvSpPr/>
          <p:nvPr/>
        </p:nvSpPr>
        <p:spPr>
          <a:xfrm>
            <a:off x="3063240" y="2331720"/>
            <a:ext cx="365760" cy="0"/>
          </a:xfrm>
          <a:prstGeom prst="line">
            <a:avLst/>
          </a:prstGeom>
          <a:noFill/>
          <a:ln w="22225">
            <a:solidFill>
              <a:srgbClr val="7A736A"/>
            </a:solidFill>
            <a:prstDash val="solid"/>
            <a:tailEnd type="triangle"/>
          </a:ln>
        </p:spPr>
      </p:sp>
      <p:sp>
        <p:nvSpPr>
          <p:cNvPr id="7" name="Shape 5"/>
          <p:cNvSpPr/>
          <p:nvPr/>
        </p:nvSpPr>
        <p:spPr>
          <a:xfrm>
            <a:off x="3429000" y="1874520"/>
            <a:ext cx="2514600" cy="914400"/>
          </a:xfrm>
          <a:prstGeom prst="roundRect">
            <a:avLst>
              <a:gd name="adj" fmla="val 8000"/>
            </a:avLst>
          </a:prstGeom>
          <a:solidFill>
            <a:srgbClr val="4F6F64"/>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3502152" y="1965960"/>
            <a:ext cx="2368296"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Run target</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the exact test / expected output</a:t>
            </a:r>
            <a:endParaRPr lang="en-US" sz="1350" dirty="0"/>
          </a:p>
        </p:txBody>
      </p:sp>
      <p:sp>
        <p:nvSpPr>
          <p:cNvPr id="9" name="Shape 7"/>
          <p:cNvSpPr/>
          <p:nvPr/>
        </p:nvSpPr>
        <p:spPr>
          <a:xfrm>
            <a:off x="5943600" y="2331720"/>
            <a:ext cx="365760" cy="0"/>
          </a:xfrm>
          <a:prstGeom prst="line">
            <a:avLst/>
          </a:prstGeom>
          <a:noFill/>
          <a:ln w="22225">
            <a:solidFill>
              <a:srgbClr val="7A736A"/>
            </a:solidFill>
            <a:prstDash val="solid"/>
            <a:tailEnd type="triangle"/>
          </a:ln>
        </p:spPr>
      </p:sp>
      <p:sp>
        <p:nvSpPr>
          <p:cNvPr id="10" name="Shape 8"/>
          <p:cNvSpPr/>
          <p:nvPr/>
        </p:nvSpPr>
        <p:spPr>
          <a:xfrm>
            <a:off x="6309360" y="1874520"/>
            <a:ext cx="2514600" cy="914400"/>
          </a:xfrm>
          <a:prstGeom prst="roundRect">
            <a:avLst>
              <a:gd name="adj" fmla="val 8000"/>
            </a:avLst>
          </a:prstGeom>
          <a:solidFill>
            <a:srgbClr val="C15F3C"/>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6382512" y="1965960"/>
            <a:ext cx="2368296"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Pass?</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done</a:t>
            </a:r>
            <a:endParaRPr lang="en-US" sz="1350" dirty="0"/>
          </a:p>
        </p:txBody>
      </p:sp>
      <p:sp>
        <p:nvSpPr>
          <p:cNvPr id="12" name="Shape 10"/>
          <p:cNvSpPr/>
          <p:nvPr/>
        </p:nvSpPr>
        <p:spPr>
          <a:xfrm>
            <a:off x="8823960" y="2331720"/>
            <a:ext cx="365760" cy="0"/>
          </a:xfrm>
          <a:prstGeom prst="line">
            <a:avLst/>
          </a:prstGeom>
          <a:noFill/>
          <a:ln w="22225">
            <a:solidFill>
              <a:srgbClr val="7A736A"/>
            </a:solidFill>
            <a:prstDash val="solid"/>
            <a:tailEnd type="triangle"/>
          </a:ln>
        </p:spPr>
      </p:sp>
      <p:sp>
        <p:nvSpPr>
          <p:cNvPr id="13" name="Shape 11"/>
          <p:cNvSpPr/>
          <p:nvPr/>
        </p:nvSpPr>
        <p:spPr>
          <a:xfrm>
            <a:off x="9189720" y="1874520"/>
            <a:ext cx="2514600" cy="914400"/>
          </a:xfrm>
          <a:prstGeom prst="roundRect">
            <a:avLst>
              <a:gd name="adj" fmla="val 8000"/>
            </a:avLst>
          </a:prstGeom>
          <a:solidFill>
            <a:srgbClr val="8E3B2E"/>
          </a:solidFill>
          <a:ln w="12700">
            <a:solidFill>
              <a:srgbClr val="7A736A"/>
            </a:solidFill>
            <a:prstDash val="solid"/>
          </a:ln>
          <a:effectLst>
            <a:outerShdw sx="100000" sy="100000" kx="0" ky="0" algn="bl" rotWithShape="0" blurRad="76200" dist="25400" dir="5400000">
              <a:srgbClr val="000000">
                <a:alpha val="18000"/>
              </a:srgbClr>
            </a:outerShdw>
          </a:effectLst>
        </p:spPr>
      </p:sp>
      <p:sp>
        <p:nvSpPr>
          <p:cNvPr id="14" name="Text 12"/>
          <p:cNvSpPr txBox="1"/>
          <p:nvPr/>
        </p:nvSpPr>
        <p:spPr>
          <a:xfrm>
            <a:off x="9262872" y="1965960"/>
            <a:ext cx="2368296"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Fail?</a:t>
            </a:r>
            <a:endParaRPr lang="en-US" sz="1350" dirty="0"/>
          </a:p>
          <a:p>
            <a:pPr algn="ctr" indent="0" marL="0">
              <a:buNone/>
            </a:pPr>
            <a:r>
              <a:rPr lang="en-US" sz="1050" dirty="0">
                <a:solidFill>
                  <a:srgbClr val="F3EFE8"/>
                </a:solidFill>
                <a:latin typeface="Calibri" pitchFamily="34" charset="0"/>
                <a:ea typeface="Calibri" pitchFamily="34" charset="-122"/>
                <a:cs typeface="Calibri" pitchFamily="34" charset="-120"/>
              </a:rPr>
              <a:t>retry automatically</a:t>
            </a:r>
            <a:endParaRPr lang="en-US" sz="1350" dirty="0"/>
          </a:p>
        </p:txBody>
      </p:sp>
      <p:sp>
        <p:nvSpPr>
          <p:cNvPr id="15" name="Shape 13"/>
          <p:cNvSpPr/>
          <p:nvPr/>
        </p:nvSpPr>
        <p:spPr>
          <a:xfrm>
            <a:off x="548640" y="3017520"/>
            <a:ext cx="457200" cy="457200"/>
          </a:xfrm>
          <a:prstGeom prst="ellipse">
            <a:avLst/>
          </a:prstGeom>
          <a:solidFill>
            <a:srgbClr val="C15F3C"/>
          </a:solidFill>
          <a:ln/>
        </p:spPr>
      </p:sp>
      <p:sp>
        <p:nvSpPr>
          <p:cNvPr id="16" name="Text 14"/>
          <p:cNvSpPr txBox="1"/>
          <p:nvPr/>
        </p:nvSpPr>
        <p:spPr>
          <a:xfrm>
            <a:off x="54864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34440" y="2962656"/>
            <a:ext cx="10104120"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Share the exact command that reproduces it, and its output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Claude can then get the stack trace itself; also say whether the failure is consistent or intermittent.</a:t>
            </a:r>
            <a:endParaRPr lang="en-US" sz="1500" dirty="0"/>
          </a:p>
        </p:txBody>
      </p:sp>
      <p:sp>
        <p:nvSpPr>
          <p:cNvPr id="18" name="Shape 16"/>
          <p:cNvSpPr/>
          <p:nvPr/>
        </p:nvSpPr>
        <p:spPr>
          <a:xfrm>
            <a:off x="548640" y="3767328"/>
            <a:ext cx="457200" cy="457200"/>
          </a:xfrm>
          <a:prstGeom prst="ellipse">
            <a:avLst/>
          </a:prstGeom>
          <a:solidFill>
            <a:srgbClr val="C15F3C"/>
          </a:solidFill>
          <a:ln/>
        </p:spPr>
      </p:sp>
      <p:sp>
        <p:nvSpPr>
          <p:cNvPr id="19" name="Text 17"/>
          <p:cNvSpPr txBox="1"/>
          <p:nvPr/>
        </p:nvSpPr>
        <p:spPr>
          <a:xfrm>
            <a:off x="548640" y="37673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1234440" y="3712464"/>
            <a:ext cx="10104120"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Ask for fix recommendations before accepting the first guess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then apply the fix and re-run the same reproduction to see whether it worked.</a:t>
            </a:r>
            <a:endParaRPr lang="en-US" sz="1500" dirty="0"/>
          </a:p>
        </p:txBody>
      </p:sp>
      <p:sp>
        <p:nvSpPr>
          <p:cNvPr id="21" name="Shape 19"/>
          <p:cNvSpPr/>
          <p:nvPr/>
        </p:nvSpPr>
        <p:spPr>
          <a:xfrm>
            <a:off x="548640" y="4517136"/>
            <a:ext cx="457200" cy="457200"/>
          </a:xfrm>
          <a:prstGeom prst="ellipse">
            <a:avLst/>
          </a:prstGeom>
          <a:solidFill>
            <a:srgbClr val="C15F3C"/>
          </a:solidFill>
          <a:ln/>
        </p:spPr>
      </p:sp>
      <p:sp>
        <p:nvSpPr>
          <p:cNvPr id="22" name="Text 20"/>
          <p:cNvSpPr txBox="1"/>
          <p:nvPr/>
        </p:nvSpPr>
        <p:spPr>
          <a:xfrm>
            <a:off x="548640" y="45171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1234440" y="4462272"/>
            <a:ext cx="10104120"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State a verification target: the exact test, or "expected output is exactly this"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when Claude can verify its own work, it catches issues before you need to request fixes.</a:t>
            </a:r>
            <a:endParaRPr lang="en-US" sz="1500" dirty="0"/>
          </a:p>
        </p:txBody>
      </p:sp>
      <p:sp>
        <p:nvSpPr>
          <p:cNvPr id="24" name="Shape 22"/>
          <p:cNvSpPr/>
          <p:nvPr/>
        </p:nvSpPr>
        <p:spPr>
          <a:xfrm>
            <a:off x="548640" y="5266944"/>
            <a:ext cx="457200" cy="457200"/>
          </a:xfrm>
          <a:prstGeom prst="ellipse">
            <a:avLst/>
          </a:prstGeom>
          <a:solidFill>
            <a:srgbClr val="C15F3C"/>
          </a:solidFill>
          <a:ln/>
        </p:spPr>
      </p:sp>
      <p:sp>
        <p:nvSpPr>
          <p:cNvPr id="25" name="Text 23"/>
          <p:cNvSpPr txBox="1"/>
          <p:nvPr/>
        </p:nvSpPr>
        <p:spPr>
          <a:xfrm>
            <a:off x="548640" y="52669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txBox="1"/>
          <p:nvPr/>
        </p:nvSpPr>
        <p:spPr>
          <a:xfrm>
            <a:off x="1234440" y="5212080"/>
            <a:ext cx="10104120" cy="749808"/>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To enforce the target rather than only request it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/goal keeps Claude working until a condition holds; a Stop hook can block finishing until tests pass; a verification subagent or /verify checks independently.</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Worked Example: Vague vs. Precise Bug Report (Lab 4.3)</a:t>
            </a:r>
            <a:endParaRPr lang="en-US" sz="3200" dirty="0"/>
          </a:p>
        </p:txBody>
      </p:sp>
      <p:sp>
        <p:nvSpPr>
          <p:cNvPr id="3" name="Text 1"/>
          <p:cNvSpPr txBox="1"/>
          <p:nvPr/>
        </p:nvSpPr>
        <p:spPr>
          <a:xfrm>
            <a:off x="548640" y="1188720"/>
            <a:ext cx="10789920" cy="5943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Trainer step first: introduce an off-by-one in the rot13 loop bound, so the last letter is not rotated. Then the same bug, two prompts:</a:t>
            </a:r>
            <a:endParaRPr lang="en-US" sz="1500" dirty="0"/>
          </a:p>
        </p:txBody>
      </p:sp>
      <p:sp>
        <p:nvSpPr>
          <p:cNvPr id="4" name="Shape 2"/>
          <p:cNvSpPr/>
          <p:nvPr/>
        </p:nvSpPr>
        <p:spPr>
          <a:xfrm>
            <a:off x="548640" y="1874520"/>
            <a:ext cx="10789920" cy="2496312"/>
          </a:xfrm>
          <a:prstGeom prst="roundRect">
            <a:avLst>
              <a:gd name="adj" fmla="val 2930"/>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993392"/>
            <a:ext cx="10241280" cy="283464"/>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Vague: Claude must guess what to run and what correct looks like</a:t>
            </a:r>
            <a:endParaRPr lang="en-US" sz="1100" dirty="0"/>
          </a:p>
        </p:txBody>
      </p:sp>
      <p:sp>
        <p:nvSpPr>
          <p:cNvPr id="6" name="Text 4"/>
          <p:cNvSpPr txBox="1"/>
          <p:nvPr/>
        </p:nvSpPr>
        <p:spPr>
          <a:xfrm>
            <a:off x="822960" y="227685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rot13 is broken, please fix it.</a:t>
            </a:r>
            <a:endParaRPr lang="en-US" sz="1200" dirty="0"/>
          </a:p>
        </p:txBody>
      </p:sp>
      <p:sp>
        <p:nvSpPr>
          <p:cNvPr id="7" name="Text 5"/>
          <p:cNvSpPr txBox="1"/>
          <p:nvPr/>
        </p:nvSpPr>
        <p:spPr>
          <a:xfrm>
            <a:off x="822960" y="2560320"/>
            <a:ext cx="10241280" cy="283464"/>
          </a:xfrm>
          <a:prstGeom prst="rect">
            <a:avLst/>
          </a:prstGeom>
          <a:noFill/>
          <a:ln/>
        </p:spPr>
        <p:txBody>
          <a:bodyPr wrap="square" lIns="0" tIns="0" rIns="0" bIns="0" rtlCol="0" anchor="ctr"/>
          <a:lstStyle/>
          <a:p>
            <a:pPr indent="0" marL="0">
              <a:buNone/>
            </a:pPr>
            <a:r>
              <a:rPr lang="en-US" sz="1100" dirty="0">
                <a:solidFill>
                  <a:srgbClr val="F3EFE8"/>
                </a:solidFill>
                <a:latin typeface="Courier New" pitchFamily="34" charset="0"/>
                <a:ea typeface="Courier New" pitchFamily="34" charset="-122"/>
                <a:cs typeface="Courier New" pitchFamily="34" charset="-120"/>
              </a:rPr>
              <a:t># Precise: a reproduction and a target Claude can re-run</a:t>
            </a:r>
            <a:endParaRPr lang="en-US" sz="1100" dirty="0"/>
          </a:p>
        </p:txBody>
      </p:sp>
      <p:sp>
        <p:nvSpPr>
          <p:cNvPr id="8" name="Text 6"/>
          <p:cNvSpPr txBox="1"/>
          <p:nvPr/>
        </p:nvSpPr>
        <p:spPr>
          <a:xfrm>
            <a:off x="822960" y="284378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Fix the rot13 bug.</a:t>
            </a:r>
            <a:endParaRPr lang="en-US" sz="1200" dirty="0"/>
          </a:p>
        </p:txBody>
      </p:sp>
      <p:sp>
        <p:nvSpPr>
          <p:cNvPr id="9" name="Text 7"/>
          <p:cNvSpPr txBox="1"/>
          <p:nvPr/>
        </p:nvSpPr>
        <p:spPr>
          <a:xfrm>
            <a:off x="822960" y="312724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Context: `echo Hello | ./busybox rot13` prints "Uryy". Expected "Uryyb". Fails on every run.</a:t>
            </a:r>
            <a:endParaRPr lang="en-US" sz="1200" dirty="0"/>
          </a:p>
        </p:txBody>
      </p:sp>
      <p:sp>
        <p:nvSpPr>
          <p:cNvPr id="10" name="Text 8"/>
          <p:cNvSpPr txBox="1"/>
          <p:nvPr/>
        </p:nvSpPr>
        <p:spPr>
          <a:xfrm>
            <a:off x="822960" y="341071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find the root cause, do not special-case the input. Suggest fixes and wait for my choice.</a:t>
            </a:r>
            <a:endParaRPr lang="en-US" sz="1200" dirty="0"/>
          </a:p>
        </p:txBody>
      </p:sp>
      <p:sp>
        <p:nvSpPr>
          <p:cNvPr id="11" name="Text 9"/>
          <p:cNvSpPr txBox="1"/>
          <p:nvPr/>
        </p:nvSpPr>
        <p:spPr>
          <a:xfrm>
            <a:off x="822960" y="369417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after I pick one, apply it and rerun the command until it prints Uryyb; then run the test</a:t>
            </a:r>
            <a:endParaRPr lang="en-US" sz="1200" dirty="0"/>
          </a:p>
        </p:txBody>
      </p:sp>
      <p:sp>
        <p:nvSpPr>
          <p:cNvPr id="12" name="Text 10"/>
          <p:cNvSpPr txBox="1"/>
          <p:nvPr/>
        </p:nvSpPr>
        <p:spPr>
          <a:xfrm>
            <a:off x="822960" y="397764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command from CLAUDE.md.</a:t>
            </a:r>
            <a:endParaRPr lang="en-US" sz="1200" dirty="0"/>
          </a:p>
        </p:txBody>
      </p:sp>
      <p:sp>
        <p:nvSpPr>
          <p:cNvPr id="13" name="Shape 11"/>
          <p:cNvSpPr/>
          <p:nvPr/>
        </p:nvSpPr>
        <p:spPr>
          <a:xfrm>
            <a:off x="548640" y="4892040"/>
            <a:ext cx="457200" cy="457200"/>
          </a:xfrm>
          <a:prstGeom prst="ellipse">
            <a:avLst/>
          </a:prstGeom>
          <a:solidFill>
            <a:srgbClr val="C15F3C"/>
          </a:solidFill>
          <a:ln/>
        </p:spPr>
      </p:sp>
      <p:sp>
        <p:nvSpPr>
          <p:cNvPr id="14" name="Text 12"/>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234440" y="483717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Exact command plus expected output gives Claude a target it can re-run</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Hello becoming Uryy shows the last letter is dropped; the loop bound is the first place to look.</a:t>
            </a:r>
            <a:endParaRPr lang="en-US" sz="1500" dirty="0"/>
          </a:p>
        </p:txBody>
      </p:sp>
      <p:sp>
        <p:nvSpPr>
          <p:cNvPr id="16" name="Shape 14"/>
          <p:cNvSpPr/>
          <p:nvPr/>
        </p:nvSpPr>
        <p:spPr>
          <a:xfrm>
            <a:off x="548640" y="5623560"/>
            <a:ext cx="457200" cy="457200"/>
          </a:xfrm>
          <a:prstGeom prst="ellipse">
            <a:avLst/>
          </a:prstGeom>
          <a:solidFill>
            <a:srgbClr val="C15F3C"/>
          </a:solidFill>
          <a:ln/>
        </p:spPr>
      </p:sp>
      <p:sp>
        <p:nvSpPr>
          <p:cNvPr id="17" name="Text 15"/>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234440" y="556869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"Consistent" or "intermittent" changes what Claude looks for</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consistent suggests a deterministic logic error such as a loop bound; intermittent points toward a race or an uninitialized value.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Problem: An Attempt That Made Things Worse</a:t>
            </a:r>
            <a:endParaRPr lang="en-US" sz="3200" dirty="0"/>
          </a:p>
        </p:txBody>
      </p:sp>
      <p:sp>
        <p:nvSpPr>
          <p:cNvPr id="3" name="Shape 1"/>
          <p:cNvSpPr/>
          <p:nvPr/>
        </p:nvSpPr>
        <p:spPr>
          <a:xfrm>
            <a:off x="548640" y="1554480"/>
            <a:ext cx="457200" cy="457200"/>
          </a:xfrm>
          <a:prstGeom prst="ellipse">
            <a:avLst/>
          </a:prstGeom>
          <a:solidFill>
            <a:srgbClr val="8E3B2E"/>
          </a:solidFill>
          <a:ln/>
        </p:spPr>
      </p:sp>
      <p:sp>
        <p:nvSpPr>
          <p:cNvPr id="4" name="Text 2"/>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1234440" y="149961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Not every fix attempt is the right one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 plausible fix can still be wrong, and every attempt edits files.</a:t>
            </a:r>
            <a:endParaRPr lang="en-US" sz="1500" dirty="0"/>
          </a:p>
        </p:txBody>
      </p:sp>
      <p:sp>
        <p:nvSpPr>
          <p:cNvPr id="6" name="Shape 4"/>
          <p:cNvSpPr/>
          <p:nvPr/>
        </p:nvSpPr>
        <p:spPr>
          <a:xfrm>
            <a:off x="548640" y="2560320"/>
            <a:ext cx="457200" cy="457200"/>
          </a:xfrm>
          <a:prstGeom prst="ellipse">
            <a:avLst/>
          </a:prstGeom>
          <a:solidFill>
            <a:srgbClr val="8E3B2E"/>
          </a:solidFill>
          <a:ln/>
        </p:spPr>
      </p:sp>
      <p:sp>
        <p:nvSpPr>
          <p:cNvPr id="7" name="Text 5"/>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250545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Three attempts deep, only the first was actually needed</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later edits are now noise layered on top of a fix that already worked.</a:t>
            </a:r>
            <a:endParaRPr lang="en-US" sz="1500" dirty="0"/>
          </a:p>
        </p:txBody>
      </p:sp>
      <p:sp>
        <p:nvSpPr>
          <p:cNvPr id="9" name="Shape 7"/>
          <p:cNvSpPr/>
          <p:nvPr/>
        </p:nvSpPr>
        <p:spPr>
          <a:xfrm>
            <a:off x="548640" y="3566160"/>
            <a:ext cx="457200" cy="457200"/>
          </a:xfrm>
          <a:prstGeom prst="ellipse">
            <a:avLst/>
          </a:prstGeom>
          <a:solidFill>
            <a:srgbClr val="8E3B2E"/>
          </a:solidFill>
          <a:ln/>
        </p:spPr>
      </p:sp>
      <p:sp>
        <p:nvSpPr>
          <p:cNvPr id="10" name="Text 8"/>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234440" y="351129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Manually diffing your way back out is slow and error-prone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you have to work out by hand which lines belong to which attempt.</a:t>
            </a:r>
            <a:endParaRPr lang="en-US" sz="1500" dirty="0"/>
          </a:p>
        </p:txBody>
      </p:sp>
      <p:sp>
        <p:nvSpPr>
          <p:cNvPr id="12" name="Shape 10"/>
          <p:cNvSpPr/>
          <p:nvPr/>
        </p:nvSpPr>
        <p:spPr>
          <a:xfrm>
            <a:off x="548640" y="4572000"/>
            <a:ext cx="457200" cy="457200"/>
          </a:xfrm>
          <a:prstGeom prst="ellipse">
            <a:avLst/>
          </a:prstGeom>
          <a:solidFill>
            <a:srgbClr val="8E3B2E"/>
          </a:solidFill>
          <a:ln/>
        </p:spPr>
      </p:sp>
      <p:sp>
        <p:nvSpPr>
          <p:cNvPr id="13" name="Text 11"/>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234440" y="4517136"/>
            <a:ext cx="10104120" cy="10058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You want a precise undo, not a guess-and-check revert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something that returns the files to a known point, not a best-effort reversal.</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Solution: Checkpoints &amp; /rewind</a:t>
            </a:r>
            <a:endParaRPr lang="en-US" sz="3200" dirty="0"/>
          </a:p>
        </p:txBody>
      </p:sp>
      <p:sp>
        <p:nvSpPr>
          <p:cNvPr id="3" name="Text 1"/>
          <p:cNvSpPr txBox="1"/>
          <p:nvPr/>
        </p:nvSpPr>
        <p:spPr>
          <a:xfrm>
            <a:off x="548640" y="1188720"/>
            <a:ext cx="10789920" cy="64008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Claude Code automatically tracks Claude's file edits as you work. You can step back to just before a bad attempt without diffing anything by hand.</a:t>
            </a:r>
            <a:endParaRPr lang="en-US" sz="1500" dirty="0"/>
          </a:p>
        </p:txBody>
      </p:sp>
      <p:sp>
        <p:nvSpPr>
          <p:cNvPr id="4" name="Shape 2"/>
          <p:cNvSpPr/>
          <p:nvPr/>
        </p:nvSpPr>
        <p:spPr>
          <a:xfrm>
            <a:off x="548640" y="1920240"/>
            <a:ext cx="457200" cy="457200"/>
          </a:xfrm>
          <a:prstGeom prst="ellipse">
            <a:avLst/>
          </a:prstGeom>
          <a:solidFill>
            <a:srgbClr val="C15F3C"/>
          </a:solidFill>
          <a:ln/>
        </p:spPr>
      </p:sp>
      <p:sp>
        <p:nvSpPr>
          <p:cNvPr id="5" name="Text 3"/>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86537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Every prompt that starts a turn creates a checkpoint automatically</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100 most recent checkpoints in a session keep their file snapshots.</a:t>
            </a:r>
            <a:endParaRPr lang="en-US" sz="1500" dirty="0"/>
          </a:p>
        </p:txBody>
      </p:sp>
      <p:sp>
        <p:nvSpPr>
          <p:cNvPr id="7" name="Shape 5"/>
          <p:cNvSpPr/>
          <p:nvPr/>
        </p:nvSpPr>
        <p:spPr>
          <a:xfrm>
            <a:off x="548640" y="2697480"/>
            <a:ext cx="457200" cy="457200"/>
          </a:xfrm>
          <a:prstGeom prst="ellipse">
            <a:avLst/>
          </a:prstGeom>
          <a:solidFill>
            <a:srgbClr val="C15F3C"/>
          </a:solidFill>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64261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Terminal: /rewind or Esc Esc (empty prompt); IDE panel: rewind button on a message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same checkpoint mechanism and limits either way; lists each prompt sent. Aliases: /checkpoint, /undo.</a:t>
            </a:r>
            <a:endParaRPr lang="en-US" sz="1500" dirty="0"/>
          </a:p>
        </p:txBody>
      </p:sp>
      <p:sp>
        <p:nvSpPr>
          <p:cNvPr id="10" name="Shape 8"/>
          <p:cNvSpPr/>
          <p:nvPr/>
        </p:nvSpPr>
        <p:spPr>
          <a:xfrm>
            <a:off x="548640" y="3474720"/>
            <a:ext cx="457200" cy="457200"/>
          </a:xfrm>
          <a:prstGeom prst="ellipse">
            <a:avLst/>
          </a:prstGeom>
          <a:solidFill>
            <a:srgbClr val="C15F3C"/>
          </a:solidFill>
          <a:ln/>
        </p:spPr>
      </p:sp>
      <p:sp>
        <p:nvSpPr>
          <p:cNvPr id="11" name="Text 9"/>
          <p:cNvSpPr txBox="1"/>
          <p:nvPr/>
        </p:nvSpPr>
        <p:spPr>
          <a:xfrm>
            <a:off x="54864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234440" y="341985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Restore code and conversation, conversation only, or code only</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choose what to revert: both, just the chat (keep current code), or just the files (keep the chat).</a:t>
            </a:r>
            <a:endParaRPr lang="en-US" sz="1500" dirty="0"/>
          </a:p>
        </p:txBody>
      </p:sp>
      <p:sp>
        <p:nvSpPr>
          <p:cNvPr id="13" name="Shape 11"/>
          <p:cNvSpPr/>
          <p:nvPr/>
        </p:nvSpPr>
        <p:spPr>
          <a:xfrm>
            <a:off x="548640" y="4251960"/>
            <a:ext cx="457200" cy="457200"/>
          </a:xfrm>
          <a:prstGeom prst="ellipse">
            <a:avLst/>
          </a:prstGeom>
          <a:solidFill>
            <a:srgbClr val="C15F3C"/>
          </a:solidFill>
          <a:ln/>
        </p:spPr>
      </p:sp>
      <p:sp>
        <p:nvSpPr>
          <p:cNvPr id="14" name="Text 12"/>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234440" y="4197096"/>
            <a:ext cx="10104120" cy="77724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Summarize from here / Summarize up to here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compresses part of the conversation to free context space without touching any file; Never mind cancels.</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4.4: Checkpoints and Their Limits</a:t>
            </a:r>
            <a:endParaRPr lang="en-US" sz="3200" dirty="0"/>
          </a:p>
        </p:txBody>
      </p:sp>
      <p:sp>
        <p:nvSpPr>
          <p:cNvPr id="3" name="Shape 1"/>
          <p:cNvSpPr/>
          <p:nvPr/>
        </p:nvSpPr>
        <p:spPr>
          <a:xfrm>
            <a:off x="548640" y="1234440"/>
            <a:ext cx="10789920" cy="1874520"/>
          </a:xfrm>
          <a:prstGeom prst="roundRect">
            <a:avLst>
              <a:gd name="adj" fmla="val 3902"/>
            </a:avLst>
          </a:prstGeom>
          <a:solidFill>
            <a:srgbClr val="262320"/>
          </a:solidFill>
          <a:ln/>
          <a:effectLst>
            <a:outerShdw sx="100000" sy="100000" kx="0" ky="0" algn="bl" rotWithShape="0" blurRad="76200" dist="25400" dir="5400000">
              <a:srgbClr val="000000">
                <a:alpha val="18000"/>
              </a:srgbClr>
            </a:outerShdw>
          </a:effectLst>
        </p:spPr>
      </p:sp>
      <p:sp>
        <p:nvSpPr>
          <p:cNvPr id="4" name="Text 2"/>
          <p:cNvSpPr txBox="1"/>
          <p:nvPr/>
        </p:nvSpPr>
        <p:spPr>
          <a:xfrm>
            <a:off x="822960" y="132588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Run via Bash: rm -rf build-arm &amp;&amp; echo x &gt; scratch.txt. Then add a comment line at the top of the</a:t>
            </a:r>
            <a:endParaRPr lang="en-US" sz="1200" dirty="0"/>
          </a:p>
        </p:txBody>
      </p:sp>
      <p:sp>
        <p:nvSpPr>
          <p:cNvPr id="5" name="Text 3"/>
          <p:cNvSpPr txBox="1"/>
          <p:nvPr/>
        </p:nvSpPr>
        <p:spPr>
          <a:xfrm>
            <a:off x="822960" y="160934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rot13 source file.</a:t>
            </a:r>
            <a:endParaRPr lang="en-US" sz="1200" dirty="0"/>
          </a:p>
        </p:txBody>
      </p:sp>
      <p:sp>
        <p:nvSpPr>
          <p:cNvPr id="6" name="Text 4"/>
          <p:cNvSpPr txBox="1"/>
          <p:nvPr/>
        </p:nvSpPr>
        <p:spPr>
          <a:xfrm>
            <a:off x="822960" y="1892808"/>
            <a:ext cx="10241280" cy="283464"/>
          </a:xfrm>
          <a:prstGeom prst="rect">
            <a:avLst/>
          </a:prstGeom>
          <a:noFill/>
          <a:ln/>
        </p:spPr>
        <p:txBody>
          <a:bodyPr wrap="square" lIns="0" tIns="0" rIns="0" bIns="0" rtlCol="0" anchor="ctr"/>
          <a:lstStyle/>
          <a:p>
            <a:pPr indent="0" marL="0">
              <a:buNone/>
            </a:pPr>
            <a:endParaRPr lang="en-US" sz="1200" dirty="0"/>
          </a:p>
        </p:txBody>
      </p:sp>
      <p:sp>
        <p:nvSpPr>
          <p:cNvPr id="7" name="Text 5"/>
          <p:cNvSpPr txBox="1"/>
          <p:nvPr/>
        </p:nvSpPr>
        <p:spPr>
          <a:xfrm>
            <a:off x="822960" y="217627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/rewind        # restore code and conversation</a:t>
            </a:r>
            <a:endParaRPr lang="en-US" sz="1200" dirty="0"/>
          </a:p>
        </p:txBody>
      </p:sp>
      <p:sp>
        <p:nvSpPr>
          <p:cNvPr id="8" name="Text 6"/>
          <p:cNvSpPr txBox="1"/>
          <p:nvPr/>
        </p:nvSpPr>
        <p:spPr>
          <a:xfrm>
            <a:off x="822960" y="2459736"/>
            <a:ext cx="10241280" cy="283464"/>
          </a:xfrm>
          <a:prstGeom prst="rect">
            <a:avLst/>
          </a:prstGeom>
          <a:noFill/>
          <a:ln/>
        </p:spPr>
        <p:txBody>
          <a:bodyPr wrap="square" lIns="0" tIns="0" rIns="0" bIns="0" rtlCol="0" anchor="ctr"/>
          <a:lstStyle/>
          <a:p>
            <a:pPr indent="0" marL="0">
              <a:buNone/>
            </a:pPr>
            <a:endParaRPr lang="en-US" sz="1200" dirty="0"/>
          </a:p>
        </p:txBody>
      </p:sp>
      <p:sp>
        <p:nvSpPr>
          <p:cNvPr id="9" name="Text 7"/>
          <p:cNvSpPr txBox="1"/>
          <p:nvPr/>
        </p:nvSpPr>
        <p:spPr>
          <a:xfrm>
            <a:off x="822960" y="274320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ls build-arm scratch.txt</a:t>
            </a:r>
            <a:endParaRPr lang="en-US" sz="1200" dirty="0"/>
          </a:p>
        </p:txBody>
      </p:sp>
      <p:sp>
        <p:nvSpPr>
          <p:cNvPr id="10" name="Shape 8"/>
          <p:cNvSpPr/>
          <p:nvPr/>
        </p:nvSpPr>
        <p:spPr>
          <a:xfrm>
            <a:off x="548640" y="3383280"/>
            <a:ext cx="5234940" cy="1645920"/>
          </a:xfrm>
          <a:prstGeom prst="roundRect">
            <a:avLst>
              <a:gd name="adj" fmla="val 5556"/>
            </a:avLst>
          </a:prstGeom>
          <a:solidFill>
            <a:srgbClr val="F3EFE8"/>
          </a:solidFill>
          <a:ln/>
          <a:effectLst>
            <a:outerShdw sx="100000" sy="100000" kx="0" ky="0" algn="bl" rotWithShape="0" blurRad="76200" dist="25400" dir="5400000">
              <a:srgbClr val="000000">
                <a:alpha val="18000"/>
              </a:srgbClr>
            </a:outerShdw>
          </a:effectLst>
        </p:spPr>
      </p:sp>
      <p:sp>
        <p:nvSpPr>
          <p:cNvPr id="11" name="Text 9"/>
          <p:cNvSpPr txBox="1"/>
          <p:nvPr/>
        </p:nvSpPr>
        <p:spPr>
          <a:xfrm>
            <a:off x="777240" y="3584448"/>
            <a:ext cx="4777740" cy="124358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Restored by /rewind</a:t>
            </a:r>
            <a:endParaRPr lang="en-US" sz="1500" dirty="0"/>
          </a:p>
          <a:p>
            <a:pPr indent="0" marL="0">
              <a:spcAft>
                <a:spcPts val="400"/>
              </a:spcAft>
              <a:buNone/>
            </a:pPr>
            <a:r>
              <a:rPr lang="en-US" sz="1050" b="1" dirty="0">
                <a:solidFill>
                  <a:srgbClr val="4F6F64"/>
                </a:solidFill>
                <a:latin typeface="Calibri" pitchFamily="34" charset="0"/>
                <a:ea typeface="Calibri" pitchFamily="34" charset="-122"/>
                <a:cs typeface="Calibri" pitchFamily="34" charset="-120"/>
              </a:rPr>
              <a:t>TRACKED</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The comment added through Claude's Edit tool is gone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Conversation rewound to the chosen prompt</a:t>
            </a:r>
            <a:endParaRPr lang="en-US" sz="1500" dirty="0"/>
          </a:p>
        </p:txBody>
      </p:sp>
      <p:sp>
        <p:nvSpPr>
          <p:cNvPr id="12" name="Shape 10"/>
          <p:cNvSpPr/>
          <p:nvPr/>
        </p:nvSpPr>
        <p:spPr>
          <a:xfrm>
            <a:off x="6103620" y="3383280"/>
            <a:ext cx="5234940" cy="1645920"/>
          </a:xfrm>
          <a:prstGeom prst="roundRect">
            <a:avLst>
              <a:gd name="adj" fmla="val 5556"/>
            </a:avLst>
          </a:prstGeom>
          <a:solidFill>
            <a:srgbClr val="F3EFE8"/>
          </a:solidFill>
          <a:ln/>
          <a:effectLst>
            <a:outerShdw sx="100000" sy="100000" kx="0" ky="0" algn="bl" rotWithShape="0" blurRad="76200" dist="25400" dir="5400000">
              <a:srgbClr val="000000">
                <a:alpha val="18000"/>
              </a:srgbClr>
            </a:outerShdw>
          </a:effectLst>
        </p:spPr>
      </p:sp>
      <p:sp>
        <p:nvSpPr>
          <p:cNvPr id="13" name="Text 11"/>
          <p:cNvSpPr txBox="1"/>
          <p:nvPr/>
        </p:nvSpPr>
        <p:spPr>
          <a:xfrm>
            <a:off x="6332220" y="3584448"/>
            <a:ext cx="4777740" cy="1243584"/>
          </a:xfrm>
          <a:prstGeom prst="rect">
            <a:avLst/>
          </a:prstGeom>
          <a:noFill/>
          <a:ln/>
        </p:spPr>
        <p:txBody>
          <a:bodyPr wrap="square" lIns="0" tIns="0" rIns="0" bIns="0" rtlCol="0" anchor="t"/>
          <a:lstStyle/>
          <a:p>
            <a:pPr indent="0" marL="0">
              <a:spcAft>
                <a:spcPts val="400"/>
              </a:spcAft>
              <a:buNone/>
            </a:pPr>
            <a:r>
              <a:rPr lang="en-US" sz="1500" b="1" dirty="0">
                <a:solidFill>
                  <a:srgbClr val="262320"/>
                </a:solidFill>
                <a:latin typeface="Calibri" pitchFamily="34" charset="0"/>
                <a:ea typeface="Calibri" pitchFamily="34" charset="-122"/>
                <a:cs typeface="Calibri" pitchFamily="34" charset="-120"/>
              </a:rPr>
              <a:t>Not restored</a:t>
            </a:r>
            <a:endParaRPr lang="en-US" sz="1500" dirty="0"/>
          </a:p>
          <a:p>
            <a:pPr indent="0" marL="0">
              <a:spcAft>
                <a:spcPts val="400"/>
              </a:spcAft>
              <a:buNone/>
            </a:pPr>
            <a:r>
              <a:rPr lang="en-US" sz="1050" b="1" dirty="0">
                <a:solidFill>
                  <a:srgbClr val="8E3B2E"/>
                </a:solidFill>
                <a:latin typeface="Calibri" pitchFamily="34" charset="0"/>
                <a:ea typeface="Calibri" pitchFamily="34" charset="-122"/>
                <a:cs typeface="Calibri" pitchFamily="34" charset="-120"/>
              </a:rPr>
              <a:t>ONLY GIT CAN UNDO THESE</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build-arm/ and scratch.txt: changed by a Bash command</a:t>
            </a:r>
            <a:endParaRPr lang="en-US" sz="1500" dirty="0"/>
          </a:p>
          <a:p>
            <a:pPr marL="342900" indent="-342900">
              <a:spcAft>
                <a:spcPts val="400"/>
              </a:spcAft>
              <a:buSzPct val="100000"/>
              <a:buChar char="•"/>
            </a:pPr>
            <a:r>
              <a:rPr lang="en-US" sz="1200" dirty="0">
                <a:solidFill>
                  <a:srgbClr val="262320"/>
                </a:solidFill>
                <a:latin typeface="Calibri" pitchFamily="34" charset="0"/>
                <a:ea typeface="Calibri" pitchFamily="34" charset="-122"/>
                <a:cs typeface="Calibri" pitchFamily="34" charset="-120"/>
              </a:rPr>
              <a:t>Also: edits outside Claude Code, most subagent edits, symlinks</a:t>
            </a:r>
            <a:endParaRPr lang="en-US" sz="1500" dirty="0"/>
          </a:p>
        </p:txBody>
      </p:sp>
      <p:sp>
        <p:nvSpPr>
          <p:cNvPr id="14" name="Shape 12"/>
          <p:cNvSpPr/>
          <p:nvPr/>
        </p:nvSpPr>
        <p:spPr>
          <a:xfrm>
            <a:off x="548640" y="5257800"/>
            <a:ext cx="457200" cy="457200"/>
          </a:xfrm>
          <a:prstGeom prst="ellipse">
            <a:avLst/>
          </a:prstGeom>
          <a:solidFill>
            <a:srgbClr val="C15F3C"/>
          </a:solidFill>
          <a:ln/>
        </p:spPr>
      </p:sp>
      <p:sp>
        <p:nvSpPr>
          <p:cNvPr id="15" name="Text 13"/>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1234440" y="5202936"/>
            <a:ext cx="10104120"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/rewind is for "that last attempt made things worse"; git is for anything meant to last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analogy (the course's own, not official documentation): /rewind is a local save-point before a risky change, git is the reviewed history.</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Lab 4.5 and 4.6: Target and GStreamer Tests</a:t>
            </a:r>
            <a:endParaRPr lang="en-US" sz="3200" dirty="0"/>
          </a:p>
        </p:txBody>
      </p:sp>
      <p:sp>
        <p:nvSpPr>
          <p:cNvPr id="3" name="Text 1"/>
          <p:cNvSpPr txBox="1"/>
          <p:nvPr/>
        </p:nvSpPr>
        <p:spPr>
          <a:xfrm>
            <a:off x="548640" y="118872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4.5  Run the cross-built binary under qemu</a:t>
            </a:r>
            <a:endParaRPr lang="en-US" sz="1400" dirty="0"/>
          </a:p>
        </p:txBody>
      </p:sp>
      <p:sp>
        <p:nvSpPr>
          <p:cNvPr id="4" name="Shape 2"/>
          <p:cNvSpPr/>
          <p:nvPr/>
        </p:nvSpPr>
        <p:spPr>
          <a:xfrm>
            <a:off x="548640" y="1536192"/>
            <a:ext cx="10789920" cy="1024128"/>
          </a:xfrm>
          <a:prstGeom prst="roundRect">
            <a:avLst>
              <a:gd name="adj" fmla="val 7143"/>
            </a:avLst>
          </a:prstGeom>
          <a:solidFill>
            <a:srgbClr val="262320"/>
          </a:solidFill>
          <a:ln/>
          <a:effectLst>
            <a:outerShdw sx="100000" sy="100000" kx="0" ky="0" algn="bl" rotWithShape="0" blurRad="76200" dist="25400" dir="5400000">
              <a:srgbClr val="000000">
                <a:alpha val="18000"/>
              </a:srgbClr>
            </a:outerShdw>
          </a:effectLst>
        </p:spPr>
      </p:sp>
      <p:sp>
        <p:nvSpPr>
          <p:cNvPr id="5" name="Text 3"/>
          <p:cNvSpPr txBox="1"/>
          <p:nvPr/>
        </p:nvSpPr>
        <p:spPr>
          <a:xfrm>
            <a:off x="822960" y="162763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Run the cross-built binary under qemu.</a:t>
            </a:r>
            <a:endParaRPr lang="en-US" sz="1200" dirty="0"/>
          </a:p>
        </p:txBody>
      </p:sp>
      <p:sp>
        <p:nvSpPr>
          <p:cNvPr id="6" name="Text 4"/>
          <p:cNvSpPr txBox="1"/>
          <p:nvPr/>
        </p:nvSpPr>
        <p:spPr>
          <a:xfrm>
            <a:off x="822960" y="191109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`echo Hello | qemu-arm -L $SYSROOT build-arm/busybox rot13` prints Uryyb.</a:t>
            </a:r>
            <a:endParaRPr lang="en-US" sz="1200" dirty="0"/>
          </a:p>
        </p:txBody>
      </p:sp>
      <p:sp>
        <p:nvSpPr>
          <p:cNvPr id="7" name="Text 5"/>
          <p:cNvSpPr txBox="1"/>
          <p:nvPr/>
        </p:nvSpPr>
        <p:spPr>
          <a:xfrm>
            <a:off x="822960" y="219456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Output: the command and its output.</a:t>
            </a:r>
            <a:endParaRPr lang="en-US" sz="1200" dirty="0"/>
          </a:p>
        </p:txBody>
      </p:sp>
      <p:sp>
        <p:nvSpPr>
          <p:cNvPr id="8" name="Text 6"/>
          <p:cNvSpPr txBox="1"/>
          <p:nvPr/>
        </p:nvSpPr>
        <p:spPr>
          <a:xfrm>
            <a:off x="548640" y="2926080"/>
            <a:ext cx="10789920" cy="292608"/>
          </a:xfrm>
          <a:prstGeom prst="rect">
            <a:avLst/>
          </a:prstGeom>
          <a:noFill/>
          <a:ln/>
        </p:spPr>
        <p:txBody>
          <a:bodyPr wrap="square" lIns="0" tIns="0" rIns="0" bIns="0" rtlCol="0" anchor="ctr"/>
          <a:lstStyle/>
          <a:p>
            <a:pPr indent="0" marL="0">
              <a:buNone/>
            </a:pPr>
            <a:r>
              <a:rPr lang="en-US" sz="1400" b="1" dirty="0">
                <a:solidFill>
                  <a:srgbClr val="C15F3C"/>
                </a:solidFill>
                <a:latin typeface="Calibri" pitchFamily="34" charset="0"/>
                <a:ea typeface="Calibri" pitchFamily="34" charset="-122"/>
                <a:cs typeface="Calibri" pitchFamily="34" charset="-120"/>
              </a:rPr>
              <a:t>4.6  Shell test for the rot13filter element</a:t>
            </a:r>
            <a:endParaRPr lang="en-US" sz="1400" dirty="0"/>
          </a:p>
        </p:txBody>
      </p:sp>
      <p:sp>
        <p:nvSpPr>
          <p:cNvPr id="9" name="Shape 7"/>
          <p:cNvSpPr/>
          <p:nvPr/>
        </p:nvSpPr>
        <p:spPr>
          <a:xfrm>
            <a:off x="548640" y="3273552"/>
            <a:ext cx="10789920" cy="1591056"/>
          </a:xfrm>
          <a:prstGeom prst="roundRect">
            <a:avLst>
              <a:gd name="adj" fmla="val 4598"/>
            </a:avLst>
          </a:prstGeom>
          <a:solidFill>
            <a:srgbClr val="262320"/>
          </a:solidFill>
          <a:ln/>
          <a:effectLst>
            <a:outerShdw sx="100000" sy="100000" kx="0" ky="0" algn="bl" rotWithShape="0" blurRad="76200" dist="25400" dir="5400000">
              <a:srgbClr val="000000">
                <a:alpha val="18000"/>
              </a:srgbClr>
            </a:outerShdw>
          </a:effectLst>
        </p:spPr>
      </p:sp>
      <p:sp>
        <p:nvSpPr>
          <p:cNvPr id="10" name="Text 8"/>
          <p:cNvSpPr txBox="1"/>
          <p:nvPr/>
        </p:nvSpPr>
        <p:spPr>
          <a:xfrm>
            <a:off x="822960" y="3364992"/>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Goal: Write tests/rot13_gst.sh (bash) that tests the rot13filter element.</a:t>
            </a:r>
            <a:endParaRPr lang="en-US" sz="1200" dirty="0"/>
          </a:p>
        </p:txBody>
      </p:sp>
      <p:sp>
        <p:nvSpPr>
          <p:cNvPr id="11" name="Text 9"/>
          <p:cNvSpPr txBox="1"/>
          <p:nvPr/>
        </p:nvSpPr>
        <p:spPr>
          <a:xfrm>
            <a:off x="822960" y="3648456"/>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Constraints: set -euo pipefail; create in.txt; run gst-launch-1.0 filesrc location=in.txt ! rot13filter</a:t>
            </a:r>
            <a:endParaRPr lang="en-US" sz="1200" dirty="0"/>
          </a:p>
        </p:txBody>
      </p:sp>
      <p:sp>
        <p:nvSpPr>
          <p:cNvPr id="12" name="Text 10"/>
          <p:cNvSpPr txBox="1"/>
          <p:nvPr/>
        </p:nvSpPr>
        <p:spPr>
          <a:xfrm>
            <a:off x="822960" y="3931920"/>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 filesink location=out.txt with GST_PLUGIN_PATH pointing to the plugin build directory; compare</a:t>
            </a:r>
            <a:endParaRPr lang="en-US" sz="1200" dirty="0"/>
          </a:p>
        </p:txBody>
      </p:sp>
      <p:sp>
        <p:nvSpPr>
          <p:cNvPr id="13" name="Text 11"/>
          <p:cNvSpPr txBox="1"/>
          <p:nvPr/>
        </p:nvSpPr>
        <p:spPr>
          <a:xfrm>
            <a:off x="822960" y="4215384"/>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out.txt to the expected rot13 text; exit non-zero on mismatch.</a:t>
            </a:r>
            <a:endParaRPr lang="en-US" sz="1200" dirty="0"/>
          </a:p>
        </p:txBody>
      </p:sp>
      <p:sp>
        <p:nvSpPr>
          <p:cNvPr id="14" name="Text 12"/>
          <p:cNvSpPr txBox="1"/>
          <p:nvPr/>
        </p:nvSpPr>
        <p:spPr>
          <a:xfrm>
            <a:off x="822960" y="4498848"/>
            <a:ext cx="10241280" cy="283464"/>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Verify: run it; it exits 0.</a:t>
            </a:r>
            <a:endParaRPr lang="en-US" sz="1200" dirty="0"/>
          </a:p>
        </p:txBody>
      </p:sp>
      <p:sp>
        <p:nvSpPr>
          <p:cNvPr id="15" name="Shape 13"/>
          <p:cNvSpPr/>
          <p:nvPr/>
        </p:nvSpPr>
        <p:spPr>
          <a:xfrm>
            <a:off x="548640" y="5257800"/>
            <a:ext cx="457200" cy="457200"/>
          </a:xfrm>
          <a:prstGeom prst="ellipse">
            <a:avLst/>
          </a:prstGeom>
          <a:solidFill>
            <a:srgbClr val="7A736A"/>
          </a:solidFill>
          <a:ln/>
        </p:spPr>
      </p:sp>
      <p:sp>
        <p:nvSpPr>
          <p:cNvPr id="16" name="Text 14"/>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34440" y="5202936"/>
            <a:ext cx="10104120" cy="73152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qemu-arm -L $SYSROOT runs the ARM binary on the host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the same SYSROOT you exported in Part A; this proves the cross build, not only the native one.</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Pitfalls: Testing, Debugging &amp; Rewind</a:t>
            </a:r>
            <a:endParaRPr lang="en-US" sz="3200" dirty="0"/>
          </a:p>
        </p:txBody>
      </p:sp>
      <p:sp>
        <p:nvSpPr>
          <p:cNvPr id="3" name="Shape 1"/>
          <p:cNvSpPr/>
          <p:nvPr/>
        </p:nvSpPr>
        <p:spPr>
          <a:xfrm>
            <a:off x="548640" y="1463040"/>
            <a:ext cx="457200" cy="457200"/>
          </a:xfrm>
          <a:prstGeom prst="ellipse">
            <a:avLst/>
          </a:prstGeom>
          <a:solidFill>
            <a:srgbClr val="8E3B2E"/>
          </a:solidFill>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1234440" y="1408176"/>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Introducing the lab bug by hand-editing the file outside Claude Code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no snapshot of the "before" state exists, so /rewind cannot demonstrate; introduce it through Claude Code's own tools, or via git.</a:t>
            </a:r>
            <a:endParaRPr lang="en-US" sz="1500" dirty="0"/>
          </a:p>
        </p:txBody>
      </p:sp>
      <p:sp>
        <p:nvSpPr>
          <p:cNvPr id="6" name="Shape 4"/>
          <p:cNvSpPr/>
          <p:nvPr/>
        </p:nvSpPr>
        <p:spPr>
          <a:xfrm>
            <a:off x="548640" y="2359152"/>
            <a:ext cx="457200" cy="457200"/>
          </a:xfrm>
          <a:prstGeom prst="ellipse">
            <a:avLst/>
          </a:prstGeom>
          <a:solidFill>
            <a:srgbClr val="8E3B2E"/>
          </a:solidFill>
          <a:ln/>
        </p:spPr>
      </p:sp>
      <p:sp>
        <p:nvSpPr>
          <p:cNvPr id="7" name="Text 5"/>
          <p:cNvSpPr txBox="1"/>
          <p:nvPr/>
        </p:nvSpPr>
        <p:spPr>
          <a:xfrm>
            <a:off x="548640" y="23591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2304288"/>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Assuming /rewind undoes everything</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Bash-made changes, external edits and most subagent edits are invisible to it; only git can undo them.</a:t>
            </a:r>
            <a:endParaRPr lang="en-US" sz="1500" dirty="0"/>
          </a:p>
        </p:txBody>
      </p:sp>
      <p:sp>
        <p:nvSpPr>
          <p:cNvPr id="9" name="Shape 7"/>
          <p:cNvSpPr/>
          <p:nvPr/>
        </p:nvSpPr>
        <p:spPr>
          <a:xfrm>
            <a:off x="548640" y="3255264"/>
            <a:ext cx="457200" cy="457200"/>
          </a:xfrm>
          <a:prstGeom prst="ellipse">
            <a:avLst/>
          </a:prstGeom>
          <a:solidFill>
            <a:srgbClr val="8E3B2E"/>
          </a:solidFill>
          <a:ln/>
        </p:spPr>
      </p:sp>
      <p:sp>
        <p:nvSpPr>
          <p:cNvPr id="10" name="Text 8"/>
          <p:cNvSpPr txBox="1"/>
          <p:nvPr/>
        </p:nvSpPr>
        <p:spPr>
          <a:xfrm>
            <a:off x="548640" y="3255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234440" y="3200400"/>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Reporting the symptom instead of the failure</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"rot13 is broken" yields a vaguer fix than the exact command with its output and expected output.</a:t>
            </a:r>
            <a:endParaRPr lang="en-US" sz="1500" dirty="0"/>
          </a:p>
        </p:txBody>
      </p:sp>
      <p:sp>
        <p:nvSpPr>
          <p:cNvPr id="12" name="Shape 10"/>
          <p:cNvSpPr/>
          <p:nvPr/>
        </p:nvSpPr>
        <p:spPr>
          <a:xfrm>
            <a:off x="548640" y="4151376"/>
            <a:ext cx="457200" cy="457200"/>
          </a:xfrm>
          <a:prstGeom prst="ellipse">
            <a:avLst/>
          </a:prstGeom>
          <a:solidFill>
            <a:srgbClr val="8E3B2E"/>
          </a:solidFill>
          <a:ln/>
        </p:spPr>
      </p:sp>
      <p:sp>
        <p:nvSpPr>
          <p:cNvPr id="13" name="Text 11"/>
          <p:cNvSpPr txBox="1"/>
          <p:nvPr/>
        </p:nvSpPr>
        <p:spPr>
          <a:xfrm>
            <a:off x="548640" y="41513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234440" y="4096512"/>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Asking generically for "more tests"</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say what behavior each test should verify, or you may get tests that only execute the code.</a:t>
            </a:r>
            <a:endParaRPr lang="en-US" sz="1500" dirty="0"/>
          </a:p>
        </p:txBody>
      </p:sp>
      <p:sp>
        <p:nvSpPr>
          <p:cNvPr id="15" name="Shape 13"/>
          <p:cNvSpPr/>
          <p:nvPr/>
        </p:nvSpPr>
        <p:spPr>
          <a:xfrm>
            <a:off x="548640" y="5047488"/>
            <a:ext cx="457200" cy="457200"/>
          </a:xfrm>
          <a:prstGeom prst="ellipse">
            <a:avLst/>
          </a:prstGeom>
          <a:solidFill>
            <a:srgbClr val="8E3B2E"/>
          </a:solidFill>
          <a:ln/>
        </p:spPr>
      </p:sp>
      <p:sp>
        <p:nvSpPr>
          <p:cNvPr id="16" name="Text 14"/>
          <p:cNvSpPr txBox="1"/>
          <p:nvPr/>
        </p:nvSpPr>
        <p:spPr>
          <a:xfrm>
            <a:off x="548640" y="5047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34440" y="4992624"/>
            <a:ext cx="10104120" cy="896112"/>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Accepting the first fix guess with no target</a:t>
            </a:r>
            <a:endParaRPr lang="en-US" sz="1500" dirty="0"/>
          </a:p>
          <a:p>
            <a:pPr indent="0" marL="0">
              <a:lnSpc>
                <a:spcPct val="112000"/>
              </a:lnSpc>
              <a:buNone/>
            </a:pPr>
            <a:r>
              <a:rPr lang="en-US" sz="1250" dirty="0">
                <a:solidFill>
                  <a:srgbClr val="7A736A"/>
                </a:solidFill>
                <a:latin typeface="Calibri" pitchFamily="34" charset="0"/>
                <a:ea typeface="Calibri" pitchFamily="34" charset="-122"/>
                <a:cs typeface="Calibri" pitchFamily="34" charset="-120"/>
              </a:rPr>
              <a:t>ask for recommendations first and name the exact check Claude must re-run.</a:t>
            </a: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64240" cy="777240"/>
          </a:xfrm>
          <a:prstGeom prst="rect">
            <a:avLst/>
          </a:prstGeom>
          <a:noFill/>
          <a:ln/>
        </p:spPr>
        <p:txBody>
          <a:bodyPr wrap="square" rtlCol="0" anchor="t"/>
          <a:lstStyle/>
          <a:p>
            <a:pPr algn="l" indent="0" marL="0">
              <a:buNone/>
            </a:pPr>
            <a:r>
              <a:rPr lang="en-US" sz="3200" b="1" dirty="0">
                <a:solidFill>
                  <a:srgbClr val="262320"/>
                </a:solidFill>
                <a:latin typeface="Cambria" pitchFamily="34" charset="0"/>
                <a:ea typeface="Cambria" pitchFamily="34" charset="-122"/>
                <a:cs typeface="Cambria" pitchFamily="34" charset="-120"/>
              </a:rPr>
              <a:t>Module 4: Done When</a:t>
            </a:r>
            <a:endParaRPr lang="en-US" sz="3200" dirty="0"/>
          </a:p>
        </p:txBody>
      </p:sp>
      <p:sp>
        <p:nvSpPr>
          <p:cNvPr id="3" name="Text 1"/>
          <p:cNvSpPr txBox="1"/>
          <p:nvPr/>
        </p:nvSpPr>
        <p:spPr>
          <a:xfrm>
            <a:off x="548640" y="1188720"/>
            <a:ext cx="10789920" cy="365760"/>
          </a:xfrm>
          <a:prstGeom prst="rect">
            <a:avLst/>
          </a:prstGeom>
          <a:noFill/>
          <a:ln/>
        </p:spPr>
        <p:txBody>
          <a:bodyPr wrap="square" lIns="0" tIns="0" rIns="0" bIns="0" rtlCol="0" anchor="t"/>
          <a:lstStyle/>
          <a:p>
            <a:pPr indent="0" marL="0">
              <a:lnSpc>
                <a:spcPct val="110000"/>
              </a:lnSpc>
              <a:buNone/>
            </a:pPr>
            <a:r>
              <a:rPr lang="en-US" sz="1500" dirty="0">
                <a:solidFill>
                  <a:srgbClr val="262320"/>
                </a:solidFill>
                <a:latin typeface="Calibri" pitchFamily="34" charset="0"/>
                <a:ea typeface="Calibri" pitchFamily="34" charset="-122"/>
                <a:cs typeface="Calibri" pitchFamily="34" charset="-120"/>
              </a:rPr>
              <a:t>Each item is a check you can run.</a:t>
            </a:r>
            <a:endParaRPr lang="en-US" sz="1500" dirty="0"/>
          </a:p>
        </p:txBody>
      </p:sp>
      <p:sp>
        <p:nvSpPr>
          <p:cNvPr id="4" name="Shape 2"/>
          <p:cNvSpPr/>
          <p:nvPr/>
        </p:nvSpPr>
        <p:spPr>
          <a:xfrm>
            <a:off x="548640" y="1691640"/>
            <a:ext cx="384048" cy="384048"/>
          </a:xfrm>
          <a:prstGeom prst="ellipse">
            <a:avLst/>
          </a:prstGeom>
          <a:solidFill>
            <a:srgbClr val="4F6F64"/>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161288" y="1636776"/>
            <a:ext cx="10177272"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New rot13 tests pass in the BusyBox test run</a:t>
            </a:r>
            <a:endParaRPr lang="en-US" sz="1500" dirty="0"/>
          </a:p>
          <a:p>
            <a:pPr indent="0" marL="0">
              <a:lnSpc>
                <a:spcPct val="112000"/>
              </a:lnSpc>
              <a:buNone/>
            </a:pPr>
            <a:endParaRPr lang="en-US" sz="1500" dirty="0"/>
          </a:p>
        </p:txBody>
      </p:sp>
      <p:sp>
        <p:nvSpPr>
          <p:cNvPr id="7" name="Shape 5"/>
          <p:cNvSpPr/>
          <p:nvPr/>
        </p:nvSpPr>
        <p:spPr>
          <a:xfrm>
            <a:off x="548640" y="2514600"/>
            <a:ext cx="384048" cy="384048"/>
          </a:xfrm>
          <a:prstGeom prst="ellipse">
            <a:avLst/>
          </a:prstGeom>
          <a:solidFill>
            <a:srgbClr val="4F6F64"/>
          </a:solidFill>
          <a:ln/>
        </p:spPr>
      </p:sp>
      <p:sp>
        <p:nvSpPr>
          <p:cNvPr id="8" name="Text 6"/>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161288" y="2459736"/>
            <a:ext cx="10177272"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The precise report fixed the bug in fewer corrections than the vague one</a:t>
            </a:r>
            <a:endParaRPr lang="en-US" sz="1500" dirty="0"/>
          </a:p>
          <a:p>
            <a:pPr indent="0" marL="0">
              <a:lnSpc>
                <a:spcPct val="112000"/>
              </a:lnSpc>
              <a:buNone/>
            </a:pPr>
            <a:endParaRPr lang="en-US" sz="1500" dirty="0"/>
          </a:p>
        </p:txBody>
      </p:sp>
      <p:sp>
        <p:nvSpPr>
          <p:cNvPr id="10" name="Shape 8"/>
          <p:cNvSpPr/>
          <p:nvPr/>
        </p:nvSpPr>
        <p:spPr>
          <a:xfrm>
            <a:off x="548640" y="3337560"/>
            <a:ext cx="384048" cy="384048"/>
          </a:xfrm>
          <a:prstGeom prst="ellipse">
            <a:avLst/>
          </a:prstGeom>
          <a:solidFill>
            <a:srgbClr val="4F6F64"/>
          </a:solidFill>
          <a:ln/>
        </p:spPr>
      </p:sp>
      <p:sp>
        <p:nvSpPr>
          <p:cNvPr id="11" name="Text 9"/>
          <p:cNvSpPr txBox="1"/>
          <p:nvPr/>
        </p:nvSpPr>
        <p:spPr>
          <a:xfrm>
            <a:off x="548640" y="33375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161288" y="3282696"/>
            <a:ext cx="10177272"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/rewind restored the edit but not the deleted files</a:t>
            </a:r>
            <a:endParaRPr lang="en-US" sz="1500" dirty="0"/>
          </a:p>
          <a:p>
            <a:pPr indent="0" marL="0">
              <a:lnSpc>
                <a:spcPct val="112000"/>
              </a:lnSpc>
              <a:buNone/>
            </a:pPr>
            <a:endParaRPr lang="en-US" sz="1500" dirty="0"/>
          </a:p>
        </p:txBody>
      </p:sp>
      <p:sp>
        <p:nvSpPr>
          <p:cNvPr id="13" name="Shape 11"/>
          <p:cNvSpPr/>
          <p:nvPr/>
        </p:nvSpPr>
        <p:spPr>
          <a:xfrm>
            <a:off x="548640" y="4160520"/>
            <a:ext cx="384048" cy="384048"/>
          </a:xfrm>
          <a:prstGeom prst="ellipse">
            <a:avLst/>
          </a:prstGeom>
          <a:solidFill>
            <a:srgbClr val="4F6F64"/>
          </a:solidFill>
          <a:ln/>
        </p:spPr>
      </p:sp>
      <p:sp>
        <p:nvSpPr>
          <p:cNvPr id="14" name="Text 12"/>
          <p:cNvSpPr txBox="1"/>
          <p:nvPr/>
        </p:nvSpPr>
        <p:spPr>
          <a:xfrm>
            <a:off x="54864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161288" y="4105656"/>
            <a:ext cx="10177272" cy="822960"/>
          </a:xfrm>
          <a:prstGeom prst="rect">
            <a:avLst/>
          </a:prstGeom>
          <a:noFill/>
          <a:ln/>
        </p:spPr>
        <p:txBody>
          <a:bodyPr wrap="square" lIns="0" tIns="0" rIns="0" bIns="0" rtlCol="0" anchor="t"/>
          <a:lstStyle/>
          <a:p>
            <a:pPr indent="0" marL="0">
              <a:lnSpc>
                <a:spcPct val="112000"/>
              </a:lnSpc>
              <a:buNone/>
            </a:pPr>
            <a:r>
              <a:rPr lang="en-US" sz="1500" b="1" dirty="0">
                <a:solidFill>
                  <a:srgbClr val="262320"/>
                </a:solidFill>
                <a:latin typeface="Calibri" pitchFamily="34" charset="0"/>
                <a:ea typeface="Calibri" pitchFamily="34" charset="-122"/>
                <a:cs typeface="Calibri" pitchFamily="34" charset="-120"/>
              </a:rPr>
              <a:t>tools/check_rot13.py and tests/rot13_gst.sh exit 0; the qemu output is Uryyb</a:t>
            </a:r>
            <a:endParaRPr lang="en-US" sz="1500" dirty="0"/>
          </a:p>
          <a:p>
            <a:pPr indent="0" marL="0">
              <a:lnSpc>
                <a:spcPct val="112000"/>
              </a:lnSpc>
              <a:buNone/>
            </a:pPr>
            <a:endParaRPr lang="en-US" sz="1500" dirty="0"/>
          </a:p>
        </p:txBody>
      </p:sp>
      <p:sp>
        <p:nvSpPr>
          <p:cNvPr id="25" name="Slide Number Placeholder 0"/>
          <p:cNvSpPr>
            <a:spLocks noGrp="1"/>
          </p:cNvSpPr>
          <p:nvPr>
            <p:ph type="sldNum" sz="quarter" idx="4294967295"/>
          </p:nvPr>
        </p:nvSpPr>
        <p:spPr>
          <a:xfrm>
            <a:off x="11521440"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736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laude Code Training">
  <a:themeElements>
    <a:clrScheme name="Claude Code Training">
      <a:dk1>
        <a:srgbClr val="262320"/>
      </a:dk1>
      <a:lt1>
        <a:srgbClr val="FFFFFF"/>
      </a:lt1>
      <a:dk2>
        <a:srgbClr val="241F1B"/>
      </a:dk2>
      <a:lt2>
        <a:srgbClr val="F3EFE8"/>
      </a:lt2>
      <a:accent1>
        <a:srgbClr val="C15F3C"/>
      </a:accent1>
      <a:accent2>
        <a:srgbClr val="4F6F64"/>
      </a:accent2>
      <a:accent3>
        <a:srgbClr val="8A6D3F"/>
      </a:accent3>
      <a:accent4>
        <a:srgbClr val="7A736A"/>
      </a:accent4>
      <a:accent5>
        <a:srgbClr val="3D5A80"/>
      </a:accent5>
      <a:accent6>
        <a:srgbClr val="8E3B2E"/>
      </a:accent6>
      <a:hlink>
        <a:srgbClr val="C15F3C"/>
      </a:hlink>
      <a:folHlink>
        <a:srgbClr val="8A6D3F"/>
      </a:folHlink>
    </a:clrScheme>
    <a:fontScheme name="Claude Code Training">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Claude Code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for System Software and Embedded Engineering - Day 1 - Module 4: Testing, Debugging &amp; QA</dc:title>
  <dc:subject>PptxGenJS Presentation</dc:subject>
  <dc:creator>Claude Code Training</dc:creator>
  <cp:lastModifiedBy>Claude Code Training</cp:lastModifiedBy>
  <cp:revision>1</cp:revision>
  <dcterms:created xsi:type="dcterms:W3CDTF">2026-10-07T00:11:08Z</dcterms:created>
  <dcterms:modified xsi:type="dcterms:W3CDTF">2026-10-07T00:11:08Z</dcterms:modified>
</cp:coreProperties>
</file>