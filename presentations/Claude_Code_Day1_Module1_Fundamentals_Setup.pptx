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1: Fundamentals &amp; Setup" id="{a99959b2-6555-9f80-0cad-0b2573d08123}">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the rest of the course builds on starts here: an accurate mental model of what Claude Code is doing, a working install, and the two files (CLAUDE.md and settings.json) that shape every later module. All examples in Day 1 run on the lab sources: BusyBox 1.35.0 and a GStreamer element.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five assets once so nobody is surprised later. The BusyBox tag name 1_35_0 and the GStreamer 1.24.9 tag should be checked on the lab machine before class (git tag | grep -x 1_35_0); the lab guide has a tarball fallback. A custom toolchain works the same way: set CROSS, SYSROOT and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slide runs the loop on BusyBox so the room sees each tool call. Note: dedicated Grep and Glob tools are the default only on native Windows; on Linux, macOS and WSL a search shows up as grep or find inside a Bash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lab prompt 1.2. Run it live and open the transcript view so the room sees each tool call. The exact calls vary, so describe the sequence as typical, not guaranteed. The Constraints line (quote exact lines, write not found) is the prompt-level guard against guessing; it comes back in the prompt anatomy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install live on a machine without it, or just claude --version on a prepared machine. If the command is not found, a new terminal window fixes most PATH issues. Other installers exist (Homebrew, WinGet, apt/dnf/apk); native installs auto-update and claude update updates on demand. Requirements: macOS 13+, Ubuntu 20.04+, Debian 10+, Windows 10 1809+; WSL 2 for Linux toolchains and sandboxing.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Terminal first, VS Code second: everyone installs the CLI, those who want the panel add the extension. Shared between panel and terminal: CLAUDE.md, ~/.claude/settings.json, .claude/settings.json, hooks, MCP servers, plugins and conversation history. VS Code shortcuts: Ctrl+Esc toggles focus between editor and panel, Alt+K inserts an @-mention of the current selection (Option+K on macOS). Lab 1.7 repeats prompt 1.1 in the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surface each participant prefers; both are fine and the course works from the terminal alone. If someone uses the extension, note that it supports a subset of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this as a reference slide to return to during the lab. Name the terminal form first. Later modules cover /compact, /usage, /model and /rewind in depth. On Windows the shortcut set differs slightly; the Reference document has the Windows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if you cannot predict the exact sequence in advance, how would you feel letting this touch your firmware tree? Let the tension sit before the next slide answers it. The answer comes in layers: permission modes now, then CLAUDE.md, settings.json and hooks.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Shift+Tab cycling live in the BusyBox checkout. In lab 1.1 you start in plan mode with claude --permission-mode plan, so the codebase map cannot change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default lens for every later mode discussion. Ask which gate each person works behind today and which mode that maps to. Stress the last row: branch protection exists for a reason, and bypassPermissions is the same switch turned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1.3 runs /init on BusyBox, then records only commands that worked. Also mention CLAUDE.local.md, .claude/rules/ and AGENTS.md support (read when no CLAUDE.md exists; import it from CLAUDE.md to use both). /doctor prompt-audit finds stale or conflicting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participant noticed /etc/claude-code/CLAUDE.md is missing on their Linux machine: that is expected. The installer never creates it. Demo: sudo mkdir -p /etc/claude-code, write one rule, restart claude, run /context and see it under Memory files, then remove it. Windows and macOS paths are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practices from the docs: headers and bullets, one owner per rule, emphasis such as IMPORTANT on the one line Claude keeps skipping, HTML comments for maintainer notes (stripped before injection), @imports (max four hops, still loaded at launch so no context saving), and a compaction hint. Review CLAUDE.md changes in pull requests like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file is in the lab guide, Part B6. The Standards section is illustrative organization policy; replace it with yours. The test command is left to Claude to discover and record in lab 1.3, because a command that was never run should not be in CLAUDE.md. Lab 1.4 then tightens the file to under 60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where compliance, linting and standards go. Module 2 builds the three rule files (c-security.md, shell.md, python.md) and shows the generated helper obeying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layout is the course's example monorepo. In the lab we use BusyBox on its own, with libbb/ standing in for a shared package. The full monorepo table is in lab guide B8, including additionalDirectories and CLAUDE_CODE_ADDITIONAL_DIRECTORIES_CLAUDE_MD for added directories.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Keys it controls: permissions.allow/ask/deny/defaultMode/additionalDirectories, hooks, sandbox, env, model, enabledPlugins, claudeMdExcludes. Project allow rules wait until you trust the folder; deny and ask apply immediately. auto and bypassPermissions as defaultMode do not take effect from project or local files. The file ~/.claude.json is Claude's own state; do not hand-edit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Bash deny rules are not a security boundary: the same intent can be spelled differently. That is why the lab pairs deny rules with a hook for generated files, and why CI remains the last line of defense. /sandbox configures and checks the sandbox.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Shown as two halves of one file; the complete JSON, with the hooks block, is lab guide C4. Create it in lab 1.5. Why each key: allow removes routine prompts for the build and test loop; ask puts a human on commit and push; deny keeps secrets out of context and forces generated files to change through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revisits hooks in depth (PostToolUse lint, handler types, the 32 events). Here the point is the layering: deny rules and a hook protect the same generated headers. The block message reaches Claude, which then explains the change must go through make. Full file: lab guide C4.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.env file with a dummy value first so test 1 has something to refuse. Test 2: temporarily remove the Edit(/.config) deny rule to show the hook catching the same edit. Test 3 never actually pushes: answer no at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is the highest-leverage field: with a command and an expected output Claude can check its own work. Output keeps results short and context small. Stop is used when you want to choose between options, as in the debugging lab in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table with more keywords is lab guide D2. IMPORTANT works as emphasis for one rule that keeps being skipped; overuse dilutes it. /effort levels run low to max; Module 5 uses them to right-size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Anti-patterns to name while you are here: Fix the bug with no symptom or check; a kitchen-sink session (use /clear between tasks); correcting the same thing three times (clear and rewrite the prompt); an unscoped investigate; trusting plausible output without a check; asking a reviewer for gaps instead of findings with a concrete failing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Labs are in the lab guide, Part E. Have participants type the prompts, not paste a different wording, so the fields are practiced. In 1.1 plan mode guarantees nothing changes; point at the status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1.3 once so the test command is verified by an exit code. If the BusyBox test run is slow on the lab machines, let it run during a break. In 1.4 the Verify field makes Claude prove the file loads, tying back to the load-order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is the guardrail lab: after the three tests, /permissions should show the deny rules with their source file. In 1.6 the second prompt needs a plan-mode exit; the point is that Esc stops a running turn and keeps the work done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against this list before Module 2. Anyone missing the guardrail checks should fix them now: Module 2 relies on the same settings file and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are expected behaviour or a PATH issue, not errors in the participant's setup. Keep this slide up during the lab so people can self-diagnose before asking.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241F1B"/>
        </a:solidFill>
      </p:bgPr>
    </p:bg>
    <p:spTree>
      <p:nvGrpSpPr>
        <p:cNvPr id="1" name=""/>
        <p:cNvGrpSpPr/>
        <p:nvPr/>
      </p:nvGrpSpPr>
      <p:grpSpPr>
        <a:xfrm>
          <a:off x="0" y="0"/>
          <a:ext cx="0" cy="0"/>
          <a:chOff x="0" y="0"/>
          <a:chExt cx="0" cy="0"/>
        </a:xfrm>
      </p:grpSpPr>
      <p:sp>
        <p:nvSpPr>
          <p:cNvPr id="2" name="Text 0"/>
          <p:cNvSpPr/>
          <p:nvPr/>
        </p:nvSpPr>
        <p:spPr>
          <a:xfrm>
            <a:off x="548640" y="502920"/>
            <a:ext cx="8229600" cy="365760"/>
          </a:xfrm>
          <a:prstGeom prst="rect">
            <a:avLst/>
          </a:prstGeom>
          <a:noFill/>
          <a:ln/>
        </p:spPr>
        <p:txBody>
          <a:bodyPr wrap="square" rtlCol="0" anchor="ctr"/>
          <a:lstStyle/>
          <a:p>
            <a:pPr indent="0" marL="0">
              <a:buNone/>
            </a:pPr>
            <a:r>
              <a:rPr lang="en-US" sz="1200" b="1" spc="200" kern="0" dirty="0">
                <a:solidFill>
                  <a:srgbClr val="C15F3C"/>
                </a:solidFill>
                <a:latin typeface="Calibri" pitchFamily="34" charset="0"/>
                <a:ea typeface="Calibri" pitchFamily="34" charset="-122"/>
                <a:cs typeface="Calibri" pitchFamily="34" charset="-120"/>
              </a:rPr>
              <a:t>CLAUDE CODE TRAINING  ·  MODULE 1: FUNDAMENTALS &amp; SETUP</a:t>
            </a:r>
            <a:endParaRPr lang="en-US" sz="1200" dirty="0"/>
          </a:p>
        </p:txBody>
      </p:sp>
      <p:sp>
        <p:nvSpPr>
          <p:cNvPr id="3" name="Text 1"/>
          <p:cNvSpPr/>
          <p:nvPr>
            <p:ph idx="103" type="title" hasCustomPrompt="1"/>
          </p:nvPr>
        </p:nvSpPr>
        <p:spPr>
          <a:xfrm>
            <a:off x="548640" y="2331720"/>
            <a:ext cx="10424160" cy="12801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1"/>
          <p:cNvSpPr/>
          <p:nvPr>
            <p:ph idx="104" type="body" hasCustomPrompt="1"/>
          </p:nvPr>
        </p:nvSpPr>
        <p:spPr>
          <a:xfrm>
            <a:off x="548640" y="3657600"/>
            <a:ext cx="10058400" cy="548640"/>
          </a:xfrm>
          <a:prstGeom prst="rect">
            <a:avLst/>
          </a:prstGeom>
          <a:noFill/>
          <a:ln/>
        </p:spPr>
        <p:txBody>
          <a:bodyPr wrap="square" rtlCol="0"/>
          <a:lstStyle>
            <a:lvl1pPr algn="l" indent="0" marL="0">
              <a:buNone/>
              <a:defRPr lang="en-US" sz="1800" dirty="0">
                <a:solidFill>
                  <a:srgbClr val="F3EFE8"/>
                </a:solidFill>
                <a:latin typeface="Calibri" pitchFamily="34" charset="0"/>
                <a:ea typeface="Calibri" pitchFamily="34" charset="-122"/>
                <a:cs typeface="Calibri" pitchFamily="34" charset="-120"/>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52144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SLIDE">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6400800" cy="274320"/>
          </a:xfrm>
          <a:prstGeom prst="rect">
            <a:avLst/>
          </a:prstGeom>
          <a:noFill/>
          <a:ln/>
        </p:spPr>
        <p:txBody>
          <a:bodyPr wrap="square" rtlCol="0" anchor="ctr"/>
          <a:lstStyle/>
          <a:p>
            <a:pPr indent="0" marL="0">
              <a:buNone/>
            </a:pPr>
            <a:r>
              <a:rPr lang="en-US" sz="950" dirty="0">
                <a:solidFill>
                  <a:srgbClr val="7A736A"/>
                </a:solidFill>
                <a:latin typeface="Calibri" pitchFamily="34" charset="0"/>
                <a:ea typeface="Calibri" pitchFamily="34" charset="-122"/>
                <a:cs typeface="Calibri" pitchFamily="34" charset="-120"/>
              </a:rPr>
              <a:t>Claude Code Training  ·  Module 1: Fundamentals &amp; Setup</a:t>
            </a:r>
            <a:endParaRPr lang="en-US" sz="950" dirty="0"/>
          </a:p>
        </p:txBody>
      </p:sp>
      <p:sp>
        <p:nvSpPr>
          <p:cNvPr id="3" name="Text 1"/>
          <p:cNvSpPr/>
          <p:nvPr>
            <p:ph idx="101" type="title" hasCustomPrompt="1"/>
          </p:nvPr>
        </p:nvSpPr>
        <p:spPr>
          <a:xfrm>
            <a:off x="548640" y="384048"/>
            <a:ext cx="11064240" cy="777240"/>
          </a:xfrm>
          <a:prstGeom prst="rect">
            <a:avLst/>
          </a:prstGeom>
          <a:noFill/>
          <a:ln/>
        </p:spPr>
        <p:txBody>
          <a:bodyPr wrap="square" rtlCol="0"/>
          <a:lstStyle>
            <a:lvl1pPr algn="l" indent="0" marL="0">
              <a:buNone/>
              <a:defRPr lang="en-US" sz="3200" b="1" dirty="0">
                <a:solidFill>
                  <a:srgbClr val="262320"/>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_SLIDE">
    <p:bg>
      <p:bgPr>
        <a:solidFill>
          <a:srgbClr val="241F1B"/>
        </a:solidFill>
      </p:bgPr>
    </p:bg>
    <p:spTree>
      <p:nvGrpSpPr>
        <p:cNvPr id="1" name=""/>
        <p:cNvGrpSpPr/>
        <p:nvPr/>
      </p:nvGrpSpPr>
      <p:grpSpPr>
        <a:xfrm>
          <a:off x="0" y="0"/>
          <a:ext cx="0" cy="0"/>
          <a:chOff x="0" y="0"/>
          <a:chExt cx="0" cy="0"/>
        </a:xfrm>
      </p:grpSpPr>
      <p:sp>
        <p:nvSpPr>
          <p:cNvPr id="2" name="Text 0"/>
          <p:cNvSpPr/>
          <p:nvPr/>
        </p:nvSpPr>
        <p:spPr>
          <a:xfrm>
            <a:off x="548640" y="6473952"/>
            <a:ext cx="6400800" cy="274320"/>
          </a:xfrm>
          <a:prstGeom prst="rect">
            <a:avLst/>
          </a:prstGeom>
          <a:noFill/>
          <a:ln/>
        </p:spPr>
        <p:txBody>
          <a:bodyPr wrap="square" rtlCol="0" anchor="ctr"/>
          <a:lstStyle/>
          <a:p>
            <a:pPr indent="0" marL="0">
              <a:buNone/>
            </a:pPr>
            <a:r>
              <a:rPr lang="en-US" sz="950" dirty="0">
                <a:solidFill>
                  <a:srgbClr val="7A736A"/>
                </a:solidFill>
                <a:latin typeface="Calibri" pitchFamily="34" charset="0"/>
                <a:ea typeface="Calibri" pitchFamily="34" charset="-122"/>
                <a:cs typeface="Calibri" pitchFamily="34" charset="-120"/>
              </a:rPr>
              <a:t>Claude Code Training  ·  Module 1: Fundamentals &amp; Setup</a:t>
            </a:r>
            <a:endParaRPr lang="en-US" sz="950" dirty="0"/>
          </a:p>
        </p:txBody>
      </p:sp>
      <p:sp>
        <p:nvSpPr>
          <p:cNvPr id="3" name="Text 1"/>
          <p:cNvSpPr/>
          <p:nvPr>
            <p:ph idx="101" type="title" hasCustomPrompt="1"/>
          </p:nvPr>
        </p:nvSpPr>
        <p:spPr>
          <a:xfrm>
            <a:off x="548640" y="384048"/>
            <a:ext cx="11064240" cy="777240"/>
          </a:xfrm>
          <a:prstGeom prst="rect">
            <a:avLst/>
          </a:prstGeom>
          <a:noFill/>
          <a:ln/>
        </p:spPr>
        <p:txBody>
          <a:bodyPr wrap="square" rtlCol="0"/>
          <a:lstStyle>
            <a:lvl1pPr algn="l" indent="0" marL="0">
              <a:buNone/>
              <a:defRPr lang="en-US" sz="3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FFFFFF"/>
                </a:solidFill>
                <a:latin typeface="Cambria" pitchFamily="34" charset="0"/>
                <a:ea typeface="Cambria" pitchFamily="34" charset="-122"/>
                <a:cs typeface="Cambria" pitchFamily="34" charset="-120"/>
              </a:rPr>
              <a:t>Claude Code Fundamentals &amp; Setup</a:t>
            </a:r>
            <a:endParaRPr lang="en-US" sz="3200" dirty="0"/>
          </a:p>
        </p:txBody>
      </p:sp>
      <p:sp>
        <p:nvSpPr>
          <p:cNvPr id="3" name="Shape 1"/>
          <p:cNvSpPr/>
          <p:nvPr/>
        </p:nvSpPr>
        <p:spPr>
          <a:xfrm>
            <a:off x="548640" y="1737360"/>
            <a:ext cx="457200" cy="457200"/>
          </a:xfrm>
          <a:prstGeom prst="ellipse">
            <a:avLst/>
          </a:prstGeom>
          <a:solidFill>
            <a:srgbClr val="C15F3C"/>
          </a:solidFill>
          <a:ln/>
        </p:spPr>
      </p:sp>
      <p:sp>
        <p:nvSpPr>
          <p:cNvPr id="4" name="Text 2"/>
          <p:cNvSpPr txBox="1"/>
          <p:nvPr/>
        </p:nvSpPr>
        <p:spPr>
          <a:xfrm>
            <a:off x="54864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234440" y="1682496"/>
            <a:ext cx="10104120" cy="868680"/>
          </a:xfrm>
          <a:prstGeom prst="rect">
            <a:avLst/>
          </a:prstGeom>
          <a:noFill/>
          <a:ln/>
        </p:spPr>
        <p:txBody>
          <a:bodyPr wrap="square" lIns="0" tIns="0" rIns="0" bIns="0" rtlCol="0" anchor="t"/>
          <a:lstStyle/>
          <a:p>
            <a:pPr indent="0" marL="0">
              <a:lnSpc>
                <a:spcPct val="112000"/>
              </a:lnSpc>
              <a:buNone/>
            </a:pPr>
            <a:r>
              <a:rPr lang="en-US" sz="1500" b="1" dirty="0">
                <a:solidFill>
                  <a:srgbClr val="FFFFFF"/>
                </a:solidFill>
                <a:latin typeface="Calibri" pitchFamily="34" charset="0"/>
                <a:ea typeface="Calibri" pitchFamily="34" charset="-122"/>
                <a:cs typeface="Calibri" pitchFamily="34" charset="-120"/>
              </a:rPr>
              <a:t>What Claude Code is</a:t>
            </a:r>
            <a:endParaRPr lang="en-US" sz="1500" dirty="0"/>
          </a:p>
          <a:p>
            <a:pPr indent="0" marL="0">
              <a:lnSpc>
                <a:spcPct val="112000"/>
              </a:lnSpc>
              <a:buNone/>
            </a:pPr>
            <a:r>
              <a:rPr lang="en-US" sz="1250" dirty="0">
                <a:solidFill>
                  <a:srgbClr val="F3EFE8"/>
                </a:solidFill>
                <a:latin typeface="Calibri" pitchFamily="34" charset="0"/>
                <a:ea typeface="Calibri" pitchFamily="34" charset="-122"/>
                <a:cs typeface="Calibri" pitchFamily="34" charset="-120"/>
              </a:rPr>
              <a:t>the agent loop, traced on a real BusyBox applet</a:t>
            </a:r>
            <a:endParaRPr lang="en-US" sz="1500" dirty="0"/>
          </a:p>
        </p:txBody>
      </p:sp>
      <p:sp>
        <p:nvSpPr>
          <p:cNvPr id="6" name="Shape 4"/>
          <p:cNvSpPr/>
          <p:nvPr/>
        </p:nvSpPr>
        <p:spPr>
          <a:xfrm>
            <a:off x="548640" y="2606040"/>
            <a:ext cx="457200" cy="457200"/>
          </a:xfrm>
          <a:prstGeom prst="ellipse">
            <a:avLst/>
          </a:prstGeom>
          <a:solidFill>
            <a:srgbClr val="C15F3C"/>
          </a:solidFill>
          <a:ln/>
        </p:spPr>
      </p:sp>
      <p:sp>
        <p:nvSpPr>
          <p:cNvPr id="7" name="Text 5"/>
          <p:cNvSpPr txBox="1"/>
          <p:nvPr/>
        </p:nvSpPr>
        <p:spPr>
          <a:xfrm>
            <a:off x="548640" y="2606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txBox="1"/>
          <p:nvPr/>
        </p:nvSpPr>
        <p:spPr>
          <a:xfrm>
            <a:off x="1234440" y="2551176"/>
            <a:ext cx="10104120" cy="868680"/>
          </a:xfrm>
          <a:prstGeom prst="rect">
            <a:avLst/>
          </a:prstGeom>
          <a:noFill/>
          <a:ln/>
        </p:spPr>
        <p:txBody>
          <a:bodyPr wrap="square" lIns="0" tIns="0" rIns="0" bIns="0" rtlCol="0" anchor="t"/>
          <a:lstStyle/>
          <a:p>
            <a:pPr indent="0" marL="0">
              <a:lnSpc>
                <a:spcPct val="112000"/>
              </a:lnSpc>
              <a:buNone/>
            </a:pPr>
            <a:r>
              <a:rPr lang="en-US" sz="1500" b="1" dirty="0">
                <a:solidFill>
                  <a:srgbClr val="FFFFFF"/>
                </a:solidFill>
                <a:latin typeface="Calibri" pitchFamily="34" charset="0"/>
                <a:ea typeface="Calibri" pitchFamily="34" charset="-122"/>
                <a:cs typeface="Calibri" pitchFamily="34" charset="-120"/>
              </a:rPr>
              <a:t>Install, sign in, and connect VS Code</a:t>
            </a:r>
            <a:endParaRPr lang="en-US" sz="1500" dirty="0"/>
          </a:p>
          <a:p>
            <a:pPr indent="0" marL="0">
              <a:lnSpc>
                <a:spcPct val="112000"/>
              </a:lnSpc>
              <a:buNone/>
            </a:pPr>
            <a:r>
              <a:rPr lang="en-US" sz="1250" dirty="0">
                <a:solidFill>
                  <a:srgbClr val="F3EFE8"/>
                </a:solidFill>
                <a:latin typeface="Calibri" pitchFamily="34" charset="0"/>
                <a:ea typeface="Calibri" pitchFamily="34" charset="-122"/>
                <a:cs typeface="Calibri" pitchFamily="34" charset="-120"/>
              </a:rPr>
              <a:t>CLI first, extension second</a:t>
            </a:r>
            <a:endParaRPr lang="en-US" sz="1500" dirty="0"/>
          </a:p>
        </p:txBody>
      </p:sp>
      <p:sp>
        <p:nvSpPr>
          <p:cNvPr id="9" name="Shape 7"/>
          <p:cNvSpPr/>
          <p:nvPr/>
        </p:nvSpPr>
        <p:spPr>
          <a:xfrm>
            <a:off x="548640" y="3474720"/>
            <a:ext cx="457200" cy="457200"/>
          </a:xfrm>
          <a:prstGeom prst="ellipse">
            <a:avLst/>
          </a:prstGeom>
          <a:solidFill>
            <a:srgbClr val="C15F3C"/>
          </a:solidFill>
          <a:ln/>
        </p:spPr>
      </p:sp>
      <p:sp>
        <p:nvSpPr>
          <p:cNvPr id="10" name="Text 8"/>
          <p:cNvSpPr txBox="1"/>
          <p:nvPr/>
        </p:nvSpPr>
        <p:spPr>
          <a:xfrm>
            <a:off x="548640" y="3474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txBox="1"/>
          <p:nvPr/>
        </p:nvSpPr>
        <p:spPr>
          <a:xfrm>
            <a:off x="1234440" y="3419856"/>
            <a:ext cx="10104120" cy="868680"/>
          </a:xfrm>
          <a:prstGeom prst="rect">
            <a:avLst/>
          </a:prstGeom>
          <a:noFill/>
          <a:ln/>
        </p:spPr>
        <p:txBody>
          <a:bodyPr wrap="square" lIns="0" tIns="0" rIns="0" bIns="0" rtlCol="0" anchor="t"/>
          <a:lstStyle/>
          <a:p>
            <a:pPr indent="0" marL="0">
              <a:lnSpc>
                <a:spcPct val="112000"/>
              </a:lnSpc>
              <a:buNone/>
            </a:pPr>
            <a:r>
              <a:rPr lang="en-US" sz="1500" b="1" dirty="0">
                <a:solidFill>
                  <a:srgbClr val="FFFFFF"/>
                </a:solidFill>
                <a:latin typeface="Calibri" pitchFamily="34" charset="0"/>
                <a:ea typeface="Calibri" pitchFamily="34" charset="-122"/>
                <a:cs typeface="Calibri" pitchFamily="34" charset="-120"/>
              </a:rPr>
              <a:t>Permission modes</a:t>
            </a:r>
            <a:endParaRPr lang="en-US" sz="1500" dirty="0"/>
          </a:p>
          <a:p>
            <a:pPr indent="0" marL="0">
              <a:lnSpc>
                <a:spcPct val="112000"/>
              </a:lnSpc>
              <a:buNone/>
            </a:pPr>
            <a:r>
              <a:rPr lang="en-US" sz="1250" dirty="0">
                <a:solidFill>
                  <a:srgbClr val="F3EFE8"/>
                </a:solidFill>
                <a:latin typeface="Calibri" pitchFamily="34" charset="0"/>
                <a:ea typeface="Calibri" pitchFamily="34" charset="-122"/>
                <a:cs typeface="Calibri" pitchFamily="34" charset="-120"/>
              </a:rPr>
              <a:t>controlling what runs without asking</a:t>
            </a:r>
            <a:endParaRPr lang="en-US" sz="1500" dirty="0"/>
          </a:p>
        </p:txBody>
      </p:sp>
      <p:sp>
        <p:nvSpPr>
          <p:cNvPr id="12" name="Shape 10"/>
          <p:cNvSpPr/>
          <p:nvPr/>
        </p:nvSpPr>
        <p:spPr>
          <a:xfrm>
            <a:off x="548640" y="4343400"/>
            <a:ext cx="457200" cy="457200"/>
          </a:xfrm>
          <a:prstGeom prst="ellipse">
            <a:avLst/>
          </a:prstGeom>
          <a:solidFill>
            <a:srgbClr val="C15F3C"/>
          </a:solidFill>
          <a:ln/>
        </p:spPr>
      </p:sp>
      <p:sp>
        <p:nvSpPr>
          <p:cNvPr id="13" name="Text 11"/>
          <p:cNvSpPr txBox="1"/>
          <p:nvPr/>
        </p:nvSpPr>
        <p:spPr>
          <a:xfrm>
            <a:off x="548640" y="4343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txBox="1"/>
          <p:nvPr/>
        </p:nvSpPr>
        <p:spPr>
          <a:xfrm>
            <a:off x="1234440" y="4288536"/>
            <a:ext cx="10104120" cy="868680"/>
          </a:xfrm>
          <a:prstGeom prst="rect">
            <a:avLst/>
          </a:prstGeom>
          <a:noFill/>
          <a:ln/>
        </p:spPr>
        <p:txBody>
          <a:bodyPr wrap="square" lIns="0" tIns="0" rIns="0" bIns="0" rtlCol="0" anchor="t"/>
          <a:lstStyle/>
          <a:p>
            <a:pPr indent="0" marL="0">
              <a:lnSpc>
                <a:spcPct val="112000"/>
              </a:lnSpc>
              <a:buNone/>
            </a:pPr>
            <a:r>
              <a:rPr lang="en-US" sz="1500" b="1" dirty="0">
                <a:solidFill>
                  <a:srgbClr val="FFFFFF"/>
                </a:solidFill>
                <a:latin typeface="Calibri" pitchFamily="34" charset="0"/>
                <a:ea typeface="Calibri" pitchFamily="34" charset="-122"/>
                <a:cs typeface="Calibri" pitchFamily="34" charset="-120"/>
              </a:rPr>
              <a:t>CLAUDE.md and settings.json</a:t>
            </a:r>
            <a:endParaRPr lang="en-US" sz="1500" dirty="0"/>
          </a:p>
          <a:p>
            <a:pPr indent="0" marL="0">
              <a:lnSpc>
                <a:spcPct val="112000"/>
              </a:lnSpc>
              <a:buNone/>
            </a:pPr>
            <a:r>
              <a:rPr lang="en-US" sz="1250" dirty="0">
                <a:solidFill>
                  <a:srgbClr val="F3EFE8"/>
                </a:solidFill>
                <a:latin typeface="Calibri" pitchFamily="34" charset="0"/>
                <a:ea typeface="Calibri" pitchFamily="34" charset="-122"/>
                <a:cs typeface="Calibri" pitchFamily="34" charset="-120"/>
              </a:rPr>
              <a:t>what goes where, and which one enforces</a:t>
            </a:r>
            <a:endParaRPr lang="en-US" sz="1500" dirty="0"/>
          </a:p>
        </p:txBody>
      </p:sp>
      <p:sp>
        <p:nvSpPr>
          <p:cNvPr id="15" name="Shape 13"/>
          <p:cNvSpPr/>
          <p:nvPr/>
        </p:nvSpPr>
        <p:spPr>
          <a:xfrm>
            <a:off x="548640" y="5212080"/>
            <a:ext cx="457200" cy="457200"/>
          </a:xfrm>
          <a:prstGeom prst="ellipse">
            <a:avLst/>
          </a:prstGeom>
          <a:solidFill>
            <a:srgbClr val="C15F3C"/>
          </a:solidFill>
          <a:ln/>
        </p:spPr>
      </p:sp>
      <p:sp>
        <p:nvSpPr>
          <p:cNvPr id="16" name="Text 14"/>
          <p:cNvSpPr txBox="1"/>
          <p:nvPr/>
        </p:nvSpPr>
        <p:spPr>
          <a:xfrm>
            <a:off x="548640" y="5212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7" name="Text 15"/>
          <p:cNvSpPr txBox="1"/>
          <p:nvPr/>
        </p:nvSpPr>
        <p:spPr>
          <a:xfrm>
            <a:off x="1234440" y="5157216"/>
            <a:ext cx="10104120" cy="868680"/>
          </a:xfrm>
          <a:prstGeom prst="rect">
            <a:avLst/>
          </a:prstGeom>
          <a:noFill/>
          <a:ln/>
        </p:spPr>
        <p:txBody>
          <a:bodyPr wrap="square" lIns="0" tIns="0" rIns="0" bIns="0" rtlCol="0" anchor="t"/>
          <a:lstStyle/>
          <a:p>
            <a:pPr indent="0" marL="0">
              <a:lnSpc>
                <a:spcPct val="112000"/>
              </a:lnSpc>
              <a:buNone/>
            </a:pPr>
            <a:r>
              <a:rPr lang="en-US" sz="1500" b="1" dirty="0">
                <a:solidFill>
                  <a:srgbClr val="FFFFFF"/>
                </a:solidFill>
                <a:latin typeface="Calibri" pitchFamily="34" charset="0"/>
                <a:ea typeface="Calibri" pitchFamily="34" charset="-122"/>
                <a:cs typeface="Calibri" pitchFamily="34" charset="-120"/>
              </a:rPr>
              <a:t>Prompt anatomy, then the Module 1 lab</a:t>
            </a:r>
            <a:endParaRPr lang="en-US" sz="1500" dirty="0"/>
          </a:p>
          <a:p>
            <a:pPr indent="0" marL="0">
              <a:lnSpc>
                <a:spcPct val="112000"/>
              </a:lnSpc>
              <a:buNone/>
            </a:pPr>
            <a:r>
              <a:rPr lang="en-US" sz="1250" dirty="0">
                <a:solidFill>
                  <a:srgbClr val="F3EFE8"/>
                </a:solidFill>
                <a:latin typeface="Calibri" pitchFamily="34" charset="0"/>
                <a:ea typeface="Calibri" pitchFamily="34" charset="-122"/>
                <a:cs typeface="Calibri" pitchFamily="34" charset="-120"/>
              </a:rPr>
              <a:t>seven prompts on BusyBox 1.35.0</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The Lab Environment: BusyBox, GStreamer, Two Toolchains</a:t>
            </a:r>
            <a:endParaRPr lang="en-US" sz="3200" dirty="0"/>
          </a:p>
        </p:txBody>
      </p:sp>
      <p:sp>
        <p:nvSpPr>
          <p:cNvPr id="3" name="Text 1"/>
          <p:cNvSpPr txBox="1"/>
          <p:nvPr/>
        </p:nvSpPr>
        <p:spPr>
          <a:xfrm>
            <a:off x="548640" y="1188720"/>
            <a:ext cx="10789920" cy="5943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Every demo and lab in Day 1 runs on the same real sources, so what you see on the slide is what you type. Setup is Part A of the lab guide.</a:t>
            </a:r>
            <a:endParaRPr lang="en-US" sz="1500" dirty="0"/>
          </a:p>
        </p:txBody>
      </p:sp>
      <p:sp>
        <p:nvSpPr>
          <p:cNvPr id="4" name="Shape 2"/>
          <p:cNvSpPr/>
          <p:nvPr/>
        </p:nvSpPr>
        <p:spPr>
          <a:xfrm>
            <a:off x="548640" y="1828800"/>
            <a:ext cx="10789920" cy="1828800"/>
          </a:xfrm>
          <a:prstGeom prst="roundRect">
            <a:avLst>
              <a:gd name="adj" fmla="val 4000"/>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993392"/>
            <a:ext cx="10241280" cy="301752"/>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git clone https://git.busybox.net/busybox ~/work/busybox &amp;&amp; cd ~/work/busybox</a:t>
            </a:r>
            <a:endParaRPr lang="en-US" sz="1200" dirty="0"/>
          </a:p>
        </p:txBody>
      </p:sp>
      <p:sp>
        <p:nvSpPr>
          <p:cNvPr id="6" name="Text 4"/>
          <p:cNvSpPr txBox="1"/>
          <p:nvPr/>
        </p:nvSpPr>
        <p:spPr>
          <a:xfrm>
            <a:off x="822960" y="2295144"/>
            <a:ext cx="10241280" cy="301752"/>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git checkout 1_35_0 &amp;&amp; git checkout -b lab &amp;&amp; make defconfig</a:t>
            </a:r>
            <a:endParaRPr lang="en-US" sz="1200" dirty="0"/>
          </a:p>
        </p:txBody>
      </p:sp>
      <p:sp>
        <p:nvSpPr>
          <p:cNvPr id="7" name="Text 5"/>
          <p:cNvSpPr txBox="1"/>
          <p:nvPr/>
        </p:nvSpPr>
        <p:spPr>
          <a:xfrm>
            <a:off x="822960" y="2596896"/>
            <a:ext cx="10241280" cy="301752"/>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git clone --depth 1 --branch 1.24.9 https://gitlab.freedesktop.org/gstreamer/gstreamer.git</a:t>
            </a:r>
            <a:endParaRPr lang="en-US" sz="1200" dirty="0"/>
          </a:p>
        </p:txBody>
      </p:sp>
      <p:sp>
        <p:nvSpPr>
          <p:cNvPr id="8" name="Text 6"/>
          <p:cNvSpPr txBox="1"/>
          <p:nvPr/>
        </p:nvSpPr>
        <p:spPr>
          <a:xfrm>
            <a:off x="822960" y="2898648"/>
            <a:ext cx="10241280" cy="301752"/>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  ~/work/gstreamer</a:t>
            </a:r>
            <a:endParaRPr lang="en-US" sz="1200" dirty="0"/>
          </a:p>
        </p:txBody>
      </p:sp>
      <p:sp>
        <p:nvSpPr>
          <p:cNvPr id="9" name="Text 7"/>
          <p:cNvSpPr txBox="1"/>
          <p:nvPr/>
        </p:nvSpPr>
        <p:spPr>
          <a:xfrm>
            <a:off x="822960" y="3200400"/>
            <a:ext cx="10241280" cy="301752"/>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export CROSS=arm-linux-gnueabihf-     # cross prefix used by every build step</a:t>
            </a:r>
            <a:endParaRPr lang="en-US" sz="1200" dirty="0"/>
          </a:p>
        </p:txBody>
      </p:sp>
      <p:sp>
        <p:nvSpPr>
          <p:cNvPr id="10" name="Shape 8"/>
          <p:cNvSpPr/>
          <p:nvPr/>
        </p:nvSpPr>
        <p:spPr>
          <a:xfrm>
            <a:off x="548640" y="3840480"/>
            <a:ext cx="384048" cy="384048"/>
          </a:xfrm>
          <a:prstGeom prst="ellipse">
            <a:avLst/>
          </a:prstGeom>
          <a:solidFill>
            <a:srgbClr val="4F6F64"/>
          </a:solidFill>
          <a:ln/>
        </p:spPr>
      </p:sp>
      <p:sp>
        <p:nvSpPr>
          <p:cNvPr id="11" name="Text 9"/>
          <p:cNvSpPr txBox="1"/>
          <p:nvPr/>
        </p:nvSpPr>
        <p:spPr>
          <a:xfrm>
            <a:off x="548640" y="38404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2" name="Text 10"/>
          <p:cNvSpPr txBox="1"/>
          <p:nvPr/>
        </p:nvSpPr>
        <p:spPr>
          <a:xfrm>
            <a:off x="1161288" y="3785616"/>
            <a:ext cx="10177272" cy="676656"/>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BusyBox 1.35.0: C, Kconfig, one multi-call binary</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applets in coreutils/, shared helpers in libbb/, tests in testsuite/; used in every module.</a:t>
            </a:r>
            <a:endParaRPr lang="en-US" sz="1500" dirty="0"/>
          </a:p>
        </p:txBody>
      </p:sp>
      <p:sp>
        <p:nvSpPr>
          <p:cNvPr id="13" name="Shape 11"/>
          <p:cNvSpPr/>
          <p:nvPr/>
        </p:nvSpPr>
        <p:spPr>
          <a:xfrm>
            <a:off x="548640" y="4517136"/>
            <a:ext cx="384048" cy="384048"/>
          </a:xfrm>
          <a:prstGeom prst="ellipse">
            <a:avLst/>
          </a:prstGeom>
          <a:solidFill>
            <a:srgbClr val="4F6F64"/>
          </a:solidFill>
          <a:ln/>
        </p:spPr>
      </p:sp>
      <p:sp>
        <p:nvSpPr>
          <p:cNvPr id="14" name="Text 12"/>
          <p:cNvSpPr txBox="1"/>
          <p:nvPr/>
        </p:nvSpPr>
        <p:spPr>
          <a:xfrm>
            <a:off x="548640" y="45171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G</a:t>
            </a:r>
            <a:endParaRPr lang="en-US" sz="1600" dirty="0"/>
          </a:p>
        </p:txBody>
      </p:sp>
      <p:sp>
        <p:nvSpPr>
          <p:cNvPr id="15" name="Text 13"/>
          <p:cNvSpPr txBox="1"/>
          <p:nvPr/>
        </p:nvSpPr>
        <p:spPr>
          <a:xfrm>
            <a:off x="1161288" y="4462272"/>
            <a:ext cx="10177272" cy="676656"/>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GStreamer: a new rot13filter element (C, meson)</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 1.24.9 source is the reference and provides the element generator tools.</a:t>
            </a:r>
            <a:endParaRPr lang="en-US" sz="1500" dirty="0"/>
          </a:p>
        </p:txBody>
      </p:sp>
      <p:sp>
        <p:nvSpPr>
          <p:cNvPr id="16" name="Shape 14"/>
          <p:cNvSpPr/>
          <p:nvPr/>
        </p:nvSpPr>
        <p:spPr>
          <a:xfrm>
            <a:off x="548640" y="5193792"/>
            <a:ext cx="384048" cy="384048"/>
          </a:xfrm>
          <a:prstGeom prst="ellipse">
            <a:avLst/>
          </a:prstGeom>
          <a:solidFill>
            <a:srgbClr val="4F6F64"/>
          </a:solidFill>
          <a:ln/>
        </p:spPr>
      </p:sp>
      <p:sp>
        <p:nvSpPr>
          <p:cNvPr id="17" name="Text 15"/>
          <p:cNvSpPr txBox="1"/>
          <p:nvPr/>
        </p:nvSpPr>
        <p:spPr>
          <a:xfrm>
            <a:off x="548640" y="51937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a:t>
            </a:r>
            <a:endParaRPr lang="en-US" sz="1600" dirty="0"/>
          </a:p>
        </p:txBody>
      </p:sp>
      <p:sp>
        <p:nvSpPr>
          <p:cNvPr id="18" name="Text 16"/>
          <p:cNvSpPr txBox="1"/>
          <p:nvPr/>
        </p:nvSpPr>
        <p:spPr>
          <a:xfrm>
            <a:off x="1161288" y="5138928"/>
            <a:ext cx="10177272" cy="676656"/>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Native gcc plus an ARM cross toolchain</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arm-linux-gnueabihf- for the build, qemu-arm to run the result on the host.</a:t>
            </a:r>
            <a:endParaRPr lang="en-US" sz="1500" dirty="0"/>
          </a:p>
        </p:txBody>
      </p:sp>
      <p:sp>
        <p:nvSpPr>
          <p:cNvPr id="19" name="Shape 17"/>
          <p:cNvSpPr/>
          <p:nvPr/>
        </p:nvSpPr>
        <p:spPr>
          <a:xfrm>
            <a:off x="548640" y="5870448"/>
            <a:ext cx="384048" cy="384048"/>
          </a:xfrm>
          <a:prstGeom prst="ellipse">
            <a:avLst/>
          </a:prstGeom>
          <a:solidFill>
            <a:srgbClr val="4F6F64"/>
          </a:solidFill>
          <a:ln/>
        </p:spPr>
      </p:sp>
      <p:sp>
        <p:nvSpPr>
          <p:cNvPr id="20" name="Text 18"/>
          <p:cNvSpPr txBox="1"/>
          <p:nvPr/>
        </p:nvSpPr>
        <p:spPr>
          <a:xfrm>
            <a:off x="548640" y="587044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a:t>
            </a:r>
            <a:endParaRPr lang="en-US" sz="1600" dirty="0"/>
          </a:p>
        </p:txBody>
      </p:sp>
      <p:sp>
        <p:nvSpPr>
          <p:cNvPr id="21" name="Text 19"/>
          <p:cNvSpPr txBox="1"/>
          <p:nvPr/>
        </p:nvSpPr>
        <p:spPr>
          <a:xfrm>
            <a:off x="1161288" y="5815584"/>
            <a:ext cx="10177272" cy="676656"/>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Shell scripts in scripts/ and Python tools in tools/</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 glue Claude writes and runs alongside the C code.</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What Claude Code Is &amp; How the Agent Loop Works</a:t>
            </a:r>
            <a:endParaRPr lang="en-US" sz="3200" dirty="0"/>
          </a:p>
        </p:txBody>
      </p:sp>
      <p:sp>
        <p:nvSpPr>
          <p:cNvPr id="3" name="Text 1"/>
          <p:cNvSpPr txBox="1"/>
          <p:nvPr/>
        </p:nvSpPr>
        <p:spPr>
          <a:xfrm>
            <a:off x="548640" y="1188720"/>
            <a:ext cx="10789920" cy="64008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Claude Code is an agentic coding tool that reads your codebase, edits files, runs commands, and integrates with your development tools. It works in a loop, not a single reply.</a:t>
            </a:r>
            <a:endParaRPr lang="en-US" sz="1500" dirty="0"/>
          </a:p>
        </p:txBody>
      </p:sp>
      <p:sp>
        <p:nvSpPr>
          <p:cNvPr id="4" name="Shape 2"/>
          <p:cNvSpPr/>
          <p:nvPr/>
        </p:nvSpPr>
        <p:spPr>
          <a:xfrm>
            <a:off x="548640" y="1965960"/>
            <a:ext cx="2468880" cy="1005840"/>
          </a:xfrm>
          <a:prstGeom prst="roundRect">
            <a:avLst>
              <a:gd name="adj" fmla="val 7273"/>
            </a:avLst>
          </a:prstGeom>
          <a:solidFill>
            <a:srgbClr val="F3EFE8"/>
          </a:solidFill>
          <a:ln w="12700">
            <a:solidFill>
              <a:srgbClr val="7A736A"/>
            </a:solidFill>
            <a:prstDash val="solid"/>
          </a:ln>
          <a:effectLst>
            <a:outerShdw sx="100000" sy="100000" kx="0" ky="0" algn="bl" rotWithShape="0" blurRad="76200" dist="25400" dir="5400000">
              <a:srgbClr val="000000">
                <a:alpha val="18000"/>
              </a:srgbClr>
            </a:outerShdw>
          </a:effectLst>
        </p:spPr>
      </p:sp>
      <p:sp>
        <p:nvSpPr>
          <p:cNvPr id="5" name="Text 3"/>
          <p:cNvSpPr txBox="1"/>
          <p:nvPr/>
        </p:nvSpPr>
        <p:spPr>
          <a:xfrm>
            <a:off x="621792" y="2057400"/>
            <a:ext cx="2322576" cy="822960"/>
          </a:xfrm>
          <a:prstGeom prst="rect">
            <a:avLst/>
          </a:prstGeom>
          <a:noFill/>
          <a:ln/>
        </p:spPr>
        <p:txBody>
          <a:bodyPr wrap="square" lIns="0" tIns="0" rIns="0" bIns="0" rtlCol="0" anchor="ctr"/>
          <a:lstStyle/>
          <a:p>
            <a:pPr algn="ctr" indent="0" marL="0">
              <a:buNone/>
            </a:pPr>
            <a:r>
              <a:rPr lang="en-US" sz="1350" b="1" dirty="0">
                <a:solidFill>
                  <a:srgbClr val="262320"/>
                </a:solidFill>
                <a:latin typeface="Calibri" pitchFamily="34" charset="0"/>
                <a:ea typeface="Calibri" pitchFamily="34" charset="-122"/>
                <a:cs typeface="Calibri" pitchFamily="34" charset="-120"/>
              </a:rPr>
              <a:t>Context</a:t>
            </a:r>
            <a:endParaRPr lang="en-US" sz="1350" dirty="0"/>
          </a:p>
          <a:p>
            <a:pPr algn="ctr" indent="0" marL="0">
              <a:buNone/>
            </a:pPr>
            <a:r>
              <a:rPr lang="en-US" sz="1050" dirty="0">
                <a:solidFill>
                  <a:srgbClr val="7A736A"/>
                </a:solidFill>
                <a:latin typeface="Calibri" pitchFamily="34" charset="0"/>
                <a:ea typeface="Calibri" pitchFamily="34" charset="-122"/>
                <a:cs typeface="Calibri" pitchFamily="34" charset="-120"/>
              </a:rPr>
              <a:t>your request plus what it has read so far</a:t>
            </a:r>
            <a:endParaRPr lang="en-US" sz="1350" dirty="0"/>
          </a:p>
        </p:txBody>
      </p:sp>
      <p:sp>
        <p:nvSpPr>
          <p:cNvPr id="6" name="Shape 4"/>
          <p:cNvSpPr/>
          <p:nvPr/>
        </p:nvSpPr>
        <p:spPr>
          <a:xfrm>
            <a:off x="3017520" y="2468880"/>
            <a:ext cx="365760" cy="0"/>
          </a:xfrm>
          <a:prstGeom prst="line">
            <a:avLst/>
          </a:prstGeom>
          <a:noFill/>
          <a:ln w="22225">
            <a:solidFill>
              <a:srgbClr val="7A736A"/>
            </a:solidFill>
            <a:prstDash val="solid"/>
            <a:tailEnd type="triangle"/>
          </a:ln>
        </p:spPr>
      </p:sp>
      <p:sp>
        <p:nvSpPr>
          <p:cNvPr id="7" name="Shape 5"/>
          <p:cNvSpPr/>
          <p:nvPr/>
        </p:nvSpPr>
        <p:spPr>
          <a:xfrm>
            <a:off x="3383280" y="1965960"/>
            <a:ext cx="2468880" cy="1005840"/>
          </a:xfrm>
          <a:prstGeom prst="roundRect">
            <a:avLst>
              <a:gd name="adj" fmla="val 7273"/>
            </a:avLst>
          </a:prstGeom>
          <a:solidFill>
            <a:srgbClr val="4F6F64"/>
          </a:solidFill>
          <a:ln w="12700">
            <a:solidFill>
              <a:srgbClr val="7A736A"/>
            </a:solidFill>
            <a:prstDash val="solid"/>
          </a:ln>
          <a:effectLst>
            <a:outerShdw sx="100000" sy="100000" kx="0" ky="0" algn="bl" rotWithShape="0" blurRad="76200" dist="25400" dir="5400000">
              <a:srgbClr val="000000">
                <a:alpha val="18000"/>
              </a:srgbClr>
            </a:outerShdw>
          </a:effectLst>
        </p:spPr>
      </p:sp>
      <p:sp>
        <p:nvSpPr>
          <p:cNvPr id="8" name="Text 6"/>
          <p:cNvSpPr txBox="1"/>
          <p:nvPr/>
        </p:nvSpPr>
        <p:spPr>
          <a:xfrm>
            <a:off x="3456432" y="2057400"/>
            <a:ext cx="232257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Decide</a:t>
            </a:r>
            <a:endParaRPr lang="en-US" sz="1350" dirty="0"/>
          </a:p>
          <a:p>
            <a:pPr algn="ctr" indent="0" marL="0">
              <a:buNone/>
            </a:pPr>
            <a:r>
              <a:rPr lang="en-US" sz="1050" dirty="0">
                <a:solidFill>
                  <a:srgbClr val="F3EFE8"/>
                </a:solidFill>
                <a:latin typeface="Calibri" pitchFamily="34" charset="0"/>
                <a:ea typeface="Calibri" pitchFamily="34" charset="-122"/>
                <a:cs typeface="Calibri" pitchFamily="34" charset="-120"/>
              </a:rPr>
              <a:t>the model picks the next tool and inputs</a:t>
            </a:r>
            <a:endParaRPr lang="en-US" sz="1350" dirty="0"/>
          </a:p>
        </p:txBody>
      </p:sp>
      <p:sp>
        <p:nvSpPr>
          <p:cNvPr id="9" name="Shape 7"/>
          <p:cNvSpPr/>
          <p:nvPr/>
        </p:nvSpPr>
        <p:spPr>
          <a:xfrm>
            <a:off x="5852160" y="2468880"/>
            <a:ext cx="365760" cy="0"/>
          </a:xfrm>
          <a:prstGeom prst="line">
            <a:avLst/>
          </a:prstGeom>
          <a:noFill/>
          <a:ln w="22225">
            <a:solidFill>
              <a:srgbClr val="7A736A"/>
            </a:solidFill>
            <a:prstDash val="solid"/>
            <a:tailEnd type="triangle"/>
          </a:ln>
        </p:spPr>
      </p:sp>
      <p:sp>
        <p:nvSpPr>
          <p:cNvPr id="10" name="Shape 8"/>
          <p:cNvSpPr/>
          <p:nvPr/>
        </p:nvSpPr>
        <p:spPr>
          <a:xfrm>
            <a:off x="6217920" y="1965960"/>
            <a:ext cx="2468880" cy="1005840"/>
          </a:xfrm>
          <a:prstGeom prst="roundRect">
            <a:avLst>
              <a:gd name="adj" fmla="val 7273"/>
            </a:avLst>
          </a:prstGeom>
          <a:solidFill>
            <a:srgbClr val="C15F3C"/>
          </a:solidFill>
          <a:ln w="12700">
            <a:solidFill>
              <a:srgbClr val="7A736A"/>
            </a:solidFill>
            <a:prstDash val="solid"/>
          </a:ln>
          <a:effectLst>
            <a:outerShdw sx="100000" sy="100000" kx="0" ky="0" algn="bl" rotWithShape="0" blurRad="76200" dist="25400" dir="5400000">
              <a:srgbClr val="000000">
                <a:alpha val="18000"/>
              </a:srgbClr>
            </a:outerShdw>
          </a:effectLst>
        </p:spPr>
      </p:sp>
      <p:sp>
        <p:nvSpPr>
          <p:cNvPr id="11" name="Text 9"/>
          <p:cNvSpPr txBox="1"/>
          <p:nvPr/>
        </p:nvSpPr>
        <p:spPr>
          <a:xfrm>
            <a:off x="6291072" y="2057400"/>
            <a:ext cx="232257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Act</a:t>
            </a:r>
            <a:endParaRPr lang="en-US" sz="1350" dirty="0"/>
          </a:p>
          <a:p>
            <a:pPr algn="ctr" indent="0" marL="0">
              <a:buNone/>
            </a:pPr>
            <a:r>
              <a:rPr lang="en-US" sz="1050" dirty="0">
                <a:solidFill>
                  <a:srgbClr val="F3EFE8"/>
                </a:solidFill>
                <a:latin typeface="Calibri" pitchFamily="34" charset="0"/>
                <a:ea typeface="Calibri" pitchFamily="34" charset="-122"/>
                <a:cs typeface="Calibri" pitchFamily="34" charset="-120"/>
              </a:rPr>
              <a:t>a tool call: Read, Edit, Write, Bash</a:t>
            </a:r>
            <a:endParaRPr lang="en-US" sz="1350" dirty="0"/>
          </a:p>
        </p:txBody>
      </p:sp>
      <p:sp>
        <p:nvSpPr>
          <p:cNvPr id="12" name="Shape 10"/>
          <p:cNvSpPr/>
          <p:nvPr/>
        </p:nvSpPr>
        <p:spPr>
          <a:xfrm>
            <a:off x="8686800" y="2468880"/>
            <a:ext cx="365760" cy="0"/>
          </a:xfrm>
          <a:prstGeom prst="line">
            <a:avLst/>
          </a:prstGeom>
          <a:noFill/>
          <a:ln w="22225">
            <a:solidFill>
              <a:srgbClr val="7A736A"/>
            </a:solidFill>
            <a:prstDash val="solid"/>
            <a:tailEnd type="triangle"/>
          </a:ln>
        </p:spPr>
      </p:sp>
      <p:sp>
        <p:nvSpPr>
          <p:cNvPr id="13" name="Shape 11"/>
          <p:cNvSpPr/>
          <p:nvPr/>
        </p:nvSpPr>
        <p:spPr>
          <a:xfrm>
            <a:off x="9052560" y="1965960"/>
            <a:ext cx="2468880" cy="1005840"/>
          </a:xfrm>
          <a:prstGeom prst="roundRect">
            <a:avLst>
              <a:gd name="adj" fmla="val 7273"/>
            </a:avLst>
          </a:prstGeom>
          <a:solidFill>
            <a:srgbClr val="8A6D3F"/>
          </a:solidFill>
          <a:ln w="12700">
            <a:solidFill>
              <a:srgbClr val="7A736A"/>
            </a:solidFill>
            <a:prstDash val="solid"/>
          </a:ln>
          <a:effectLst>
            <a:outerShdw sx="100000" sy="100000" kx="0" ky="0" algn="bl" rotWithShape="0" blurRad="76200" dist="25400" dir="5400000">
              <a:srgbClr val="000000">
                <a:alpha val="18000"/>
              </a:srgbClr>
            </a:outerShdw>
          </a:effectLst>
        </p:spPr>
      </p:sp>
      <p:sp>
        <p:nvSpPr>
          <p:cNvPr id="14" name="Text 12"/>
          <p:cNvSpPr txBox="1"/>
          <p:nvPr/>
        </p:nvSpPr>
        <p:spPr>
          <a:xfrm>
            <a:off x="9125712" y="2057400"/>
            <a:ext cx="232257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Verify</a:t>
            </a:r>
            <a:endParaRPr lang="en-US" sz="1350" dirty="0"/>
          </a:p>
          <a:p>
            <a:pPr algn="ctr" indent="0" marL="0">
              <a:buNone/>
            </a:pPr>
            <a:r>
              <a:rPr lang="en-US" sz="1050" dirty="0">
                <a:solidFill>
                  <a:srgbClr val="F3EFE8"/>
                </a:solidFill>
                <a:latin typeface="Calibri" pitchFamily="34" charset="0"/>
                <a:ea typeface="Calibri" pitchFamily="34" charset="-122"/>
                <a:cs typeface="Calibri" pitchFamily="34" charset="-120"/>
              </a:rPr>
              <a:t>check the result, then loop or stop</a:t>
            </a:r>
            <a:endParaRPr lang="en-US" sz="1350" dirty="0"/>
          </a:p>
        </p:txBody>
      </p:sp>
      <p:sp>
        <p:nvSpPr>
          <p:cNvPr id="15" name="Shape 13"/>
          <p:cNvSpPr/>
          <p:nvPr/>
        </p:nvSpPr>
        <p:spPr>
          <a:xfrm>
            <a:off x="548640" y="3246120"/>
            <a:ext cx="457200" cy="457200"/>
          </a:xfrm>
          <a:prstGeom prst="ellipse">
            <a:avLst/>
          </a:prstGeom>
          <a:solidFill>
            <a:srgbClr val="7A736A"/>
          </a:solidFill>
          <a:ln/>
        </p:spPr>
      </p:sp>
      <p:sp>
        <p:nvSpPr>
          <p:cNvPr id="16" name="Text 14"/>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txBox="1"/>
          <p:nvPr/>
        </p:nvSpPr>
        <p:spPr>
          <a:xfrm>
            <a:off x="1234440" y="3191256"/>
            <a:ext cx="10104120" cy="80467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One engine, many surfaces</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terminal, IDE, desktop, and browser share it, so CLAUDE.md, settings, and MCP servers work the same everywhere.</a:t>
            </a:r>
            <a:endParaRPr lang="en-US" sz="1500" dirty="0"/>
          </a:p>
        </p:txBody>
      </p:sp>
      <p:sp>
        <p:nvSpPr>
          <p:cNvPr id="18" name="Shape 16"/>
          <p:cNvSpPr/>
          <p:nvPr/>
        </p:nvSpPr>
        <p:spPr>
          <a:xfrm>
            <a:off x="548640" y="4050792"/>
            <a:ext cx="457200" cy="457200"/>
          </a:xfrm>
          <a:prstGeom prst="ellipse">
            <a:avLst/>
          </a:prstGeom>
          <a:solidFill>
            <a:srgbClr val="7A736A"/>
          </a:solidFill>
          <a:ln/>
        </p:spPr>
      </p:sp>
      <p:sp>
        <p:nvSpPr>
          <p:cNvPr id="19" name="Text 17"/>
          <p:cNvSpPr txBox="1"/>
          <p:nvPr/>
        </p:nvSpPr>
        <p:spPr>
          <a:xfrm>
            <a:off x="548640" y="40507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0" name="Text 18"/>
          <p:cNvSpPr txBox="1"/>
          <p:nvPr/>
        </p:nvSpPr>
        <p:spPr>
          <a:xfrm>
            <a:off x="1234440" y="3995928"/>
            <a:ext cx="10104120" cy="80467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Core tools: Read, Edit, Write, Bash</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Read needs no prompt; Edit, Write, and Bash prompt in Manual mode (Bash skips a built-in set of read-only commands).</a:t>
            </a:r>
            <a:endParaRPr lang="en-US" sz="1500" dirty="0"/>
          </a:p>
        </p:txBody>
      </p:sp>
      <p:sp>
        <p:nvSpPr>
          <p:cNvPr id="21" name="Shape 19"/>
          <p:cNvSpPr/>
          <p:nvPr/>
        </p:nvSpPr>
        <p:spPr>
          <a:xfrm>
            <a:off x="548640" y="4855464"/>
            <a:ext cx="457200" cy="457200"/>
          </a:xfrm>
          <a:prstGeom prst="ellipse">
            <a:avLst/>
          </a:prstGeom>
          <a:solidFill>
            <a:srgbClr val="7A736A"/>
          </a:solidFill>
          <a:ln/>
        </p:spPr>
      </p:sp>
      <p:sp>
        <p:nvSpPr>
          <p:cNvPr id="22" name="Text 20"/>
          <p:cNvSpPr txBox="1"/>
          <p:nvPr/>
        </p:nvSpPr>
        <p:spPr>
          <a:xfrm>
            <a:off x="548640" y="485546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3" name="Text 21"/>
          <p:cNvSpPr txBox="1"/>
          <p:nvPr/>
        </p:nvSpPr>
        <p:spPr>
          <a:xfrm>
            <a:off x="1234440" y="4800600"/>
            <a:ext cx="10104120" cy="80467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The tools are deterministic; which tool runs next is a judgment call</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unlike a compiler, the same request in two sessions can take two different, both correct, paths.</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Worked Example: Tracing the cat Applet</a:t>
            </a:r>
            <a:endParaRPr lang="en-US" sz="3200" dirty="0"/>
          </a:p>
        </p:txBody>
      </p:sp>
      <p:sp>
        <p:nvSpPr>
          <p:cNvPr id="3" name="Text 1"/>
          <p:cNvSpPr txBox="1"/>
          <p:nvPr/>
        </p:nvSpPr>
        <p:spPr>
          <a:xfrm>
            <a:off x="548640" y="1188720"/>
            <a:ext cx="10789920" cy="5943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One lab prompt on BusyBox, no tool names in it. The goal comes from you; the loop chooses the calls. A typical sequence on Linux:</a:t>
            </a:r>
            <a:endParaRPr lang="en-US" sz="1500" dirty="0"/>
          </a:p>
        </p:txBody>
      </p:sp>
      <p:sp>
        <p:nvSpPr>
          <p:cNvPr id="4" name="Shape 2"/>
          <p:cNvSpPr/>
          <p:nvPr/>
        </p:nvSpPr>
        <p:spPr>
          <a:xfrm>
            <a:off x="548640" y="1828800"/>
            <a:ext cx="10789920" cy="1417320"/>
          </a:xfrm>
          <a:prstGeom prst="roundRect">
            <a:avLst>
              <a:gd name="adj" fmla="val 5161"/>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975104"/>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Goal: Explain how the cat applet is wired in from source to the final binary.</a:t>
            </a:r>
            <a:endParaRPr lang="en-US" sz="1200" dirty="0"/>
          </a:p>
        </p:txBody>
      </p:sp>
      <p:sp>
        <p:nvSpPr>
          <p:cNvPr id="6" name="Text 4"/>
          <p:cNvSpPr txBox="1"/>
          <p:nvPr/>
        </p:nvSpPr>
        <p:spPr>
          <a:xfrm>
            <a:off x="822960" y="2258568"/>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Context: @coreutils/cat.c</a:t>
            </a:r>
            <a:endParaRPr lang="en-US" sz="1200" dirty="0"/>
          </a:p>
        </p:txBody>
      </p:sp>
      <p:sp>
        <p:nvSpPr>
          <p:cNvPr id="7" name="Text 5"/>
          <p:cNvSpPr txBox="1"/>
          <p:nvPr/>
        </p:nvSpPr>
        <p:spPr>
          <a:xfrm>
            <a:off x="822960" y="2542032"/>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Constraints: quote exact lines; write "not found" for anything you cannot see.</a:t>
            </a:r>
            <a:endParaRPr lang="en-US" sz="1200" dirty="0"/>
          </a:p>
        </p:txBody>
      </p:sp>
      <p:sp>
        <p:nvSpPr>
          <p:cNvPr id="8" name="Text 6"/>
          <p:cNvSpPr txBox="1"/>
          <p:nvPr/>
        </p:nvSpPr>
        <p:spPr>
          <a:xfrm>
            <a:off x="822960" y="2825496"/>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Output: the //applet:, //config:, //kbuild: lines it uses, and the name of its main function.</a:t>
            </a:r>
            <a:endParaRPr lang="en-US" sz="1200" dirty="0"/>
          </a:p>
        </p:txBody>
      </p:sp>
      <p:sp>
        <p:nvSpPr>
          <p:cNvPr id="9" name="Shape 7"/>
          <p:cNvSpPr/>
          <p:nvPr/>
        </p:nvSpPr>
        <p:spPr>
          <a:xfrm>
            <a:off x="548640" y="3383280"/>
            <a:ext cx="2468880" cy="1005840"/>
          </a:xfrm>
          <a:prstGeom prst="roundRect">
            <a:avLst>
              <a:gd name="adj" fmla="val 7273"/>
            </a:avLst>
          </a:prstGeom>
          <a:solidFill>
            <a:srgbClr val="F3EFE8"/>
          </a:solidFill>
          <a:ln w="12700">
            <a:solidFill>
              <a:srgbClr val="7A736A"/>
            </a:solidFill>
            <a:prstDash val="solid"/>
          </a:ln>
          <a:effectLst>
            <a:outerShdw sx="100000" sy="100000" kx="0" ky="0" algn="bl" rotWithShape="0" blurRad="76200" dist="25400" dir="5400000">
              <a:srgbClr val="000000">
                <a:alpha val="18000"/>
              </a:srgbClr>
            </a:outerShdw>
          </a:effectLst>
        </p:spPr>
      </p:sp>
      <p:sp>
        <p:nvSpPr>
          <p:cNvPr id="10" name="Text 8"/>
          <p:cNvSpPr txBox="1"/>
          <p:nvPr/>
        </p:nvSpPr>
        <p:spPr>
          <a:xfrm>
            <a:off x="621792" y="3474720"/>
            <a:ext cx="2322576" cy="822960"/>
          </a:xfrm>
          <a:prstGeom prst="rect">
            <a:avLst/>
          </a:prstGeom>
          <a:noFill/>
          <a:ln/>
        </p:spPr>
        <p:txBody>
          <a:bodyPr wrap="square" lIns="0" tIns="0" rIns="0" bIns="0" rtlCol="0" anchor="ctr"/>
          <a:lstStyle/>
          <a:p>
            <a:pPr algn="ctr" indent="0" marL="0">
              <a:buNone/>
            </a:pPr>
            <a:r>
              <a:rPr lang="en-US" sz="1350" b="1" dirty="0">
                <a:solidFill>
                  <a:srgbClr val="262320"/>
                </a:solidFill>
                <a:latin typeface="Calibri" pitchFamily="34" charset="0"/>
                <a:ea typeface="Calibri" pitchFamily="34" charset="-122"/>
                <a:cs typeface="Calibri" pitchFamily="34" charset="-120"/>
              </a:rPr>
              <a:t>1. Read</a:t>
            </a:r>
            <a:endParaRPr lang="en-US" sz="1350" dirty="0"/>
          </a:p>
          <a:p>
            <a:pPr algn="ctr" indent="0" marL="0">
              <a:buNone/>
            </a:pPr>
            <a:r>
              <a:rPr lang="en-US" sz="1050" dirty="0">
                <a:solidFill>
                  <a:srgbClr val="7A736A"/>
                </a:solidFill>
                <a:latin typeface="Calibri" pitchFamily="34" charset="0"/>
                <a:ea typeface="Calibri" pitchFamily="34" charset="-122"/>
                <a:cs typeface="Calibri" pitchFamily="34" charset="-120"/>
              </a:rPr>
              <a:t>coreutils/cat.c, attached with @</a:t>
            </a:r>
            <a:endParaRPr lang="en-US" sz="1350" dirty="0"/>
          </a:p>
        </p:txBody>
      </p:sp>
      <p:sp>
        <p:nvSpPr>
          <p:cNvPr id="11" name="Shape 9"/>
          <p:cNvSpPr/>
          <p:nvPr/>
        </p:nvSpPr>
        <p:spPr>
          <a:xfrm>
            <a:off x="3017520" y="3886200"/>
            <a:ext cx="365760" cy="0"/>
          </a:xfrm>
          <a:prstGeom prst="line">
            <a:avLst/>
          </a:prstGeom>
          <a:noFill/>
          <a:ln w="22225">
            <a:solidFill>
              <a:srgbClr val="7A736A"/>
            </a:solidFill>
            <a:prstDash val="solid"/>
            <a:tailEnd type="triangle"/>
          </a:ln>
        </p:spPr>
      </p:sp>
      <p:sp>
        <p:nvSpPr>
          <p:cNvPr id="12" name="Shape 10"/>
          <p:cNvSpPr/>
          <p:nvPr/>
        </p:nvSpPr>
        <p:spPr>
          <a:xfrm>
            <a:off x="3383280" y="3383280"/>
            <a:ext cx="2468880" cy="1005840"/>
          </a:xfrm>
          <a:prstGeom prst="roundRect">
            <a:avLst>
              <a:gd name="adj" fmla="val 7273"/>
            </a:avLst>
          </a:prstGeom>
          <a:solidFill>
            <a:srgbClr val="4F6F64"/>
          </a:solidFill>
          <a:ln w="12700">
            <a:solidFill>
              <a:srgbClr val="7A736A"/>
            </a:solidFill>
            <a:prstDash val="solid"/>
          </a:ln>
          <a:effectLst>
            <a:outerShdw sx="100000" sy="100000" kx="0" ky="0" algn="bl" rotWithShape="0" blurRad="76200" dist="25400" dir="5400000">
              <a:srgbClr val="000000">
                <a:alpha val="18000"/>
              </a:srgbClr>
            </a:outerShdw>
          </a:effectLst>
        </p:spPr>
      </p:sp>
      <p:sp>
        <p:nvSpPr>
          <p:cNvPr id="13" name="Text 11"/>
          <p:cNvSpPr txBox="1"/>
          <p:nvPr/>
        </p:nvSpPr>
        <p:spPr>
          <a:xfrm>
            <a:off x="3456432" y="3474720"/>
            <a:ext cx="232257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 Search</a:t>
            </a:r>
            <a:endParaRPr lang="en-US" sz="1350" dirty="0"/>
          </a:p>
          <a:p>
            <a:pPr algn="ctr" indent="0" marL="0">
              <a:buNone/>
            </a:pPr>
            <a:r>
              <a:rPr lang="en-US" sz="1050" dirty="0">
                <a:solidFill>
                  <a:srgbClr val="F3EFE8"/>
                </a:solidFill>
                <a:latin typeface="Calibri" pitchFamily="34" charset="0"/>
                <a:ea typeface="Calibri" pitchFamily="34" charset="-122"/>
                <a:cs typeface="Calibri" pitchFamily="34" charset="-120"/>
              </a:rPr>
              <a:t>Bash runs grep -rn for cat_main and the applet entry</a:t>
            </a:r>
            <a:endParaRPr lang="en-US" sz="1350" dirty="0"/>
          </a:p>
        </p:txBody>
      </p:sp>
      <p:sp>
        <p:nvSpPr>
          <p:cNvPr id="14" name="Shape 12"/>
          <p:cNvSpPr/>
          <p:nvPr/>
        </p:nvSpPr>
        <p:spPr>
          <a:xfrm>
            <a:off x="5852160" y="3886200"/>
            <a:ext cx="365760" cy="0"/>
          </a:xfrm>
          <a:prstGeom prst="line">
            <a:avLst/>
          </a:prstGeom>
          <a:noFill/>
          <a:ln w="22225">
            <a:solidFill>
              <a:srgbClr val="7A736A"/>
            </a:solidFill>
            <a:prstDash val="solid"/>
            <a:tailEnd type="triangle"/>
          </a:ln>
        </p:spPr>
      </p:sp>
      <p:sp>
        <p:nvSpPr>
          <p:cNvPr id="15" name="Shape 13"/>
          <p:cNvSpPr/>
          <p:nvPr/>
        </p:nvSpPr>
        <p:spPr>
          <a:xfrm>
            <a:off x="6217920" y="3383280"/>
            <a:ext cx="2468880" cy="1005840"/>
          </a:xfrm>
          <a:prstGeom prst="roundRect">
            <a:avLst>
              <a:gd name="adj" fmla="val 7273"/>
            </a:avLst>
          </a:prstGeom>
          <a:solidFill>
            <a:srgbClr val="C15F3C"/>
          </a:solidFill>
          <a:ln w="12700">
            <a:solidFill>
              <a:srgbClr val="7A736A"/>
            </a:solidFill>
            <a:prstDash val="solid"/>
          </a:ln>
          <a:effectLst>
            <a:outerShdw sx="100000" sy="100000" kx="0" ky="0" algn="bl" rotWithShape="0" blurRad="76200" dist="25400" dir="5400000">
              <a:srgbClr val="000000">
                <a:alpha val="18000"/>
              </a:srgbClr>
            </a:outerShdw>
          </a:effectLst>
        </p:spPr>
      </p:sp>
      <p:sp>
        <p:nvSpPr>
          <p:cNvPr id="16" name="Text 14"/>
          <p:cNvSpPr txBox="1"/>
          <p:nvPr/>
        </p:nvSpPr>
        <p:spPr>
          <a:xfrm>
            <a:off x="6291072" y="3474720"/>
            <a:ext cx="232257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3. Read</a:t>
            </a:r>
            <a:endParaRPr lang="en-US" sz="1350" dirty="0"/>
          </a:p>
          <a:p>
            <a:pPr algn="ctr" indent="0" marL="0">
              <a:buNone/>
            </a:pPr>
            <a:r>
              <a:rPr lang="en-US" sz="1050" dirty="0">
                <a:solidFill>
                  <a:srgbClr val="F3EFE8"/>
                </a:solidFill>
                <a:latin typeface="Calibri" pitchFamily="34" charset="0"/>
                <a:ea typeface="Calibri" pitchFamily="34" charset="-122"/>
                <a:cs typeface="Calibri" pitchFamily="34" charset="-120"/>
              </a:rPr>
              <a:t>the matching lines in the build files</a:t>
            </a:r>
            <a:endParaRPr lang="en-US" sz="1350" dirty="0"/>
          </a:p>
        </p:txBody>
      </p:sp>
      <p:sp>
        <p:nvSpPr>
          <p:cNvPr id="17" name="Shape 15"/>
          <p:cNvSpPr/>
          <p:nvPr/>
        </p:nvSpPr>
        <p:spPr>
          <a:xfrm>
            <a:off x="8686800" y="3886200"/>
            <a:ext cx="365760" cy="0"/>
          </a:xfrm>
          <a:prstGeom prst="line">
            <a:avLst/>
          </a:prstGeom>
          <a:noFill/>
          <a:ln w="22225">
            <a:solidFill>
              <a:srgbClr val="7A736A"/>
            </a:solidFill>
            <a:prstDash val="solid"/>
            <a:tailEnd type="triangle"/>
          </a:ln>
        </p:spPr>
      </p:sp>
      <p:sp>
        <p:nvSpPr>
          <p:cNvPr id="18" name="Shape 16"/>
          <p:cNvSpPr/>
          <p:nvPr/>
        </p:nvSpPr>
        <p:spPr>
          <a:xfrm>
            <a:off x="9052560" y="3383280"/>
            <a:ext cx="2468880" cy="1005840"/>
          </a:xfrm>
          <a:prstGeom prst="roundRect">
            <a:avLst>
              <a:gd name="adj" fmla="val 7273"/>
            </a:avLst>
          </a:prstGeom>
          <a:solidFill>
            <a:srgbClr val="8A6D3F"/>
          </a:solidFill>
          <a:ln w="12700">
            <a:solidFill>
              <a:srgbClr val="7A736A"/>
            </a:solidFill>
            <a:prstDash val="solid"/>
          </a:ln>
          <a:effectLst>
            <a:outerShdw sx="100000" sy="100000" kx="0" ky="0" algn="bl" rotWithShape="0" blurRad="76200" dist="25400" dir="5400000">
              <a:srgbClr val="000000">
                <a:alpha val="18000"/>
              </a:srgbClr>
            </a:outerShdw>
          </a:effectLst>
        </p:spPr>
      </p:sp>
      <p:sp>
        <p:nvSpPr>
          <p:cNvPr id="19" name="Text 17"/>
          <p:cNvSpPr txBox="1"/>
          <p:nvPr/>
        </p:nvSpPr>
        <p:spPr>
          <a:xfrm>
            <a:off x="9125712" y="3474720"/>
            <a:ext cx="232257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4. Answer</a:t>
            </a:r>
            <a:endParaRPr lang="en-US" sz="1350" dirty="0"/>
          </a:p>
          <a:p>
            <a:pPr algn="ctr" indent="0" marL="0">
              <a:buNone/>
            </a:pPr>
            <a:r>
              <a:rPr lang="en-US" sz="1050" dirty="0">
                <a:solidFill>
                  <a:srgbClr val="F3EFE8"/>
                </a:solidFill>
                <a:latin typeface="Calibri" pitchFamily="34" charset="0"/>
                <a:ea typeface="Calibri" pitchFamily="34" charset="-122"/>
                <a:cs typeface="Calibri" pitchFamily="34" charset="-120"/>
              </a:rPr>
              <a:t>quotes the three blocks and the function name</a:t>
            </a:r>
            <a:endParaRPr lang="en-US" sz="1350" dirty="0"/>
          </a:p>
        </p:txBody>
      </p:sp>
      <p:sp>
        <p:nvSpPr>
          <p:cNvPr id="20" name="Shape 18"/>
          <p:cNvSpPr/>
          <p:nvPr/>
        </p:nvSpPr>
        <p:spPr>
          <a:xfrm>
            <a:off x="548640" y="4663440"/>
            <a:ext cx="457200" cy="457200"/>
          </a:xfrm>
          <a:prstGeom prst="ellipse">
            <a:avLst/>
          </a:prstGeom>
          <a:solidFill>
            <a:srgbClr val="C15F3C"/>
          </a:solidFill>
          <a:ln/>
        </p:spPr>
      </p:sp>
      <p:sp>
        <p:nvSpPr>
          <p:cNvPr id="21" name="Text 19"/>
          <p:cNvSpPr txBox="1"/>
          <p:nvPr/>
        </p:nvSpPr>
        <p:spPr>
          <a:xfrm>
            <a:off x="548640" y="4663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txBox="1"/>
          <p:nvPr/>
        </p:nvSpPr>
        <p:spPr>
          <a:xfrm>
            <a:off x="1234440" y="460857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You supply the goal and the checks; the loop supplies the sequence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a second session may search first or read first and still reach the same quoted lines.</a:t>
            </a:r>
            <a:endParaRPr lang="en-US" sz="1500" dirty="0"/>
          </a:p>
        </p:txBody>
      </p:sp>
      <p:sp>
        <p:nvSpPr>
          <p:cNvPr id="23" name="Shape 21"/>
          <p:cNvSpPr/>
          <p:nvPr/>
        </p:nvSpPr>
        <p:spPr>
          <a:xfrm>
            <a:off x="548640" y="5394960"/>
            <a:ext cx="457200" cy="457200"/>
          </a:xfrm>
          <a:prstGeom prst="ellipse">
            <a:avLst/>
          </a:prstGeom>
          <a:solidFill>
            <a:srgbClr val="8E3B2E"/>
          </a:solidFill>
          <a:ln/>
        </p:spPr>
      </p:sp>
      <p:sp>
        <p:nvSpPr>
          <p:cNvPr id="24" name="Text 22"/>
          <p:cNvSpPr txBox="1"/>
          <p:nvPr/>
        </p:nvSpPr>
        <p:spPr>
          <a:xfrm>
            <a:off x="548640" y="5394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5" name="Text 23"/>
          <p:cNvSpPr txBox="1"/>
          <p:nvPr/>
        </p:nvSpPr>
        <p:spPr>
          <a:xfrm>
            <a:off x="1234440" y="534009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Watch out: on Linux, search appears as Bash, not Grep</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dedicated Grep and Glob are the default only on native Windows.</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Installing, Authenticating &amp; Starting the CLI</a:t>
            </a:r>
            <a:endParaRPr lang="en-US" sz="3200" dirty="0"/>
          </a:p>
        </p:txBody>
      </p:sp>
      <p:sp>
        <p:nvSpPr>
          <p:cNvPr id="3" name="Text 1"/>
          <p:cNvSpPr txBox="1"/>
          <p:nvPr/>
        </p:nvSpPr>
        <p:spPr>
          <a:xfrm>
            <a:off x="548640" y="1188720"/>
            <a:ext cx="10789920" cy="3657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Installation is one command per platform, and the first run signs you in. Open a new terminal window after installing.</a:t>
            </a:r>
            <a:endParaRPr lang="en-US" sz="1500" dirty="0"/>
          </a:p>
        </p:txBody>
      </p:sp>
      <p:sp>
        <p:nvSpPr>
          <p:cNvPr id="4" name="Shape 2"/>
          <p:cNvSpPr/>
          <p:nvPr/>
        </p:nvSpPr>
        <p:spPr>
          <a:xfrm>
            <a:off x="548640" y="1691640"/>
            <a:ext cx="10789920" cy="2039112"/>
          </a:xfrm>
          <a:prstGeom prst="roundRect">
            <a:avLst>
              <a:gd name="adj" fmla="val 3587"/>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837944"/>
            <a:ext cx="10241280" cy="292608"/>
          </a:xfrm>
          <a:prstGeom prst="rect">
            <a:avLst/>
          </a:prstGeom>
          <a:noFill/>
          <a:ln/>
        </p:spPr>
        <p:txBody>
          <a:bodyPr wrap="square" lIns="0" tIns="0" rIns="0" bIns="0" rtlCol="0" anchor="ctr"/>
          <a:lstStyle/>
          <a:p>
            <a:pPr indent="0" marL="0">
              <a:buNone/>
            </a:pPr>
            <a:r>
              <a:rPr lang="en-US" sz="1100" dirty="0">
                <a:solidFill>
                  <a:srgbClr val="F3EFE8"/>
                </a:solidFill>
                <a:latin typeface="Courier New" pitchFamily="34" charset="0"/>
                <a:ea typeface="Courier New" pitchFamily="34" charset="-122"/>
                <a:cs typeface="Courier New" pitchFamily="34" charset="-120"/>
              </a:rPr>
              <a:t># macOS, Linux, WSL (recommended)</a:t>
            </a:r>
            <a:endParaRPr lang="en-US" sz="1100" dirty="0"/>
          </a:p>
        </p:txBody>
      </p:sp>
      <p:sp>
        <p:nvSpPr>
          <p:cNvPr id="6" name="Text 4"/>
          <p:cNvSpPr txBox="1"/>
          <p:nvPr/>
        </p:nvSpPr>
        <p:spPr>
          <a:xfrm>
            <a:off x="822960" y="2130552"/>
            <a:ext cx="10241280" cy="292608"/>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curl -fsSL https://claude.ai/install.sh | bash</a:t>
            </a:r>
            <a:endParaRPr lang="en-US" sz="1200" dirty="0"/>
          </a:p>
        </p:txBody>
      </p:sp>
      <p:sp>
        <p:nvSpPr>
          <p:cNvPr id="7" name="Text 5"/>
          <p:cNvSpPr txBox="1"/>
          <p:nvPr/>
        </p:nvSpPr>
        <p:spPr>
          <a:xfrm>
            <a:off x="822960" y="2423160"/>
            <a:ext cx="10241280" cy="292608"/>
          </a:xfrm>
          <a:prstGeom prst="rect">
            <a:avLst/>
          </a:prstGeom>
          <a:noFill/>
          <a:ln/>
        </p:spPr>
        <p:txBody>
          <a:bodyPr wrap="square" lIns="0" tIns="0" rIns="0" bIns="0" rtlCol="0" anchor="ctr"/>
          <a:lstStyle/>
          <a:p>
            <a:pPr indent="0" marL="0">
              <a:buNone/>
            </a:pPr>
            <a:r>
              <a:rPr lang="en-US" sz="1100" dirty="0">
                <a:solidFill>
                  <a:srgbClr val="F3EFE8"/>
                </a:solidFill>
                <a:latin typeface="Courier New" pitchFamily="34" charset="0"/>
                <a:ea typeface="Courier New" pitchFamily="34" charset="-122"/>
                <a:cs typeface="Courier New" pitchFamily="34" charset="-120"/>
              </a:rPr>
              <a:t># Windows PowerShell</a:t>
            </a:r>
            <a:endParaRPr lang="en-US" sz="1100" dirty="0"/>
          </a:p>
        </p:txBody>
      </p:sp>
      <p:sp>
        <p:nvSpPr>
          <p:cNvPr id="8" name="Text 6"/>
          <p:cNvSpPr txBox="1"/>
          <p:nvPr/>
        </p:nvSpPr>
        <p:spPr>
          <a:xfrm>
            <a:off x="822960" y="2715768"/>
            <a:ext cx="10241280" cy="292608"/>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irm https://claude.ai/install.ps1 | iex</a:t>
            </a:r>
            <a:endParaRPr lang="en-US" sz="1200" dirty="0"/>
          </a:p>
        </p:txBody>
      </p:sp>
      <p:sp>
        <p:nvSpPr>
          <p:cNvPr id="9" name="Text 7"/>
          <p:cNvSpPr txBox="1"/>
          <p:nvPr/>
        </p:nvSpPr>
        <p:spPr>
          <a:xfrm>
            <a:off x="822960" y="3008376"/>
            <a:ext cx="10241280" cy="292608"/>
          </a:xfrm>
          <a:prstGeom prst="rect">
            <a:avLst/>
          </a:prstGeom>
          <a:noFill/>
          <a:ln/>
        </p:spPr>
        <p:txBody>
          <a:bodyPr wrap="square" lIns="0" tIns="0" rIns="0" bIns="0" rtlCol="0" anchor="ctr"/>
          <a:lstStyle/>
          <a:p>
            <a:pPr indent="0" marL="0">
              <a:buNone/>
            </a:pPr>
            <a:r>
              <a:rPr lang="en-US" sz="1100" dirty="0">
                <a:solidFill>
                  <a:srgbClr val="F3EFE8"/>
                </a:solidFill>
                <a:latin typeface="Courier New" pitchFamily="34" charset="0"/>
                <a:ea typeface="Courier New" pitchFamily="34" charset="-122"/>
                <a:cs typeface="Courier New" pitchFamily="34" charset="-120"/>
              </a:rPr>
              <a:t># any OS with Node.js 22+ (alternative; never with sudo)</a:t>
            </a:r>
            <a:endParaRPr lang="en-US" sz="1100" dirty="0"/>
          </a:p>
        </p:txBody>
      </p:sp>
      <p:sp>
        <p:nvSpPr>
          <p:cNvPr id="10" name="Text 8"/>
          <p:cNvSpPr txBox="1"/>
          <p:nvPr/>
        </p:nvSpPr>
        <p:spPr>
          <a:xfrm>
            <a:off x="822960" y="3300984"/>
            <a:ext cx="10241280" cy="292608"/>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npm install -g @anthropic-ai/claude-code</a:t>
            </a:r>
            <a:endParaRPr lang="en-US" sz="1200" dirty="0"/>
          </a:p>
        </p:txBody>
      </p:sp>
      <p:sp>
        <p:nvSpPr>
          <p:cNvPr id="11" name="Shape 9"/>
          <p:cNvSpPr/>
          <p:nvPr/>
        </p:nvSpPr>
        <p:spPr>
          <a:xfrm>
            <a:off x="548640" y="3931920"/>
            <a:ext cx="384048" cy="384048"/>
          </a:xfrm>
          <a:prstGeom prst="ellipse">
            <a:avLst/>
          </a:prstGeom>
          <a:solidFill>
            <a:srgbClr val="C15F3C"/>
          </a:solidFill>
          <a:ln/>
        </p:spPr>
      </p:sp>
      <p:sp>
        <p:nvSpPr>
          <p:cNvPr id="12" name="Text 10"/>
          <p:cNvSpPr txBox="1"/>
          <p:nvPr/>
        </p:nvSpPr>
        <p:spPr>
          <a:xfrm>
            <a:off x="548640" y="39319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3" name="Text 11"/>
          <p:cNvSpPr txBox="1"/>
          <p:nvPr/>
        </p:nvSpPr>
        <p:spPr>
          <a:xfrm>
            <a:off x="1161288" y="3877056"/>
            <a:ext cx="10177272" cy="7772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In a new terminal: claude --version, then claude doctor</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doctor reports install health and settings errors; command not found means ~/.local/bin is not on PATH yet.</a:t>
            </a:r>
            <a:endParaRPr lang="en-US" sz="1500" dirty="0"/>
          </a:p>
        </p:txBody>
      </p:sp>
      <p:sp>
        <p:nvSpPr>
          <p:cNvPr id="14" name="Shape 12"/>
          <p:cNvSpPr/>
          <p:nvPr/>
        </p:nvSpPr>
        <p:spPr>
          <a:xfrm>
            <a:off x="548640" y="4709160"/>
            <a:ext cx="384048" cy="384048"/>
          </a:xfrm>
          <a:prstGeom prst="ellipse">
            <a:avLst/>
          </a:prstGeom>
          <a:solidFill>
            <a:srgbClr val="C15F3C"/>
          </a:solidFill>
          <a:ln/>
        </p:spPr>
      </p:sp>
      <p:sp>
        <p:nvSpPr>
          <p:cNvPr id="15" name="Text 13"/>
          <p:cNvSpPr txBox="1"/>
          <p:nvPr/>
        </p:nvSpPr>
        <p:spPr>
          <a:xfrm>
            <a:off x="548640" y="47091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4"/>
          <p:cNvSpPr txBox="1"/>
          <p:nvPr/>
        </p:nvSpPr>
        <p:spPr>
          <a:xfrm>
            <a:off x="1161288" y="4654296"/>
            <a:ext cx="10177272" cy="7772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First run: cd ~/work/busybox &amp;&amp; claude, sign in, accept folder trust, then /status</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a paid plan or Console account is required; /status shows account, model, and settings sources.</a:t>
            </a:r>
            <a:endParaRPr lang="en-US" sz="1500" dirty="0"/>
          </a:p>
        </p:txBody>
      </p:sp>
      <p:sp>
        <p:nvSpPr>
          <p:cNvPr id="17" name="Shape 15"/>
          <p:cNvSpPr/>
          <p:nvPr/>
        </p:nvSpPr>
        <p:spPr>
          <a:xfrm>
            <a:off x="548640" y="5486400"/>
            <a:ext cx="384048" cy="384048"/>
          </a:xfrm>
          <a:prstGeom prst="ellipse">
            <a:avLst/>
          </a:prstGeom>
          <a:solidFill>
            <a:srgbClr val="C15F3C"/>
          </a:solidFill>
          <a:ln/>
        </p:spPr>
      </p:sp>
      <p:sp>
        <p:nvSpPr>
          <p:cNvPr id="18" name="Text 16"/>
          <p:cNvSpPr txBox="1"/>
          <p:nvPr/>
        </p:nvSpPr>
        <p:spPr>
          <a:xfrm>
            <a:off x="548640" y="548640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1161288" y="5431536"/>
            <a:ext cx="10177272" cy="7772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Two ways to run it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claude opens an interactive session here; claude -p "query" runs one query and exits (scripts). In CI, claude setup-token creates a token.</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Installing the VS Code Extension</a:t>
            </a:r>
            <a:endParaRPr lang="en-US" sz="3200" dirty="0"/>
          </a:p>
        </p:txBody>
      </p:sp>
      <p:sp>
        <p:nvSpPr>
          <p:cNvPr id="3" name="Text 1"/>
          <p:cNvSpPr txBox="1"/>
          <p:nvPr/>
        </p:nvSpPr>
        <p:spPr>
          <a:xfrm>
            <a:off x="548640" y="1188720"/>
            <a:ext cx="10789920" cy="5943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The extension adds a panel with side-by-side diffs. It needs VS Code 1.94 or later, and it does not replace the CLI install on the previous slide.</a:t>
            </a:r>
            <a:endParaRPr lang="en-US" sz="1500" dirty="0"/>
          </a:p>
        </p:txBody>
      </p:sp>
      <p:sp>
        <p:nvSpPr>
          <p:cNvPr id="4" name="Shape 2"/>
          <p:cNvSpPr/>
          <p:nvPr/>
        </p:nvSpPr>
        <p:spPr>
          <a:xfrm>
            <a:off x="548640" y="1828800"/>
            <a:ext cx="10789920" cy="905256"/>
          </a:xfrm>
          <a:prstGeom prst="roundRect">
            <a:avLst>
              <a:gd name="adj" fmla="val 8081"/>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975104"/>
            <a:ext cx="10241280" cy="310896"/>
          </a:xfrm>
          <a:prstGeom prst="rect">
            <a:avLst/>
          </a:prstGeom>
          <a:noFill/>
          <a:ln/>
        </p:spPr>
        <p:txBody>
          <a:bodyPr wrap="square" lIns="0" tIns="0" rIns="0" bIns="0" rtlCol="0" anchor="ctr"/>
          <a:lstStyle/>
          <a:p>
            <a:pPr indent="0" marL="0">
              <a:buNone/>
            </a:pPr>
            <a:r>
              <a:rPr lang="en-US" sz="1150" dirty="0">
                <a:solidFill>
                  <a:srgbClr val="F3EFE8"/>
                </a:solidFill>
                <a:latin typeface="Courier New" pitchFamily="34" charset="0"/>
                <a:ea typeface="Courier New" pitchFamily="34" charset="-122"/>
                <a:cs typeface="Courier New" pitchFamily="34" charset="-120"/>
              </a:rPr>
              <a:t># from a terminal, or search "Claude Code" in the Extensions view (Ctrl+Shift+X)</a:t>
            </a:r>
            <a:endParaRPr lang="en-US" sz="1150" dirty="0"/>
          </a:p>
        </p:txBody>
      </p:sp>
      <p:sp>
        <p:nvSpPr>
          <p:cNvPr id="6" name="Text 4"/>
          <p:cNvSpPr txBox="1"/>
          <p:nvPr/>
        </p:nvSpPr>
        <p:spPr>
          <a:xfrm>
            <a:off x="822960" y="2286000"/>
            <a:ext cx="10241280" cy="310896"/>
          </a:xfrm>
          <a:prstGeom prst="rect">
            <a:avLst/>
          </a:prstGeom>
          <a:noFill/>
          <a:ln/>
        </p:spPr>
        <p:txBody>
          <a:bodyPr wrap="square" lIns="0" tIns="0" rIns="0" bIns="0" rtlCol="0" anchor="ctr"/>
          <a:lstStyle/>
          <a:p>
            <a:pPr indent="0" marL="0">
              <a:buNone/>
            </a:pPr>
            <a:r>
              <a:rPr lang="en-US" sz="1250" dirty="0">
                <a:solidFill>
                  <a:srgbClr val="FFFFFF"/>
                </a:solidFill>
                <a:latin typeface="Courier New" pitchFamily="34" charset="0"/>
                <a:ea typeface="Courier New" pitchFamily="34" charset="-122"/>
                <a:cs typeface="Courier New" pitchFamily="34" charset="-120"/>
              </a:rPr>
              <a:t>code --install-extension anthropic.claude-code</a:t>
            </a:r>
            <a:endParaRPr lang="en-US" sz="1250" dirty="0"/>
          </a:p>
        </p:txBody>
      </p:sp>
      <p:sp>
        <p:nvSpPr>
          <p:cNvPr id="7" name="Shape 5"/>
          <p:cNvSpPr/>
          <p:nvPr/>
        </p:nvSpPr>
        <p:spPr>
          <a:xfrm>
            <a:off x="548640" y="2926080"/>
            <a:ext cx="384048" cy="384048"/>
          </a:xfrm>
          <a:prstGeom prst="ellipse">
            <a:avLst/>
          </a:prstGeom>
          <a:solidFill>
            <a:srgbClr val="4F6F64"/>
          </a:solidFill>
          <a:ln/>
        </p:spPr>
      </p:sp>
      <p:sp>
        <p:nvSpPr>
          <p:cNvPr id="8" name="Text 6"/>
          <p:cNvSpPr txBox="1"/>
          <p:nvPr/>
        </p:nvSpPr>
        <p:spPr>
          <a:xfrm>
            <a:off x="548640" y="29260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1161288" y="2871216"/>
            <a:ext cx="10177272" cy="71323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Not listed after install? Command Palette → Developer: Reload Window</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then open the project folder (File → Open Folder) so the panel works on the right directory.</a:t>
            </a:r>
            <a:endParaRPr lang="en-US" sz="1500" dirty="0"/>
          </a:p>
        </p:txBody>
      </p:sp>
      <p:sp>
        <p:nvSpPr>
          <p:cNvPr id="10" name="Shape 8"/>
          <p:cNvSpPr/>
          <p:nvPr/>
        </p:nvSpPr>
        <p:spPr>
          <a:xfrm>
            <a:off x="548640" y="3639312"/>
            <a:ext cx="384048" cy="384048"/>
          </a:xfrm>
          <a:prstGeom prst="ellipse">
            <a:avLst/>
          </a:prstGeom>
          <a:solidFill>
            <a:srgbClr val="4F6F64"/>
          </a:solidFill>
          <a:ln/>
        </p:spPr>
      </p:sp>
      <p:sp>
        <p:nvSpPr>
          <p:cNvPr id="11" name="Text 9"/>
          <p:cNvSpPr txBox="1"/>
          <p:nvPr/>
        </p:nvSpPr>
        <p:spPr>
          <a:xfrm>
            <a:off x="548640" y="363931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1161288" y="3584448"/>
            <a:ext cx="10177272" cy="71323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Open the panel: Spark icon in the editor toolbar, or the Claude Code item in the status bar</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sign in when prompted; use the same account as in the terminal.</a:t>
            </a:r>
            <a:endParaRPr lang="en-US" sz="1500" dirty="0"/>
          </a:p>
        </p:txBody>
      </p:sp>
      <p:sp>
        <p:nvSpPr>
          <p:cNvPr id="13" name="Shape 11"/>
          <p:cNvSpPr/>
          <p:nvPr/>
        </p:nvSpPr>
        <p:spPr>
          <a:xfrm>
            <a:off x="548640" y="4352544"/>
            <a:ext cx="384048" cy="384048"/>
          </a:xfrm>
          <a:prstGeom prst="ellipse">
            <a:avLst/>
          </a:prstGeom>
          <a:solidFill>
            <a:srgbClr val="4F6F64"/>
          </a:solidFill>
          <a:ln/>
        </p:spPr>
      </p:sp>
      <p:sp>
        <p:nvSpPr>
          <p:cNvPr id="14" name="Text 12"/>
          <p:cNvSpPr txBox="1"/>
          <p:nvPr/>
        </p:nvSpPr>
        <p:spPr>
          <a:xfrm>
            <a:off x="548640" y="435254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txBox="1"/>
          <p:nvPr/>
        </p:nvSpPr>
        <p:spPr>
          <a:xfrm>
            <a:off x="1161288" y="4297680"/>
            <a:ext cx="10177272" cy="71323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Check it: run /context, then a prompt that uses @coreutils/cat.c</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 mode indicator under the prompt shows the permission mode; claude --resume in a terminal lists the panel conversation.</a:t>
            </a:r>
            <a:endParaRPr lang="en-US" sz="1500" dirty="0"/>
          </a:p>
        </p:txBody>
      </p:sp>
      <p:sp>
        <p:nvSpPr>
          <p:cNvPr id="16" name="Shape 14"/>
          <p:cNvSpPr/>
          <p:nvPr/>
        </p:nvSpPr>
        <p:spPr>
          <a:xfrm>
            <a:off x="548640" y="5065776"/>
            <a:ext cx="384048" cy="384048"/>
          </a:xfrm>
          <a:prstGeom prst="ellipse">
            <a:avLst/>
          </a:prstGeom>
          <a:solidFill>
            <a:srgbClr val="8E3B2E"/>
          </a:solidFill>
          <a:ln/>
        </p:spPr>
      </p:sp>
      <p:sp>
        <p:nvSpPr>
          <p:cNvPr id="17" name="Text 15"/>
          <p:cNvSpPr txBox="1"/>
          <p:nvPr/>
        </p:nvSpPr>
        <p:spPr>
          <a:xfrm>
            <a:off x="548640" y="506577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txBox="1"/>
          <p:nvPr/>
        </p:nvSpPr>
        <p:spPr>
          <a:xfrm>
            <a:off x="1161288" y="5010912"/>
            <a:ext cx="10177272" cy="71323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Watch out: the extension does not put claude on PATH</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it bundles a private CLI for the panel; for claude in the integrated terminal (Ctrl+`) the standalone install is still required.</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Using Claude Code in the Terminal or an IDE</a:t>
            </a:r>
            <a:endParaRPr lang="en-US" sz="3200" dirty="0"/>
          </a:p>
        </p:txBody>
      </p:sp>
      <p:sp>
        <p:nvSpPr>
          <p:cNvPr id="3" name="Text 1"/>
          <p:cNvSpPr txBox="1"/>
          <p:nvPr/>
        </p:nvSpPr>
        <p:spPr>
          <a:xfrm>
            <a:off x="548640" y="1188720"/>
            <a:ext cx="10789920" cy="5943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The terminal and an editor panel run the same engine, so CLAUDE.md, settings, and conversation history are shared. Pick the surface that suits you; nothing in this course depends on an IDE.</a:t>
            </a:r>
            <a:endParaRPr lang="en-US" sz="1500" dirty="0"/>
          </a:p>
        </p:txBody>
      </p:sp>
      <p:sp>
        <p:nvSpPr>
          <p:cNvPr id="4" name="Shape 2"/>
          <p:cNvSpPr/>
          <p:nvPr/>
        </p:nvSpPr>
        <p:spPr>
          <a:xfrm>
            <a:off x="548640" y="1920240"/>
            <a:ext cx="5234940" cy="2194560"/>
          </a:xfrm>
          <a:prstGeom prst="roundRect">
            <a:avLst>
              <a:gd name="adj" fmla="val 4167"/>
            </a:avLst>
          </a:prstGeom>
          <a:solidFill>
            <a:srgbClr val="F3EFE8"/>
          </a:solidFill>
          <a:ln/>
          <a:effectLst>
            <a:outerShdw sx="100000" sy="100000" kx="0" ky="0" algn="bl" rotWithShape="0" blurRad="76200" dist="25400" dir="5400000">
              <a:srgbClr val="000000">
                <a:alpha val="18000"/>
              </a:srgbClr>
            </a:outerShdw>
          </a:effectLst>
        </p:spPr>
      </p:sp>
      <p:sp>
        <p:nvSpPr>
          <p:cNvPr id="5" name="Text 3"/>
          <p:cNvSpPr txBox="1"/>
          <p:nvPr/>
        </p:nvSpPr>
        <p:spPr>
          <a:xfrm>
            <a:off x="777240" y="2121408"/>
            <a:ext cx="4777740" cy="1792224"/>
          </a:xfrm>
          <a:prstGeom prst="rect">
            <a:avLst/>
          </a:prstGeom>
          <a:noFill/>
          <a:ln/>
        </p:spPr>
        <p:txBody>
          <a:bodyPr wrap="square" lIns="0" tIns="0" rIns="0" bIns="0" rtlCol="0" anchor="t"/>
          <a:lstStyle/>
          <a:p>
            <a:pPr indent="0" marL="0">
              <a:spcAft>
                <a:spcPts val="400"/>
              </a:spcAft>
              <a:buNone/>
            </a:pPr>
            <a:r>
              <a:rPr lang="en-US" sz="1500" b="1" dirty="0">
                <a:solidFill>
                  <a:srgbClr val="262320"/>
                </a:solidFill>
                <a:latin typeface="Calibri" pitchFamily="34" charset="0"/>
                <a:ea typeface="Calibri" pitchFamily="34" charset="-122"/>
                <a:cs typeface="Calibri" pitchFamily="34" charset="-120"/>
              </a:rPr>
              <a:t>Terminal CLI</a:t>
            </a:r>
            <a:endParaRPr lang="en-US" sz="1500" dirty="0"/>
          </a:p>
          <a:p>
            <a:pPr indent="0" marL="0">
              <a:spcAft>
                <a:spcPts val="400"/>
              </a:spcAft>
              <a:buNone/>
            </a:pPr>
            <a:r>
              <a:rPr lang="en-US" sz="1050" b="1" dirty="0">
                <a:solidFill>
                  <a:srgbClr val="C15F3C"/>
                </a:solidFill>
                <a:latin typeface="Calibri" pitchFamily="34" charset="0"/>
                <a:ea typeface="Calibri" pitchFamily="34" charset="-122"/>
                <a:cs typeface="Calibri" pitchFamily="34" charset="-120"/>
              </a:rPr>
              <a:t>THE FULL COMMAND SET</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Every command, skill, and keyboard shortcut</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Diffs render in the terminal; you approve per change</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Ctrl+G opens the plan or prompt in your own editor</a:t>
            </a:r>
            <a:endParaRPr lang="en-US" sz="1500" dirty="0"/>
          </a:p>
        </p:txBody>
      </p:sp>
      <p:sp>
        <p:nvSpPr>
          <p:cNvPr id="6" name="Shape 4"/>
          <p:cNvSpPr/>
          <p:nvPr/>
        </p:nvSpPr>
        <p:spPr>
          <a:xfrm>
            <a:off x="6103620" y="1920240"/>
            <a:ext cx="5234940" cy="2194560"/>
          </a:xfrm>
          <a:prstGeom prst="roundRect">
            <a:avLst>
              <a:gd name="adj" fmla="val 4167"/>
            </a:avLst>
          </a:prstGeom>
          <a:solidFill>
            <a:srgbClr val="F3EFE8"/>
          </a:solidFill>
          <a:ln/>
          <a:effectLst>
            <a:outerShdw sx="100000" sy="100000" kx="0" ky="0" algn="bl" rotWithShape="0" blurRad="76200" dist="25400" dir="5400000">
              <a:srgbClr val="000000">
                <a:alpha val="18000"/>
              </a:srgbClr>
            </a:outerShdw>
          </a:effectLst>
        </p:spPr>
      </p:sp>
      <p:sp>
        <p:nvSpPr>
          <p:cNvPr id="7" name="Text 5"/>
          <p:cNvSpPr txBox="1"/>
          <p:nvPr/>
        </p:nvSpPr>
        <p:spPr>
          <a:xfrm>
            <a:off x="6332220" y="2121408"/>
            <a:ext cx="4777740" cy="1792224"/>
          </a:xfrm>
          <a:prstGeom prst="rect">
            <a:avLst/>
          </a:prstGeom>
          <a:noFill/>
          <a:ln/>
        </p:spPr>
        <p:txBody>
          <a:bodyPr wrap="square" lIns="0" tIns="0" rIns="0" bIns="0" rtlCol="0" anchor="t"/>
          <a:lstStyle/>
          <a:p>
            <a:pPr indent="0" marL="0">
              <a:spcAft>
                <a:spcPts val="400"/>
              </a:spcAft>
              <a:buNone/>
            </a:pPr>
            <a:r>
              <a:rPr lang="en-US" sz="1500" b="1" dirty="0">
                <a:solidFill>
                  <a:srgbClr val="262320"/>
                </a:solidFill>
                <a:latin typeface="Calibri" pitchFamily="34" charset="0"/>
                <a:ea typeface="Calibri" pitchFamily="34" charset="-122"/>
                <a:cs typeface="Calibri" pitchFamily="34" charset="-120"/>
              </a:rPr>
              <a:t>Editor or IDE panel</a:t>
            </a:r>
            <a:endParaRPr lang="en-US" sz="1500" dirty="0"/>
          </a:p>
          <a:p>
            <a:pPr indent="0" marL="0">
              <a:spcAft>
                <a:spcPts val="400"/>
              </a:spcAft>
              <a:buNone/>
            </a:pPr>
            <a:r>
              <a:rPr lang="en-US" sz="1050" b="1" dirty="0">
                <a:solidFill>
                  <a:srgbClr val="4F6F64"/>
                </a:solidFill>
                <a:latin typeface="Calibri" pitchFamily="34" charset="0"/>
                <a:ea typeface="Calibri" pitchFamily="34" charset="-122"/>
                <a:cs typeface="Calibri" pitchFamily="34" charset="-120"/>
              </a:rPr>
              <a:t>WHAT IT ADDS</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Side-by-side diffs; accept, reject, or edit</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Selection context: Alt+K inserts @coreutils/cat.c#5-10</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A subset of the commands: type / to see which</a:t>
            </a:r>
            <a:endParaRPr lang="en-US" sz="1500" dirty="0"/>
          </a:p>
        </p:txBody>
      </p:sp>
      <p:sp>
        <p:nvSpPr>
          <p:cNvPr id="8" name="Shape 6"/>
          <p:cNvSpPr/>
          <p:nvPr/>
        </p:nvSpPr>
        <p:spPr>
          <a:xfrm>
            <a:off x="548640" y="4389120"/>
            <a:ext cx="457200" cy="457200"/>
          </a:xfrm>
          <a:prstGeom prst="ellipse">
            <a:avLst/>
          </a:prstGeom>
          <a:solidFill>
            <a:srgbClr val="7A736A"/>
          </a:solidFill>
          <a:ln/>
        </p:spPr>
      </p:sp>
      <p:sp>
        <p:nvSpPr>
          <p:cNvPr id="9" name="Text 7"/>
          <p:cNvSpPr txBox="1"/>
          <p:nvPr/>
        </p:nvSpPr>
        <p:spPr>
          <a:xfrm>
            <a:off x="548640" y="4389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334256"/>
            <a:ext cx="10104120" cy="82296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Same engine, shared state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CLAUDE.md, settings, plugins, and history are shared; claude --resume in a terminal continues a panel conversation.</a:t>
            </a:r>
            <a:endParaRPr lang="en-US" sz="1500" dirty="0"/>
          </a:p>
        </p:txBody>
      </p:sp>
      <p:sp>
        <p:nvSpPr>
          <p:cNvPr id="11" name="Shape 9"/>
          <p:cNvSpPr/>
          <p:nvPr/>
        </p:nvSpPr>
        <p:spPr>
          <a:xfrm>
            <a:off x="548640" y="5212080"/>
            <a:ext cx="457200" cy="457200"/>
          </a:xfrm>
          <a:prstGeom prst="ellipse">
            <a:avLst/>
          </a:prstGeom>
          <a:solidFill>
            <a:srgbClr val="7A736A"/>
          </a:solidFill>
          <a:ln/>
        </p:spPr>
      </p:sp>
      <p:sp>
        <p:nvSpPr>
          <p:cNvPr id="12" name="Text 10"/>
          <p:cNvSpPr txBox="1"/>
          <p:nvPr/>
        </p:nvSpPr>
        <p:spPr>
          <a:xfrm>
            <a:off x="548640" y="5212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txBox="1"/>
          <p:nvPr/>
        </p:nvSpPr>
        <p:spPr>
          <a:xfrm>
            <a:off x="1234440" y="5157216"/>
            <a:ext cx="10104120" cy="82296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Terminal-first in this course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 lab prompts are typed in the terminal; the VS Code equivalent is noted where it differs.</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Common Commands &amp; Shortcuts: Terminal and IDE</a:t>
            </a:r>
            <a:endParaRPr lang="en-US" sz="3200" dirty="0"/>
          </a:p>
        </p:txBody>
      </p:sp>
      <p:sp>
        <p:nvSpPr>
          <p:cNvPr id="3" name="Text 1"/>
          <p:cNvSpPr txBox="1"/>
          <p:nvPr/>
        </p:nvSpPr>
        <p:spPr>
          <a:xfrm>
            <a:off x="548640" y="1188720"/>
            <a:ext cx="10789920" cy="3657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These work the same, or nearly, in the terminal CLI and the VS Code panel. Full tables, with macOS and Windows columns, are in the Reference document.</a:t>
            </a:r>
            <a:endParaRPr lang="en-US" sz="1500" dirty="0"/>
          </a:p>
        </p:txBody>
      </p:sp>
      <p:sp>
        <p:nvSpPr>
          <p:cNvPr id="4" name="Shape 2"/>
          <p:cNvSpPr/>
          <p:nvPr/>
        </p:nvSpPr>
        <p:spPr>
          <a:xfrm>
            <a:off x="548640" y="1737360"/>
            <a:ext cx="411480" cy="411480"/>
          </a:xfrm>
          <a:prstGeom prst="ellipse">
            <a:avLst/>
          </a:prstGeom>
          <a:solidFill>
            <a:srgbClr val="4F6F64"/>
          </a:solidFill>
          <a:ln/>
        </p:spPr>
      </p:sp>
      <p:sp>
        <p:nvSpPr>
          <p:cNvPr id="5" name="Text 3"/>
          <p:cNvSpPr txBox="1"/>
          <p:nvPr/>
        </p:nvSpPr>
        <p:spPr>
          <a:xfrm>
            <a:off x="548640" y="17373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88720" y="1682496"/>
            <a:ext cx="4663440" cy="86868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Esc stops the current turn</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Claude keeps the work done so far. VS Code: Stop button or Esc.</a:t>
            </a:r>
            <a:endParaRPr lang="en-US" sz="1500" dirty="0"/>
          </a:p>
        </p:txBody>
      </p:sp>
      <p:sp>
        <p:nvSpPr>
          <p:cNvPr id="7" name="Shape 5"/>
          <p:cNvSpPr/>
          <p:nvPr/>
        </p:nvSpPr>
        <p:spPr>
          <a:xfrm>
            <a:off x="548640" y="2606040"/>
            <a:ext cx="411480" cy="411480"/>
          </a:xfrm>
          <a:prstGeom prst="ellipse">
            <a:avLst/>
          </a:prstGeom>
          <a:solidFill>
            <a:srgbClr val="4F6F64"/>
          </a:solidFill>
          <a:ln/>
        </p:spPr>
      </p:sp>
      <p:sp>
        <p:nvSpPr>
          <p:cNvPr id="8" name="Text 6"/>
          <p:cNvSpPr txBox="1"/>
          <p:nvPr/>
        </p:nvSpPr>
        <p:spPr>
          <a:xfrm>
            <a:off x="548640" y="26060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88720" y="2551176"/>
            <a:ext cx="4663440" cy="86868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 mentions files and folders</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e.g. @coreutils/cat.c or @libbb/ (trailing slash for a folder).</a:t>
            </a:r>
            <a:endParaRPr lang="en-US" sz="1500" dirty="0"/>
          </a:p>
        </p:txBody>
      </p:sp>
      <p:sp>
        <p:nvSpPr>
          <p:cNvPr id="10" name="Shape 8"/>
          <p:cNvSpPr/>
          <p:nvPr/>
        </p:nvSpPr>
        <p:spPr>
          <a:xfrm>
            <a:off x="548640" y="3474720"/>
            <a:ext cx="411480" cy="411480"/>
          </a:xfrm>
          <a:prstGeom prst="ellipse">
            <a:avLst/>
          </a:prstGeom>
          <a:solidFill>
            <a:srgbClr val="4F6F64"/>
          </a:solidFill>
          <a:ln/>
        </p:spPr>
      </p:sp>
      <p:sp>
        <p:nvSpPr>
          <p:cNvPr id="11" name="Text 9"/>
          <p:cNvSpPr txBox="1"/>
          <p:nvPr/>
        </p:nvSpPr>
        <p:spPr>
          <a:xfrm>
            <a:off x="548640" y="34747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88720" y="3419856"/>
            <a:ext cx="4663440" cy="86868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 lists the available commands</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Try /context, /usage, /compact, /permissions. The panel has a subset.</a:t>
            </a:r>
            <a:endParaRPr lang="en-US" sz="1500" dirty="0"/>
          </a:p>
        </p:txBody>
      </p:sp>
      <p:sp>
        <p:nvSpPr>
          <p:cNvPr id="13" name="Shape 11"/>
          <p:cNvSpPr/>
          <p:nvPr/>
        </p:nvSpPr>
        <p:spPr>
          <a:xfrm>
            <a:off x="548640" y="4343400"/>
            <a:ext cx="411480" cy="411480"/>
          </a:xfrm>
          <a:prstGeom prst="ellipse">
            <a:avLst/>
          </a:prstGeom>
          <a:solidFill>
            <a:srgbClr val="4F6F64"/>
          </a:solidFill>
          <a:ln/>
        </p:spPr>
      </p:sp>
      <p:sp>
        <p:nvSpPr>
          <p:cNvPr id="14" name="Text 12"/>
          <p:cNvSpPr txBox="1"/>
          <p:nvPr/>
        </p:nvSpPr>
        <p:spPr>
          <a:xfrm>
            <a:off x="548640" y="43434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88720" y="4288536"/>
            <a:ext cx="4663440" cy="86868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Permission modes</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Terminal: Shift+Tab cycles. VS Code: mode indicator under the prompt.</a:t>
            </a:r>
            <a:endParaRPr lang="en-US" sz="1500" dirty="0"/>
          </a:p>
        </p:txBody>
      </p:sp>
      <p:sp>
        <p:nvSpPr>
          <p:cNvPr id="16" name="Shape 14"/>
          <p:cNvSpPr/>
          <p:nvPr/>
        </p:nvSpPr>
        <p:spPr>
          <a:xfrm>
            <a:off x="6309360" y="1737360"/>
            <a:ext cx="411480" cy="411480"/>
          </a:xfrm>
          <a:prstGeom prst="ellipse">
            <a:avLst/>
          </a:prstGeom>
          <a:solidFill>
            <a:srgbClr val="4F6F64"/>
          </a:solidFill>
          <a:ln/>
        </p:spPr>
      </p:sp>
      <p:sp>
        <p:nvSpPr>
          <p:cNvPr id="17" name="Text 15"/>
          <p:cNvSpPr txBox="1"/>
          <p:nvPr/>
        </p:nvSpPr>
        <p:spPr>
          <a:xfrm>
            <a:off x="6309360" y="17373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6949440" y="1682496"/>
            <a:ext cx="4389120" cy="86868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Switch model</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Terminal: /model, or Alt+P (Option+P on macOS). VS Code: model picker.</a:t>
            </a:r>
            <a:endParaRPr lang="en-US" sz="1500" dirty="0"/>
          </a:p>
        </p:txBody>
      </p:sp>
      <p:sp>
        <p:nvSpPr>
          <p:cNvPr id="19" name="Shape 17"/>
          <p:cNvSpPr/>
          <p:nvPr/>
        </p:nvSpPr>
        <p:spPr>
          <a:xfrm>
            <a:off x="6309360" y="2606040"/>
            <a:ext cx="411480" cy="411480"/>
          </a:xfrm>
          <a:prstGeom prst="ellipse">
            <a:avLst/>
          </a:prstGeom>
          <a:solidFill>
            <a:srgbClr val="4F6F64"/>
          </a:solidFill>
          <a:ln/>
        </p:spPr>
      </p:sp>
      <p:sp>
        <p:nvSpPr>
          <p:cNvPr id="20" name="Text 18"/>
          <p:cNvSpPr txBox="1"/>
          <p:nvPr/>
        </p:nvSpPr>
        <p:spPr>
          <a:xfrm>
            <a:off x="6309360" y="26060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1" name="Text 19"/>
          <p:cNvSpPr txBox="1"/>
          <p:nvPr/>
        </p:nvSpPr>
        <p:spPr>
          <a:xfrm>
            <a:off x="6949440" y="2551176"/>
            <a:ext cx="4389120" cy="86868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Rewind to a checkpoint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Terminal: /rewind or Esc Esc on an empty prompt. VS Code: rewind button.</a:t>
            </a:r>
            <a:endParaRPr lang="en-US" sz="1500" dirty="0"/>
          </a:p>
        </p:txBody>
      </p:sp>
      <p:sp>
        <p:nvSpPr>
          <p:cNvPr id="22" name="Shape 20"/>
          <p:cNvSpPr/>
          <p:nvPr/>
        </p:nvSpPr>
        <p:spPr>
          <a:xfrm>
            <a:off x="6309360" y="3474720"/>
            <a:ext cx="411480" cy="411480"/>
          </a:xfrm>
          <a:prstGeom prst="ellipse">
            <a:avLst/>
          </a:prstGeom>
          <a:solidFill>
            <a:srgbClr val="4F6F64"/>
          </a:solidFill>
          <a:ln/>
        </p:spPr>
      </p:sp>
      <p:sp>
        <p:nvSpPr>
          <p:cNvPr id="23" name="Text 21"/>
          <p:cNvSpPr txBox="1"/>
          <p:nvPr/>
        </p:nvSpPr>
        <p:spPr>
          <a:xfrm>
            <a:off x="6309360" y="34747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24" name="Text 22"/>
          <p:cNvSpPr txBox="1"/>
          <p:nvPr/>
        </p:nvSpPr>
        <p:spPr>
          <a:xfrm>
            <a:off x="6949440" y="3419856"/>
            <a:ext cx="4389120" cy="86868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Inspect what loaded</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/context lists Memory files; /permissions, /status, /hooks show rules and sources.</a:t>
            </a:r>
            <a:endParaRPr lang="en-US" sz="1500" dirty="0"/>
          </a:p>
        </p:txBody>
      </p:sp>
      <p:sp>
        <p:nvSpPr>
          <p:cNvPr id="25" name="Shape 23"/>
          <p:cNvSpPr/>
          <p:nvPr/>
        </p:nvSpPr>
        <p:spPr>
          <a:xfrm>
            <a:off x="6309360" y="4343400"/>
            <a:ext cx="411480" cy="411480"/>
          </a:xfrm>
          <a:prstGeom prst="ellipse">
            <a:avLst/>
          </a:prstGeom>
          <a:solidFill>
            <a:srgbClr val="4F6F64"/>
          </a:solidFill>
          <a:ln/>
        </p:spPr>
      </p:sp>
      <p:sp>
        <p:nvSpPr>
          <p:cNvPr id="26" name="Text 24"/>
          <p:cNvSpPr txBox="1"/>
          <p:nvPr/>
        </p:nvSpPr>
        <p:spPr>
          <a:xfrm>
            <a:off x="6309360" y="43434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27" name="Text 25"/>
          <p:cNvSpPr txBox="1"/>
          <p:nvPr/>
        </p:nvSpPr>
        <p:spPr>
          <a:xfrm>
            <a:off x="6949440" y="4288536"/>
            <a:ext cx="4389120" cy="86868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claude --resume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In a terminal, continues a conversation started in the VS Code panel.</a:t>
            </a:r>
            <a:endParaRPr lang="en-US" sz="1500" dirty="0"/>
          </a:p>
        </p:txBody>
      </p:sp>
      <p:sp>
        <p:nvSpPr>
          <p:cNvPr id="28" name="Shape 26"/>
          <p:cNvSpPr/>
          <p:nvPr/>
        </p:nvSpPr>
        <p:spPr>
          <a:xfrm>
            <a:off x="548640" y="5349240"/>
            <a:ext cx="457200" cy="457200"/>
          </a:xfrm>
          <a:prstGeom prst="ellipse">
            <a:avLst/>
          </a:prstGeom>
          <a:solidFill>
            <a:srgbClr val="7A736A"/>
          </a:solidFill>
          <a:ln/>
        </p:spPr>
      </p:sp>
      <p:sp>
        <p:nvSpPr>
          <p:cNvPr id="29" name="Text 27"/>
          <p:cNvSpPr txBox="1"/>
          <p:nvPr/>
        </p:nvSpPr>
        <p:spPr>
          <a:xfrm>
            <a:off x="548640" y="5349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0" name="Text 28"/>
          <p:cNvSpPr txBox="1"/>
          <p:nvPr/>
        </p:nvSpPr>
        <p:spPr>
          <a:xfrm>
            <a:off x="1234440" y="5294376"/>
            <a:ext cx="10104120" cy="7772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Terminal only: the ! prefix and Tab completion</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!&lt;command&gt; runs a shell command directly; neither is available in the VS Code panel.</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Problem: Controlling an Unpredictable Loop</a:t>
            </a:r>
            <a:endParaRPr lang="en-US" sz="3200" dirty="0"/>
          </a:p>
        </p:txBody>
      </p:sp>
      <p:sp>
        <p:nvSpPr>
          <p:cNvPr id="3" name="Shape 1"/>
          <p:cNvSpPr/>
          <p:nvPr/>
        </p:nvSpPr>
        <p:spPr>
          <a:xfrm>
            <a:off x="548640" y="1645920"/>
            <a:ext cx="457200" cy="457200"/>
          </a:xfrm>
          <a:prstGeom prst="ellipse">
            <a:avLst/>
          </a:prstGeom>
          <a:solidFill>
            <a:srgbClr val="8E3B2E"/>
          </a:solidFill>
          <a:ln/>
        </p:spPr>
      </p:sp>
      <p:sp>
        <p:nvSpPr>
          <p:cNvPr id="4" name="Text 2"/>
          <p:cNvSpPr txBox="1"/>
          <p:nvPr/>
        </p:nvSpPr>
        <p:spPr>
          <a:xfrm>
            <a:off x="548640" y="1645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5" name="Text 3"/>
          <p:cNvSpPr txBox="1"/>
          <p:nvPr/>
        </p:nvSpPr>
        <p:spPr>
          <a:xfrm>
            <a:off x="1234440" y="1591056"/>
            <a:ext cx="10104120" cy="9601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The loop decides its own next step</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every single time it runs.</a:t>
            </a:r>
            <a:endParaRPr lang="en-US" sz="1500" dirty="0"/>
          </a:p>
        </p:txBody>
      </p:sp>
      <p:sp>
        <p:nvSpPr>
          <p:cNvPr id="6" name="Shape 4"/>
          <p:cNvSpPr/>
          <p:nvPr/>
        </p:nvSpPr>
        <p:spPr>
          <a:xfrm>
            <a:off x="548640" y="2606040"/>
            <a:ext cx="457200" cy="457200"/>
          </a:xfrm>
          <a:prstGeom prst="ellipse">
            <a:avLst/>
          </a:prstGeom>
          <a:solidFill>
            <a:srgbClr val="8E3B2E"/>
          </a:solidFill>
          <a:ln/>
        </p:spPr>
      </p:sp>
      <p:sp>
        <p:nvSpPr>
          <p:cNvPr id="7" name="Text 5"/>
          <p:cNvSpPr txBox="1"/>
          <p:nvPr/>
        </p:nvSpPr>
        <p:spPr>
          <a:xfrm>
            <a:off x="548640" y="2606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2551176"/>
            <a:ext cx="10104120" cy="9601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Same request, two sessions, two different paths</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both can be correct, but they are not identical.</a:t>
            </a:r>
            <a:endParaRPr lang="en-US" sz="1500" dirty="0"/>
          </a:p>
        </p:txBody>
      </p:sp>
      <p:sp>
        <p:nvSpPr>
          <p:cNvPr id="9" name="Shape 7"/>
          <p:cNvSpPr/>
          <p:nvPr/>
        </p:nvSpPr>
        <p:spPr>
          <a:xfrm>
            <a:off x="548640" y="3566160"/>
            <a:ext cx="457200" cy="457200"/>
          </a:xfrm>
          <a:prstGeom prst="ellipse">
            <a:avLst/>
          </a:prstGeom>
          <a:solidFill>
            <a:srgbClr val="8E3B2E"/>
          </a:solidFill>
          <a:ln/>
        </p:spPr>
      </p:sp>
      <p:sp>
        <p:nvSpPr>
          <p:cNvPr id="10" name="Text 8"/>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 name="Text 9"/>
          <p:cNvSpPr txBox="1"/>
          <p:nvPr/>
        </p:nvSpPr>
        <p:spPr>
          <a:xfrm>
            <a:off x="1234440" y="3511296"/>
            <a:ext cx="10104120" cy="9601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What stops it from running something you did not want?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for example make clean, or an edit to a generated header such as include/autoconf.h.</a:t>
            </a:r>
            <a:endParaRPr lang="en-US" sz="1500" dirty="0"/>
          </a:p>
        </p:txBody>
      </p:sp>
      <p:sp>
        <p:nvSpPr>
          <p:cNvPr id="12" name="Shape 10"/>
          <p:cNvSpPr/>
          <p:nvPr/>
        </p:nvSpPr>
        <p:spPr>
          <a:xfrm>
            <a:off x="548640" y="4526280"/>
            <a:ext cx="457200" cy="457200"/>
          </a:xfrm>
          <a:prstGeom prst="ellipse">
            <a:avLst/>
          </a:prstGeom>
          <a:solidFill>
            <a:srgbClr val="8E3B2E"/>
          </a:solidFill>
          <a:ln/>
        </p:spPr>
      </p:sp>
      <p:sp>
        <p:nvSpPr>
          <p:cNvPr id="13" name="Text 11"/>
          <p:cNvSpPr txBox="1"/>
          <p:nvPr/>
        </p:nvSpPr>
        <p:spPr>
          <a:xfrm>
            <a:off x="548640"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4" name="Text 12"/>
          <p:cNvSpPr txBox="1"/>
          <p:nvPr/>
        </p:nvSpPr>
        <p:spPr>
          <a:xfrm>
            <a:off x="1234440" y="4471416"/>
            <a:ext cx="10104120" cy="9601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"Just trust it" is not acceptable on real code</a:t>
            </a:r>
            <a:endParaRPr lang="en-US" sz="1500" dirty="0"/>
          </a:p>
          <a:p>
            <a:pPr indent="0" marL="0">
              <a:lnSpc>
                <a:spcPct val="112000"/>
              </a:lnSpc>
              <a:buNone/>
            </a:pP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Solution: Permission Modes</a:t>
            </a:r>
            <a:endParaRPr lang="en-US" sz="3200" dirty="0"/>
          </a:p>
        </p:txBody>
      </p:sp>
      <p:sp>
        <p:nvSpPr>
          <p:cNvPr id="3" name="Text 1"/>
          <p:cNvSpPr txBox="1"/>
          <p:nvPr/>
        </p:nvSpPr>
        <p:spPr>
          <a:xfrm>
            <a:off x="548640" y="1188720"/>
            <a:ext cx="10789920" cy="5943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A permission mode sets which actions Claude can take in a session without asking you first. Five modes sit on one spectrum, from most oversight to least.</a:t>
            </a:r>
            <a:endParaRPr lang="en-US" sz="1500" dirty="0"/>
          </a:p>
        </p:txBody>
      </p:sp>
      <p:sp>
        <p:nvSpPr>
          <p:cNvPr id="4" name="Text 2"/>
          <p:cNvSpPr txBox="1"/>
          <p:nvPr/>
        </p:nvSpPr>
        <p:spPr>
          <a:xfrm>
            <a:off x="914400" y="2194560"/>
            <a:ext cx="5029200" cy="274320"/>
          </a:xfrm>
          <a:prstGeom prst="rect">
            <a:avLst/>
          </a:prstGeom>
          <a:noFill/>
          <a:ln/>
        </p:spPr>
        <p:txBody>
          <a:bodyPr wrap="square" lIns="0" tIns="0" rIns="0" bIns="0" rtlCol="0" anchor="ctr"/>
          <a:lstStyle/>
          <a:p>
            <a:pPr indent="0" marL="0">
              <a:buNone/>
            </a:pPr>
            <a:r>
              <a:rPr lang="en-US" sz="1100" b="1" dirty="0">
                <a:solidFill>
                  <a:srgbClr val="7A736A"/>
                </a:solidFill>
                <a:latin typeface="Calibri" pitchFamily="34" charset="0"/>
                <a:ea typeface="Calibri" pitchFamily="34" charset="-122"/>
                <a:cs typeface="Calibri" pitchFamily="34" charset="-120"/>
              </a:rPr>
              <a:t>ASKS EVERY TIME</a:t>
            </a:r>
            <a:endParaRPr lang="en-US" sz="1100" dirty="0"/>
          </a:p>
        </p:txBody>
      </p:sp>
      <p:sp>
        <p:nvSpPr>
          <p:cNvPr id="5" name="Text 3"/>
          <p:cNvSpPr txBox="1"/>
          <p:nvPr/>
        </p:nvSpPr>
        <p:spPr>
          <a:xfrm>
            <a:off x="5943600" y="2194560"/>
            <a:ext cx="5029200" cy="274320"/>
          </a:xfrm>
          <a:prstGeom prst="rect">
            <a:avLst/>
          </a:prstGeom>
          <a:noFill/>
          <a:ln/>
        </p:spPr>
        <p:txBody>
          <a:bodyPr wrap="square" lIns="0" tIns="0" rIns="0" bIns="0" rtlCol="0" anchor="ctr"/>
          <a:lstStyle/>
          <a:p>
            <a:pPr algn="r" indent="0" marL="0">
              <a:buNone/>
            </a:pPr>
            <a:r>
              <a:rPr lang="en-US" sz="1100" b="1" dirty="0">
                <a:solidFill>
                  <a:srgbClr val="7A736A"/>
                </a:solidFill>
                <a:latin typeface="Calibri" pitchFamily="34" charset="0"/>
                <a:ea typeface="Calibri" pitchFamily="34" charset="-122"/>
                <a:cs typeface="Calibri" pitchFamily="34" charset="-120"/>
              </a:rPr>
              <a:t>NEVER ASKS</a:t>
            </a:r>
            <a:endParaRPr lang="en-US" sz="1100" dirty="0"/>
          </a:p>
        </p:txBody>
      </p:sp>
      <p:sp>
        <p:nvSpPr>
          <p:cNvPr id="6" name="Shape 4"/>
          <p:cNvSpPr/>
          <p:nvPr/>
        </p:nvSpPr>
        <p:spPr>
          <a:xfrm>
            <a:off x="914400" y="2606040"/>
            <a:ext cx="10058400" cy="0"/>
          </a:xfrm>
          <a:prstGeom prst="line">
            <a:avLst/>
          </a:prstGeom>
          <a:noFill/>
          <a:ln w="19050">
            <a:solidFill>
              <a:srgbClr val="7A736A"/>
            </a:solidFill>
            <a:prstDash val="solid"/>
            <a:tailEnd type="triangle"/>
          </a:ln>
        </p:spPr>
      </p:sp>
      <p:sp>
        <p:nvSpPr>
          <p:cNvPr id="7" name="Shape 5"/>
          <p:cNvSpPr/>
          <p:nvPr/>
        </p:nvSpPr>
        <p:spPr>
          <a:xfrm>
            <a:off x="832104" y="2523744"/>
            <a:ext cx="164592" cy="164592"/>
          </a:xfrm>
          <a:prstGeom prst="ellipse">
            <a:avLst/>
          </a:prstGeom>
          <a:solidFill>
            <a:srgbClr val="C15F3C"/>
          </a:solidFill>
          <a:ln w="22225">
            <a:solidFill>
              <a:srgbClr val="C15F3C"/>
            </a:solidFill>
            <a:prstDash val="solid"/>
          </a:ln>
        </p:spPr>
      </p:sp>
      <p:sp>
        <p:nvSpPr>
          <p:cNvPr id="8" name="Text 6"/>
          <p:cNvSpPr txBox="1"/>
          <p:nvPr/>
        </p:nvSpPr>
        <p:spPr>
          <a:xfrm>
            <a:off x="-91440" y="2770632"/>
            <a:ext cx="2011680" cy="685800"/>
          </a:xfrm>
          <a:prstGeom prst="rect">
            <a:avLst/>
          </a:prstGeom>
          <a:noFill/>
          <a:ln/>
        </p:spPr>
        <p:txBody>
          <a:bodyPr wrap="square" lIns="0" tIns="0" rIns="0" bIns="0" rtlCol="0" anchor="t"/>
          <a:lstStyle/>
          <a:p>
            <a:pPr algn="ctr" indent="0" marL="0">
              <a:buNone/>
            </a:pPr>
            <a:r>
              <a:rPr lang="en-US" sz="1300" b="1" dirty="0">
                <a:solidFill>
                  <a:srgbClr val="262320"/>
                </a:solidFill>
                <a:latin typeface="Calibri" pitchFamily="34" charset="0"/>
                <a:ea typeface="Calibri" pitchFamily="34" charset="-122"/>
                <a:cs typeface="Calibri" pitchFamily="34" charset="-120"/>
              </a:rPr>
              <a:t>Manual</a:t>
            </a:r>
            <a:endParaRPr lang="en-US" sz="1300" dirty="0"/>
          </a:p>
          <a:p>
            <a:pPr algn="ctr" indent="0" marL="0">
              <a:buNone/>
            </a:pPr>
            <a:r>
              <a:rPr lang="en-US" sz="1050" dirty="0">
                <a:solidFill>
                  <a:srgbClr val="7A736A"/>
                </a:solidFill>
                <a:latin typeface="Calibri" pitchFamily="34" charset="0"/>
                <a:ea typeface="Calibri" pitchFamily="34" charset="-122"/>
                <a:cs typeface="Calibri" pitchFamily="34" charset="-120"/>
              </a:rPr>
              <a:t>reads run free; edits ask</a:t>
            </a:r>
            <a:endParaRPr lang="en-US" sz="1300" dirty="0"/>
          </a:p>
        </p:txBody>
      </p:sp>
      <p:sp>
        <p:nvSpPr>
          <p:cNvPr id="9" name="Shape 7"/>
          <p:cNvSpPr/>
          <p:nvPr/>
        </p:nvSpPr>
        <p:spPr>
          <a:xfrm>
            <a:off x="3346704" y="2523744"/>
            <a:ext cx="164592" cy="164592"/>
          </a:xfrm>
          <a:prstGeom prst="ellipse">
            <a:avLst/>
          </a:prstGeom>
          <a:solidFill>
            <a:srgbClr val="FFFFFF"/>
          </a:solidFill>
          <a:ln w="22225">
            <a:solidFill>
              <a:srgbClr val="C15F3C"/>
            </a:solidFill>
            <a:prstDash val="solid"/>
          </a:ln>
        </p:spPr>
      </p:sp>
      <p:sp>
        <p:nvSpPr>
          <p:cNvPr id="10" name="Text 8"/>
          <p:cNvSpPr txBox="1"/>
          <p:nvPr/>
        </p:nvSpPr>
        <p:spPr>
          <a:xfrm>
            <a:off x="2423160" y="2770632"/>
            <a:ext cx="2011680" cy="685800"/>
          </a:xfrm>
          <a:prstGeom prst="rect">
            <a:avLst/>
          </a:prstGeom>
          <a:noFill/>
          <a:ln/>
        </p:spPr>
        <p:txBody>
          <a:bodyPr wrap="square" lIns="0" tIns="0" rIns="0" bIns="0" rtlCol="0" anchor="t"/>
          <a:lstStyle/>
          <a:p>
            <a:pPr algn="ctr" indent="0" marL="0">
              <a:buNone/>
            </a:pPr>
            <a:r>
              <a:rPr lang="en-US" sz="1300" b="1" dirty="0">
                <a:solidFill>
                  <a:srgbClr val="262320"/>
                </a:solidFill>
                <a:latin typeface="Calibri" pitchFamily="34" charset="0"/>
                <a:ea typeface="Calibri" pitchFamily="34" charset="-122"/>
                <a:cs typeface="Calibri" pitchFamily="34" charset="-120"/>
              </a:rPr>
              <a:t>acceptEdits</a:t>
            </a:r>
            <a:endParaRPr lang="en-US" sz="1300" dirty="0"/>
          </a:p>
          <a:p>
            <a:pPr algn="ctr" indent="0" marL="0">
              <a:buNone/>
            </a:pPr>
            <a:r>
              <a:rPr lang="en-US" sz="1050" dirty="0">
                <a:solidFill>
                  <a:srgbClr val="7A736A"/>
                </a:solidFill>
                <a:latin typeface="Calibri" pitchFamily="34" charset="0"/>
                <a:ea typeface="Calibri" pitchFamily="34" charset="-122"/>
                <a:cs typeface="Calibri" pitchFamily="34" charset="-120"/>
              </a:rPr>
              <a:t>+ edits and mkdir, mv, cp</a:t>
            </a:r>
            <a:endParaRPr lang="en-US" sz="1300" dirty="0"/>
          </a:p>
        </p:txBody>
      </p:sp>
      <p:sp>
        <p:nvSpPr>
          <p:cNvPr id="11" name="Shape 9"/>
          <p:cNvSpPr/>
          <p:nvPr/>
        </p:nvSpPr>
        <p:spPr>
          <a:xfrm>
            <a:off x="5861304" y="2523744"/>
            <a:ext cx="164592" cy="164592"/>
          </a:xfrm>
          <a:prstGeom prst="ellipse">
            <a:avLst/>
          </a:prstGeom>
          <a:solidFill>
            <a:srgbClr val="FFFFFF"/>
          </a:solidFill>
          <a:ln w="22225">
            <a:solidFill>
              <a:srgbClr val="C15F3C"/>
            </a:solidFill>
            <a:prstDash val="solid"/>
          </a:ln>
        </p:spPr>
      </p:sp>
      <p:sp>
        <p:nvSpPr>
          <p:cNvPr id="12" name="Text 10"/>
          <p:cNvSpPr txBox="1"/>
          <p:nvPr/>
        </p:nvSpPr>
        <p:spPr>
          <a:xfrm>
            <a:off x="4937760" y="2770632"/>
            <a:ext cx="2011680" cy="685800"/>
          </a:xfrm>
          <a:prstGeom prst="rect">
            <a:avLst/>
          </a:prstGeom>
          <a:noFill/>
          <a:ln/>
        </p:spPr>
        <p:txBody>
          <a:bodyPr wrap="square" lIns="0" tIns="0" rIns="0" bIns="0" rtlCol="0" anchor="t"/>
          <a:lstStyle/>
          <a:p>
            <a:pPr algn="ctr" indent="0" marL="0">
              <a:buNone/>
            </a:pPr>
            <a:r>
              <a:rPr lang="en-US" sz="1300" b="1" dirty="0">
                <a:solidFill>
                  <a:srgbClr val="262320"/>
                </a:solidFill>
                <a:latin typeface="Calibri" pitchFamily="34" charset="0"/>
                <a:ea typeface="Calibri" pitchFamily="34" charset="-122"/>
                <a:cs typeface="Calibri" pitchFamily="34" charset="-120"/>
              </a:rPr>
              <a:t>Plan Mode</a:t>
            </a:r>
            <a:endParaRPr lang="en-US" sz="1300" dirty="0"/>
          </a:p>
          <a:p>
            <a:pPr algn="ctr" indent="0" marL="0">
              <a:buNone/>
            </a:pPr>
            <a:r>
              <a:rPr lang="en-US" sz="1050" dirty="0">
                <a:solidFill>
                  <a:srgbClr val="7A736A"/>
                </a:solidFill>
                <a:latin typeface="Calibri" pitchFamily="34" charset="0"/>
                <a:ea typeface="Calibri" pitchFamily="34" charset="-122"/>
                <a:cs typeface="Calibri" pitchFamily="34" charset="-120"/>
              </a:rPr>
              <a:t>propose, then approve</a:t>
            </a:r>
            <a:endParaRPr lang="en-US" sz="1300" dirty="0"/>
          </a:p>
        </p:txBody>
      </p:sp>
      <p:sp>
        <p:nvSpPr>
          <p:cNvPr id="13" name="Shape 11"/>
          <p:cNvSpPr/>
          <p:nvPr/>
        </p:nvSpPr>
        <p:spPr>
          <a:xfrm>
            <a:off x="8375904" y="2523744"/>
            <a:ext cx="164592" cy="164592"/>
          </a:xfrm>
          <a:prstGeom prst="ellipse">
            <a:avLst/>
          </a:prstGeom>
          <a:solidFill>
            <a:srgbClr val="FFFFFF"/>
          </a:solidFill>
          <a:ln w="22225">
            <a:solidFill>
              <a:srgbClr val="C15F3C"/>
            </a:solidFill>
            <a:prstDash val="solid"/>
          </a:ln>
        </p:spPr>
      </p:sp>
      <p:sp>
        <p:nvSpPr>
          <p:cNvPr id="14" name="Text 12"/>
          <p:cNvSpPr txBox="1"/>
          <p:nvPr/>
        </p:nvSpPr>
        <p:spPr>
          <a:xfrm>
            <a:off x="7452360" y="2770632"/>
            <a:ext cx="2011680" cy="685800"/>
          </a:xfrm>
          <a:prstGeom prst="rect">
            <a:avLst/>
          </a:prstGeom>
          <a:noFill/>
          <a:ln/>
        </p:spPr>
        <p:txBody>
          <a:bodyPr wrap="square" lIns="0" tIns="0" rIns="0" bIns="0" rtlCol="0" anchor="t"/>
          <a:lstStyle/>
          <a:p>
            <a:pPr algn="ctr" indent="0" marL="0">
              <a:buNone/>
            </a:pPr>
            <a:r>
              <a:rPr lang="en-US" sz="1300" b="1" dirty="0">
                <a:solidFill>
                  <a:srgbClr val="262320"/>
                </a:solidFill>
                <a:latin typeface="Calibri" pitchFamily="34" charset="0"/>
                <a:ea typeface="Calibri" pitchFamily="34" charset="-122"/>
                <a:cs typeface="Calibri" pitchFamily="34" charset="-120"/>
              </a:rPr>
              <a:t>auto</a:t>
            </a:r>
            <a:endParaRPr lang="en-US" sz="1300" dirty="0"/>
          </a:p>
          <a:p>
            <a:pPr algn="ctr" indent="0" marL="0">
              <a:buNone/>
            </a:pPr>
            <a:r>
              <a:rPr lang="en-US" sz="1050" dirty="0">
                <a:solidFill>
                  <a:srgbClr val="7A736A"/>
                </a:solidFill>
                <a:latin typeface="Calibri" pitchFamily="34" charset="0"/>
                <a:ea typeface="Calibri" pitchFamily="34" charset="-122"/>
                <a:cs typeface="Calibri" pitchFamily="34" charset="-120"/>
              </a:rPr>
              <a:t>classifier approves routine</a:t>
            </a:r>
            <a:endParaRPr lang="en-US" sz="1300" dirty="0"/>
          </a:p>
        </p:txBody>
      </p:sp>
      <p:sp>
        <p:nvSpPr>
          <p:cNvPr id="15" name="Shape 13"/>
          <p:cNvSpPr/>
          <p:nvPr/>
        </p:nvSpPr>
        <p:spPr>
          <a:xfrm>
            <a:off x="10762488" y="2523744"/>
            <a:ext cx="164592" cy="164592"/>
          </a:xfrm>
          <a:prstGeom prst="ellipse">
            <a:avLst/>
          </a:prstGeom>
          <a:solidFill>
            <a:srgbClr val="C15F3C"/>
          </a:solidFill>
          <a:ln w="22225">
            <a:solidFill>
              <a:srgbClr val="C15F3C"/>
            </a:solidFill>
            <a:prstDash val="solid"/>
          </a:ln>
        </p:spPr>
      </p:sp>
      <p:sp>
        <p:nvSpPr>
          <p:cNvPr id="16" name="Text 14"/>
          <p:cNvSpPr txBox="1"/>
          <p:nvPr/>
        </p:nvSpPr>
        <p:spPr>
          <a:xfrm>
            <a:off x="9838944" y="2770632"/>
            <a:ext cx="2011680" cy="685800"/>
          </a:xfrm>
          <a:prstGeom prst="rect">
            <a:avLst/>
          </a:prstGeom>
          <a:noFill/>
          <a:ln/>
        </p:spPr>
        <p:txBody>
          <a:bodyPr wrap="square" lIns="0" tIns="0" rIns="0" bIns="0" rtlCol="0" anchor="t"/>
          <a:lstStyle/>
          <a:p>
            <a:pPr algn="ctr" indent="0" marL="0">
              <a:buNone/>
            </a:pPr>
            <a:r>
              <a:rPr lang="en-US" sz="1300" b="1" dirty="0">
                <a:solidFill>
                  <a:srgbClr val="262320"/>
                </a:solidFill>
                <a:latin typeface="Calibri" pitchFamily="34" charset="0"/>
                <a:ea typeface="Calibri" pitchFamily="34" charset="-122"/>
                <a:cs typeface="Calibri" pitchFamily="34" charset="-120"/>
              </a:rPr>
              <a:t>bypassPermissions</a:t>
            </a:r>
            <a:endParaRPr lang="en-US" sz="1300" dirty="0"/>
          </a:p>
          <a:p>
            <a:pPr algn="ctr" indent="0" marL="0">
              <a:buNone/>
            </a:pPr>
            <a:r>
              <a:rPr lang="en-US" sz="1050" dirty="0">
                <a:solidFill>
                  <a:srgbClr val="7A736A"/>
                </a:solidFill>
                <a:latin typeface="Calibri" pitchFamily="34" charset="0"/>
                <a:ea typeface="Calibri" pitchFamily="34" charset="-122"/>
                <a:cs typeface="Calibri" pitchFamily="34" charset="-120"/>
              </a:rPr>
              <a:t>everything runs; VMs only</a:t>
            </a:r>
            <a:endParaRPr lang="en-US" sz="1300" dirty="0"/>
          </a:p>
        </p:txBody>
      </p:sp>
      <p:sp>
        <p:nvSpPr>
          <p:cNvPr id="17" name="Shape 15"/>
          <p:cNvSpPr/>
          <p:nvPr/>
        </p:nvSpPr>
        <p:spPr>
          <a:xfrm>
            <a:off x="548640" y="3840480"/>
            <a:ext cx="457200" cy="457200"/>
          </a:xfrm>
          <a:prstGeom prst="ellipse">
            <a:avLst/>
          </a:prstGeom>
          <a:solidFill>
            <a:srgbClr val="4F6F64"/>
          </a:solidFill>
          <a:ln/>
        </p:spPr>
      </p:sp>
      <p:sp>
        <p:nvSpPr>
          <p:cNvPr id="18" name="Text 16"/>
          <p:cNvSpPr txBox="1"/>
          <p:nvPr/>
        </p:nvSpPr>
        <p:spPr>
          <a:xfrm>
            <a:off x="548640" y="3840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9" name="Text 17"/>
          <p:cNvSpPr txBox="1"/>
          <p:nvPr/>
        </p:nvSpPr>
        <p:spPr>
          <a:xfrm>
            <a:off x="1234440" y="3785616"/>
            <a:ext cx="10104120" cy="7772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Shift+Tab cycles modes mid-session</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 status bar always names the one that is active; claude --permission-mode plan starts in plan mode.</a:t>
            </a:r>
            <a:endParaRPr lang="en-US" sz="1500" dirty="0"/>
          </a:p>
        </p:txBody>
      </p:sp>
      <p:sp>
        <p:nvSpPr>
          <p:cNvPr id="20" name="Shape 18"/>
          <p:cNvSpPr/>
          <p:nvPr/>
        </p:nvSpPr>
        <p:spPr>
          <a:xfrm>
            <a:off x="548640" y="4617720"/>
            <a:ext cx="457200" cy="457200"/>
          </a:xfrm>
          <a:prstGeom prst="ellipse">
            <a:avLst/>
          </a:prstGeom>
          <a:solidFill>
            <a:srgbClr val="4F6F64"/>
          </a:solidFill>
          <a:ln/>
        </p:spPr>
      </p:sp>
      <p:sp>
        <p:nvSpPr>
          <p:cNvPr id="21" name="Text 19"/>
          <p:cNvSpPr txBox="1"/>
          <p:nvPr/>
        </p:nvSpPr>
        <p:spPr>
          <a:xfrm>
            <a:off x="548640" y="4617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txBox="1"/>
          <p:nvPr/>
        </p:nvSpPr>
        <p:spPr>
          <a:xfrm>
            <a:off x="1234440" y="4562856"/>
            <a:ext cx="10104120" cy="7772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auto: a second model, a classifier, reviews actions</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it approves routine ones and prompts you only for unusual or risky ones; the starting mode differs by surface and version.</a:t>
            </a:r>
            <a:endParaRPr lang="en-US" sz="1500" dirty="0"/>
          </a:p>
        </p:txBody>
      </p:sp>
      <p:sp>
        <p:nvSpPr>
          <p:cNvPr id="23" name="Shape 21"/>
          <p:cNvSpPr/>
          <p:nvPr/>
        </p:nvSpPr>
        <p:spPr>
          <a:xfrm>
            <a:off x="548640" y="5394960"/>
            <a:ext cx="457200" cy="457200"/>
          </a:xfrm>
          <a:prstGeom prst="ellipse">
            <a:avLst/>
          </a:prstGeom>
          <a:solidFill>
            <a:srgbClr val="8E3B2E"/>
          </a:solidFill>
          <a:ln/>
        </p:spPr>
      </p:sp>
      <p:sp>
        <p:nvSpPr>
          <p:cNvPr id="24" name="Text 22"/>
          <p:cNvSpPr txBox="1"/>
          <p:nvPr/>
        </p:nvSpPr>
        <p:spPr>
          <a:xfrm>
            <a:off x="548640" y="5394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5" name="Text 23"/>
          <p:cNvSpPr txBox="1"/>
          <p:nvPr/>
        </p:nvSpPr>
        <p:spPr>
          <a:xfrm>
            <a:off x="1234440" y="5340096"/>
            <a:ext cx="10104120" cy="7772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bypassPermissions also removes the prompts that stop destructive commands</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isolated containers and VMs only, never your main machine.</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Analogy: Permission Modes as Review &amp; CI Gates</a:t>
            </a:r>
            <a:endParaRPr lang="en-US" sz="3200" dirty="0"/>
          </a:p>
        </p:txBody>
      </p:sp>
      <p:sp>
        <p:nvSpPr>
          <p:cNvPr id="3" name="Text 1"/>
          <p:cNvSpPr txBox="1"/>
          <p:nvPr/>
        </p:nvSpPr>
        <p:spPr>
          <a:xfrm>
            <a:off x="548640" y="1188720"/>
            <a:ext cx="10789920" cy="5943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This is the course's own teaching analogy, not official Anthropic documentation: each mode is a gate you already work behind in code review and CI.</a:t>
            </a:r>
            <a:endParaRPr lang="en-US" sz="1500" dirty="0"/>
          </a:p>
        </p:txBody>
      </p:sp>
      <p:sp>
        <p:nvSpPr>
          <p:cNvPr id="4" name="Shape 2"/>
          <p:cNvSpPr/>
          <p:nvPr/>
        </p:nvSpPr>
        <p:spPr>
          <a:xfrm>
            <a:off x="548640" y="1965960"/>
            <a:ext cx="457200" cy="457200"/>
          </a:xfrm>
          <a:prstGeom prst="ellipse">
            <a:avLst/>
          </a:prstGeom>
          <a:solidFill>
            <a:srgbClr val="4F6F64"/>
          </a:solidFill>
          <a:ln/>
        </p:spPr>
      </p:sp>
      <p:sp>
        <p:nvSpPr>
          <p:cNvPr id="5" name="Text 3"/>
          <p:cNvSpPr txBox="1"/>
          <p:nvPr/>
        </p:nvSpPr>
        <p:spPr>
          <a:xfrm>
            <a:off x="548640" y="1965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234440" y="1911096"/>
            <a:ext cx="10104120" cy="80467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Manual  =  reviewing every commit by hand</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reads run free; every edit and most shell commands stop and ask. Best for sensitive code.</a:t>
            </a:r>
            <a:endParaRPr lang="en-US" sz="1500" dirty="0"/>
          </a:p>
        </p:txBody>
      </p:sp>
      <p:sp>
        <p:nvSpPr>
          <p:cNvPr id="7" name="Shape 5"/>
          <p:cNvSpPr/>
          <p:nvPr/>
        </p:nvSpPr>
        <p:spPr>
          <a:xfrm>
            <a:off x="548640" y="2770632"/>
            <a:ext cx="457200" cy="457200"/>
          </a:xfrm>
          <a:prstGeom prst="ellipse">
            <a:avLst/>
          </a:prstGeom>
          <a:solidFill>
            <a:srgbClr val="4F6F64"/>
          </a:solidFill>
          <a:ln/>
        </p:spPr>
      </p:sp>
      <p:sp>
        <p:nvSpPr>
          <p:cNvPr id="8" name="Text 6"/>
          <p:cNvSpPr txBox="1"/>
          <p:nvPr/>
        </p:nvSpPr>
        <p:spPr>
          <a:xfrm>
            <a:off x="548640" y="2770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234440" y="2715768"/>
            <a:ext cx="10104120" cy="80467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acceptEdits  =  a trusted contributor's fast lane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edits and routine filesystem commands (mkdir, touch, mv, cp) run unprompted; good while you review as changes land.</a:t>
            </a:r>
            <a:endParaRPr lang="en-US" sz="1500" dirty="0"/>
          </a:p>
        </p:txBody>
      </p:sp>
      <p:sp>
        <p:nvSpPr>
          <p:cNvPr id="10" name="Shape 8"/>
          <p:cNvSpPr/>
          <p:nvPr/>
        </p:nvSpPr>
        <p:spPr>
          <a:xfrm>
            <a:off x="548640" y="3575304"/>
            <a:ext cx="457200" cy="457200"/>
          </a:xfrm>
          <a:prstGeom prst="ellipse">
            <a:avLst/>
          </a:prstGeom>
          <a:solidFill>
            <a:srgbClr val="4F6F64"/>
          </a:solidFill>
          <a:ln/>
        </p:spPr>
      </p:sp>
      <p:sp>
        <p:nvSpPr>
          <p:cNvPr id="11" name="Text 9"/>
          <p:cNvSpPr txBox="1"/>
          <p:nvPr/>
        </p:nvSpPr>
        <p:spPr>
          <a:xfrm>
            <a:off x="548640" y="35753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234440" y="3520440"/>
            <a:ext cx="10104120" cy="80467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Plan Mode  =  a design doc circulated before anyone touches the branch</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Claude reads and proposes; no edits happen until you approve the plan.</a:t>
            </a:r>
            <a:endParaRPr lang="en-US" sz="1500" dirty="0"/>
          </a:p>
        </p:txBody>
      </p:sp>
      <p:sp>
        <p:nvSpPr>
          <p:cNvPr id="13" name="Shape 11"/>
          <p:cNvSpPr/>
          <p:nvPr/>
        </p:nvSpPr>
        <p:spPr>
          <a:xfrm>
            <a:off x="548640" y="4379976"/>
            <a:ext cx="457200" cy="457200"/>
          </a:xfrm>
          <a:prstGeom prst="ellipse">
            <a:avLst/>
          </a:prstGeom>
          <a:solidFill>
            <a:srgbClr val="4F6F64"/>
          </a:solidFill>
          <a:ln/>
        </p:spPr>
      </p:sp>
      <p:sp>
        <p:nvSpPr>
          <p:cNvPr id="14" name="Text 12"/>
          <p:cNvSpPr txBox="1"/>
          <p:nvPr/>
        </p:nvSpPr>
        <p:spPr>
          <a:xfrm>
            <a:off x="548640" y="43799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234440" y="4325112"/>
            <a:ext cx="10104120" cy="80467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auto  =  a bot reviewer</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a classifier approves routine actions and escalates the unusual or risky ones to you.</a:t>
            </a:r>
            <a:endParaRPr lang="en-US" sz="1500" dirty="0"/>
          </a:p>
        </p:txBody>
      </p:sp>
      <p:sp>
        <p:nvSpPr>
          <p:cNvPr id="16" name="Shape 14"/>
          <p:cNvSpPr/>
          <p:nvPr/>
        </p:nvSpPr>
        <p:spPr>
          <a:xfrm>
            <a:off x="548640" y="5184648"/>
            <a:ext cx="457200" cy="457200"/>
          </a:xfrm>
          <a:prstGeom prst="ellipse">
            <a:avLst/>
          </a:prstGeom>
          <a:solidFill>
            <a:srgbClr val="8E3B2E"/>
          </a:solidFill>
          <a:ln/>
        </p:spPr>
      </p:sp>
      <p:sp>
        <p:nvSpPr>
          <p:cNvPr id="17" name="Text 15"/>
          <p:cNvSpPr txBox="1"/>
          <p:nvPr/>
        </p:nvSpPr>
        <p:spPr>
          <a:xfrm>
            <a:off x="548640" y="51846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234440" y="5129784"/>
            <a:ext cx="10104120" cy="80467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bypassPermissions  =  merging straight to main with branch protection off</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no prompts at all, even for destructive commands, so confine it to disposable containers and VMs.</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Project Memory: CLAUDE.md, auto memory &amp; /init</a:t>
            </a:r>
            <a:endParaRPr lang="en-US" sz="3200" dirty="0"/>
          </a:p>
        </p:txBody>
      </p:sp>
      <p:sp>
        <p:nvSpPr>
          <p:cNvPr id="3" name="Text 1"/>
          <p:cNvSpPr txBox="1"/>
          <p:nvPr/>
        </p:nvSpPr>
        <p:spPr>
          <a:xfrm>
            <a:off x="548640" y="1188720"/>
            <a:ext cx="10789920" cy="5943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Every session starts with a fresh context window. Two things carry your project's standards across sessions: a file you write, and notes Claude writes for itself.</a:t>
            </a:r>
            <a:endParaRPr lang="en-US" sz="1500" dirty="0"/>
          </a:p>
        </p:txBody>
      </p:sp>
      <p:sp>
        <p:nvSpPr>
          <p:cNvPr id="4" name="Shape 2"/>
          <p:cNvSpPr/>
          <p:nvPr/>
        </p:nvSpPr>
        <p:spPr>
          <a:xfrm>
            <a:off x="548640" y="1965960"/>
            <a:ext cx="457200" cy="457200"/>
          </a:xfrm>
          <a:prstGeom prst="ellipse">
            <a:avLst/>
          </a:prstGeom>
          <a:solidFill>
            <a:srgbClr val="C15F3C"/>
          </a:solidFill>
          <a:ln/>
        </p:spPr>
      </p:sp>
      <p:sp>
        <p:nvSpPr>
          <p:cNvPr id="5" name="Text 3"/>
          <p:cNvSpPr txBox="1"/>
          <p:nvPr/>
        </p:nvSpPr>
        <p:spPr>
          <a:xfrm>
            <a:off x="548640" y="1965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234440" y="1911096"/>
            <a:ext cx="10104120" cy="89611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CLAUDE.md is the file you write; auto memory is the notes Claude writes</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both load as context at session start; for auto memory, the first 200 lines or 25 KB load.</a:t>
            </a:r>
            <a:endParaRPr lang="en-US" sz="1500" dirty="0"/>
          </a:p>
        </p:txBody>
      </p:sp>
      <p:sp>
        <p:nvSpPr>
          <p:cNvPr id="7" name="Shape 5"/>
          <p:cNvSpPr/>
          <p:nvPr/>
        </p:nvSpPr>
        <p:spPr>
          <a:xfrm>
            <a:off x="548640" y="2862072"/>
            <a:ext cx="457200" cy="457200"/>
          </a:xfrm>
          <a:prstGeom prst="ellipse">
            <a:avLst/>
          </a:prstGeom>
          <a:solidFill>
            <a:srgbClr val="C15F3C"/>
          </a:solidFill>
          <a:ln/>
        </p:spPr>
      </p:sp>
      <p:sp>
        <p:nvSpPr>
          <p:cNvPr id="8" name="Text 6"/>
          <p:cNvSpPr txBox="1"/>
          <p:nvPr/>
        </p:nvSpPr>
        <p:spPr>
          <a:xfrm>
            <a:off x="548640" y="2862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234440" y="2807208"/>
            <a:ext cx="10104120" cy="89611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It is context, not enforcement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Claude usually follows it but nothing guarantees it; hooks and settings enforce, CLAUDE.md guides.</a:t>
            </a:r>
            <a:endParaRPr lang="en-US" sz="1500" dirty="0"/>
          </a:p>
        </p:txBody>
      </p:sp>
      <p:sp>
        <p:nvSpPr>
          <p:cNvPr id="10" name="Shape 8"/>
          <p:cNvSpPr/>
          <p:nvPr/>
        </p:nvSpPr>
        <p:spPr>
          <a:xfrm>
            <a:off x="548640" y="3758184"/>
            <a:ext cx="457200" cy="457200"/>
          </a:xfrm>
          <a:prstGeom prst="ellipse">
            <a:avLst/>
          </a:prstGeom>
          <a:solidFill>
            <a:srgbClr val="C15F3C"/>
          </a:solidFill>
          <a:ln/>
        </p:spPr>
      </p:sp>
      <p:sp>
        <p:nvSpPr>
          <p:cNvPr id="11" name="Text 9"/>
          <p:cNvSpPr txBox="1"/>
          <p:nvPr/>
        </p:nvSpPr>
        <p:spPr>
          <a:xfrm>
            <a:off x="548640" y="37581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234440" y="3703320"/>
            <a:ext cx="10104120" cy="89611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/init generates a starting file from the codebase itself</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build commands, test instructions, and conventions Claude can discover; you add what only your team knows.</a:t>
            </a:r>
            <a:endParaRPr lang="en-US" sz="1500" dirty="0"/>
          </a:p>
        </p:txBody>
      </p:sp>
      <p:sp>
        <p:nvSpPr>
          <p:cNvPr id="13" name="Shape 11"/>
          <p:cNvSpPr/>
          <p:nvPr/>
        </p:nvSpPr>
        <p:spPr>
          <a:xfrm>
            <a:off x="548640" y="4654296"/>
            <a:ext cx="457200" cy="457200"/>
          </a:xfrm>
          <a:prstGeom prst="ellipse">
            <a:avLst/>
          </a:prstGeom>
          <a:solidFill>
            <a:srgbClr val="C15F3C"/>
          </a:solidFill>
          <a:ln/>
        </p:spPr>
      </p:sp>
      <p:sp>
        <p:nvSpPr>
          <p:cNvPr id="14" name="Text 12"/>
          <p:cNvSpPr txBox="1"/>
          <p:nvPr/>
        </p:nvSpPr>
        <p:spPr>
          <a:xfrm>
            <a:off x="548640" y="46542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234440" y="4599432"/>
            <a:ext cx="10104120" cy="89611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/context shows what loaded</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 Memory files list is how you confirm a CLAUDE.md was picked up; /memory opens it for editing.</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CLAUDE.md Locations and Load Order</a:t>
            </a:r>
            <a:endParaRPr lang="en-US" sz="3200" dirty="0"/>
          </a:p>
        </p:txBody>
      </p:sp>
      <p:sp>
        <p:nvSpPr>
          <p:cNvPr id="3" name="Text 1"/>
          <p:cNvSpPr txBox="1"/>
          <p:nvPr/>
        </p:nvSpPr>
        <p:spPr>
          <a:xfrm>
            <a:off x="548640" y="1188720"/>
            <a:ext cx="10789920" cy="5943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Broad to specific. All files are concatenated into context; none overrides another, so contradictions are resolved by the model, not by precedence.</a:t>
            </a:r>
            <a:endParaRPr lang="en-US" sz="1500" dirty="0"/>
          </a:p>
        </p:txBody>
      </p:sp>
      <p:sp>
        <p:nvSpPr>
          <p:cNvPr id="4" name="Shape 2"/>
          <p:cNvSpPr/>
          <p:nvPr/>
        </p:nvSpPr>
        <p:spPr>
          <a:xfrm>
            <a:off x="548640" y="1874520"/>
            <a:ext cx="384048" cy="384048"/>
          </a:xfrm>
          <a:prstGeom prst="ellipse">
            <a:avLst/>
          </a:prstGeom>
          <a:solidFill>
            <a:srgbClr val="4F6F64"/>
          </a:solidFill>
          <a:ln/>
        </p:spPr>
      </p:sp>
      <p:sp>
        <p:nvSpPr>
          <p:cNvPr id="5" name="Text 3"/>
          <p:cNvSpPr txBox="1"/>
          <p:nvPr/>
        </p:nvSpPr>
        <p:spPr>
          <a:xfrm>
            <a:off x="548640" y="1874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61288" y="1819656"/>
            <a:ext cx="10177272" cy="71323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Managed policy: /etc/claude-code/CLAUDE.md (Linux, WSL)</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macOS: /Library/Application Support/ClaudeCode/; Windows: C:\Program Files\ClaudeCode\. Whole organization; users cannot exclude it.</a:t>
            </a:r>
            <a:endParaRPr lang="en-US" sz="1500" dirty="0"/>
          </a:p>
        </p:txBody>
      </p:sp>
      <p:sp>
        <p:nvSpPr>
          <p:cNvPr id="7" name="Shape 5"/>
          <p:cNvSpPr/>
          <p:nvPr/>
        </p:nvSpPr>
        <p:spPr>
          <a:xfrm>
            <a:off x="548640" y="2587752"/>
            <a:ext cx="384048" cy="384048"/>
          </a:xfrm>
          <a:prstGeom prst="ellipse">
            <a:avLst/>
          </a:prstGeom>
          <a:solidFill>
            <a:srgbClr val="4F6F64"/>
          </a:solidFill>
          <a:ln/>
        </p:spPr>
      </p:sp>
      <p:sp>
        <p:nvSpPr>
          <p:cNvPr id="8" name="Text 6"/>
          <p:cNvSpPr txBox="1"/>
          <p:nvPr/>
        </p:nvSpPr>
        <p:spPr>
          <a:xfrm>
            <a:off x="548640" y="258775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61288" y="2532888"/>
            <a:ext cx="10177272" cy="71323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User: ~/.claude/CLAUDE.md</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your preferences in every project.</a:t>
            </a:r>
            <a:endParaRPr lang="en-US" sz="1500" dirty="0"/>
          </a:p>
        </p:txBody>
      </p:sp>
      <p:sp>
        <p:nvSpPr>
          <p:cNvPr id="10" name="Shape 8"/>
          <p:cNvSpPr/>
          <p:nvPr/>
        </p:nvSpPr>
        <p:spPr>
          <a:xfrm>
            <a:off x="548640" y="3300984"/>
            <a:ext cx="384048" cy="384048"/>
          </a:xfrm>
          <a:prstGeom prst="ellipse">
            <a:avLst/>
          </a:prstGeom>
          <a:solidFill>
            <a:srgbClr val="4F6F64"/>
          </a:solidFill>
          <a:ln/>
        </p:spPr>
      </p:sp>
      <p:sp>
        <p:nvSpPr>
          <p:cNvPr id="11" name="Text 9"/>
          <p:cNvSpPr txBox="1"/>
          <p:nvPr/>
        </p:nvSpPr>
        <p:spPr>
          <a:xfrm>
            <a:off x="548640" y="330098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61288" y="3246120"/>
            <a:ext cx="10177272" cy="71323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Project: ./CLAUDE.md or ./.claude/CLAUDE.md</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committed and shared with the team; the file the lab edits.</a:t>
            </a:r>
            <a:endParaRPr lang="en-US" sz="1500" dirty="0"/>
          </a:p>
        </p:txBody>
      </p:sp>
      <p:sp>
        <p:nvSpPr>
          <p:cNvPr id="13" name="Shape 11"/>
          <p:cNvSpPr/>
          <p:nvPr/>
        </p:nvSpPr>
        <p:spPr>
          <a:xfrm>
            <a:off x="548640" y="4014216"/>
            <a:ext cx="384048" cy="384048"/>
          </a:xfrm>
          <a:prstGeom prst="ellipse">
            <a:avLst/>
          </a:prstGeom>
          <a:solidFill>
            <a:srgbClr val="4F6F64"/>
          </a:solidFill>
          <a:ln/>
        </p:spPr>
      </p:sp>
      <p:sp>
        <p:nvSpPr>
          <p:cNvPr id="14" name="Text 12"/>
          <p:cNvSpPr txBox="1"/>
          <p:nvPr/>
        </p:nvSpPr>
        <p:spPr>
          <a:xfrm>
            <a:off x="548640" y="401421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61288" y="3959352"/>
            <a:ext cx="10177272" cy="71323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Local: ./CLAUDE.local.md</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yours alone in this project; add it to .gitignore.</a:t>
            </a:r>
            <a:endParaRPr lang="en-US" sz="1500" dirty="0"/>
          </a:p>
        </p:txBody>
      </p:sp>
      <p:sp>
        <p:nvSpPr>
          <p:cNvPr id="16" name="Shape 14"/>
          <p:cNvSpPr/>
          <p:nvPr/>
        </p:nvSpPr>
        <p:spPr>
          <a:xfrm>
            <a:off x="548640" y="4727448"/>
            <a:ext cx="384048" cy="384048"/>
          </a:xfrm>
          <a:prstGeom prst="ellipse">
            <a:avLst/>
          </a:prstGeom>
          <a:solidFill>
            <a:srgbClr val="4F6F64"/>
          </a:solidFill>
          <a:ln/>
        </p:spPr>
      </p:sp>
      <p:sp>
        <p:nvSpPr>
          <p:cNvPr id="17" name="Text 15"/>
          <p:cNvSpPr txBox="1"/>
          <p:nvPr/>
        </p:nvSpPr>
        <p:spPr>
          <a:xfrm>
            <a:off x="548640" y="472744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61288" y="4672584"/>
            <a:ext cx="10177272" cy="71323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Parent directories load at launch; subdirectory files load on demand</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libbb/CLAUDE.md loads when Claude reads a file under libbb/.</a:t>
            </a:r>
            <a:endParaRPr lang="en-US" sz="1500" dirty="0"/>
          </a:p>
        </p:txBody>
      </p:sp>
      <p:sp>
        <p:nvSpPr>
          <p:cNvPr id="19" name="Shape 17"/>
          <p:cNvSpPr/>
          <p:nvPr/>
        </p:nvSpPr>
        <p:spPr>
          <a:xfrm>
            <a:off x="548640" y="5486400"/>
            <a:ext cx="457200" cy="457200"/>
          </a:xfrm>
          <a:prstGeom prst="ellipse">
            <a:avLst/>
          </a:prstGeom>
          <a:solidFill>
            <a:srgbClr val="8E3B2E"/>
          </a:solidFill>
          <a:ln/>
        </p:spPr>
      </p:sp>
      <p:sp>
        <p:nvSpPr>
          <p:cNvPr id="20" name="Text 18"/>
          <p:cNvSpPr txBox="1"/>
          <p:nvPr/>
        </p:nvSpPr>
        <p:spPr>
          <a:xfrm>
            <a:off x="548640" y="5486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1" name="Text 19"/>
          <p:cNvSpPr txBox="1"/>
          <p:nvPr/>
        </p:nvSpPr>
        <p:spPr>
          <a:xfrm>
            <a:off x="1234440" y="543153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The managed file does not exist after install</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an administrator deploys it; absent is normal. Lab guide B2 creates one with sudo mkdir -p /etc/claude-code to demonstrate.</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What Goes in CLAUDE.md, and What Stays Out</a:t>
            </a:r>
            <a:endParaRPr lang="en-US" sz="3200" dirty="0"/>
          </a:p>
        </p:txBody>
      </p:sp>
      <p:sp>
        <p:nvSpPr>
          <p:cNvPr id="3" name="Text 1"/>
          <p:cNvSpPr txBox="1"/>
          <p:nvPr/>
        </p:nvSpPr>
        <p:spPr>
          <a:xfrm>
            <a:off x="548640" y="1188720"/>
            <a:ext cx="10789920" cy="3657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Test every line: would removing it cause a mistake? If Claude can learn it by reading the code, leave it out.</a:t>
            </a:r>
            <a:endParaRPr lang="en-US" sz="1500" dirty="0"/>
          </a:p>
        </p:txBody>
      </p:sp>
      <p:sp>
        <p:nvSpPr>
          <p:cNvPr id="4" name="Shape 2"/>
          <p:cNvSpPr/>
          <p:nvPr/>
        </p:nvSpPr>
        <p:spPr>
          <a:xfrm>
            <a:off x="548640" y="1737360"/>
            <a:ext cx="5234940" cy="2468880"/>
          </a:xfrm>
          <a:prstGeom prst="roundRect">
            <a:avLst>
              <a:gd name="adj" fmla="val 3704"/>
            </a:avLst>
          </a:prstGeom>
          <a:solidFill>
            <a:srgbClr val="F3EFE8"/>
          </a:solidFill>
          <a:ln/>
          <a:effectLst>
            <a:outerShdw sx="100000" sy="100000" kx="0" ky="0" algn="bl" rotWithShape="0" blurRad="76200" dist="25400" dir="5400000">
              <a:srgbClr val="000000">
                <a:alpha val="18000"/>
              </a:srgbClr>
            </a:outerShdw>
          </a:effectLst>
        </p:spPr>
      </p:sp>
      <p:sp>
        <p:nvSpPr>
          <p:cNvPr id="5" name="Text 3"/>
          <p:cNvSpPr txBox="1"/>
          <p:nvPr/>
        </p:nvSpPr>
        <p:spPr>
          <a:xfrm>
            <a:off x="777240" y="1938528"/>
            <a:ext cx="4777740" cy="2066544"/>
          </a:xfrm>
          <a:prstGeom prst="rect">
            <a:avLst/>
          </a:prstGeom>
          <a:noFill/>
          <a:ln/>
        </p:spPr>
        <p:txBody>
          <a:bodyPr wrap="square" lIns="0" tIns="0" rIns="0" bIns="0" rtlCol="0" anchor="t"/>
          <a:lstStyle/>
          <a:p>
            <a:pPr indent="0" marL="0">
              <a:spcAft>
                <a:spcPts val="400"/>
              </a:spcAft>
              <a:buNone/>
            </a:pPr>
            <a:r>
              <a:rPr lang="en-US" sz="1500" b="1" dirty="0">
                <a:solidFill>
                  <a:srgbClr val="262320"/>
                </a:solidFill>
                <a:latin typeface="Calibri" pitchFamily="34" charset="0"/>
                <a:ea typeface="Calibri" pitchFamily="34" charset="-122"/>
                <a:cs typeface="Calibri" pitchFamily="34" charset="-120"/>
              </a:rPr>
              <a:t>Include</a:t>
            </a:r>
            <a:endParaRPr lang="en-US" sz="1500" dirty="0"/>
          </a:p>
          <a:p>
            <a:pPr indent="0" marL="0">
              <a:spcAft>
                <a:spcPts val="400"/>
              </a:spcAft>
              <a:buNone/>
            </a:pPr>
            <a:r>
              <a:rPr lang="en-US" sz="1050" b="1" dirty="0">
                <a:solidFill>
                  <a:srgbClr val="4F6F64"/>
                </a:solidFill>
                <a:latin typeface="Calibri" pitchFamily="34" charset="0"/>
                <a:ea typeface="Calibri" pitchFamily="34" charset="-122"/>
                <a:cs typeface="Calibri" pitchFamily="34" charset="-120"/>
              </a:rPr>
              <a:t>WHAT CLAUDE CANNOT GUESS</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Build, test, and lint commands, and how to run one test</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Style that differs from defaults; branch and commit conventions</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Required toolchain and environment variables, e.g. CROSS</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Gotchas and never-touch paths: .config, include/autoconf.h</a:t>
            </a:r>
            <a:endParaRPr lang="en-US" sz="1500" dirty="0"/>
          </a:p>
        </p:txBody>
      </p:sp>
      <p:sp>
        <p:nvSpPr>
          <p:cNvPr id="6" name="Shape 4"/>
          <p:cNvSpPr/>
          <p:nvPr/>
        </p:nvSpPr>
        <p:spPr>
          <a:xfrm>
            <a:off x="6103620" y="1737360"/>
            <a:ext cx="5234940" cy="2468880"/>
          </a:xfrm>
          <a:prstGeom prst="roundRect">
            <a:avLst>
              <a:gd name="adj" fmla="val 3704"/>
            </a:avLst>
          </a:prstGeom>
          <a:solidFill>
            <a:srgbClr val="F3EFE8"/>
          </a:solidFill>
          <a:ln/>
          <a:effectLst>
            <a:outerShdw sx="100000" sy="100000" kx="0" ky="0" algn="bl" rotWithShape="0" blurRad="76200" dist="25400" dir="5400000">
              <a:srgbClr val="000000">
                <a:alpha val="18000"/>
              </a:srgbClr>
            </a:outerShdw>
          </a:effectLst>
        </p:spPr>
      </p:sp>
      <p:sp>
        <p:nvSpPr>
          <p:cNvPr id="7" name="Text 5"/>
          <p:cNvSpPr txBox="1"/>
          <p:nvPr/>
        </p:nvSpPr>
        <p:spPr>
          <a:xfrm>
            <a:off x="6332220" y="1938528"/>
            <a:ext cx="4777740" cy="2066544"/>
          </a:xfrm>
          <a:prstGeom prst="rect">
            <a:avLst/>
          </a:prstGeom>
          <a:noFill/>
          <a:ln/>
        </p:spPr>
        <p:txBody>
          <a:bodyPr wrap="square" lIns="0" tIns="0" rIns="0" bIns="0" rtlCol="0" anchor="t"/>
          <a:lstStyle/>
          <a:p>
            <a:pPr indent="0" marL="0">
              <a:spcAft>
                <a:spcPts val="400"/>
              </a:spcAft>
              <a:buNone/>
            </a:pPr>
            <a:r>
              <a:rPr lang="en-US" sz="1500" b="1" dirty="0">
                <a:solidFill>
                  <a:srgbClr val="262320"/>
                </a:solidFill>
                <a:latin typeface="Calibri" pitchFamily="34" charset="0"/>
                <a:ea typeface="Calibri" pitchFamily="34" charset="-122"/>
                <a:cs typeface="Calibri" pitchFamily="34" charset="-120"/>
              </a:rPr>
              <a:t>Exclude</a:t>
            </a:r>
            <a:endParaRPr lang="en-US" sz="1500" dirty="0"/>
          </a:p>
          <a:p>
            <a:pPr indent="0" marL="0">
              <a:spcAft>
                <a:spcPts val="400"/>
              </a:spcAft>
              <a:buNone/>
            </a:pPr>
            <a:r>
              <a:rPr lang="en-US" sz="1050" b="1" dirty="0">
                <a:solidFill>
                  <a:srgbClr val="8E3B2E"/>
                </a:solidFill>
                <a:latin typeface="Calibri" pitchFamily="34" charset="0"/>
                <a:ea typeface="Calibri" pitchFamily="34" charset="-122"/>
                <a:cs typeface="Calibri" pitchFamily="34" charset="-120"/>
              </a:rPr>
              <a:t>WHAT IT CAN READ OR WHAT GOES STALE</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Anything learned by reading the code; file-by-file descriptions</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Standard C conventions and generic advice like write clean code</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Long API documentation: link it, or import it with @path</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Information that changes often</a:t>
            </a:r>
            <a:endParaRPr lang="en-US" sz="1500" dirty="0"/>
          </a:p>
        </p:txBody>
      </p:sp>
      <p:sp>
        <p:nvSpPr>
          <p:cNvPr id="8" name="Shape 6"/>
          <p:cNvSpPr/>
          <p:nvPr/>
        </p:nvSpPr>
        <p:spPr>
          <a:xfrm>
            <a:off x="548640" y="4526280"/>
            <a:ext cx="457200" cy="457200"/>
          </a:xfrm>
          <a:prstGeom prst="ellipse">
            <a:avLst/>
          </a:prstGeom>
          <a:solidFill>
            <a:srgbClr val="7A736A"/>
          </a:solidFill>
          <a:ln/>
        </p:spPr>
      </p:sp>
      <p:sp>
        <p:nvSpPr>
          <p:cNvPr id="9" name="Text 7"/>
          <p:cNvSpPr txBox="1"/>
          <p:nvPr/>
        </p:nvSpPr>
        <p:spPr>
          <a:xfrm>
            <a:off x="548640"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47141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Keep each file under 200 lines, concrete and checkable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"Run make check before committing", not "test your changes". Rule ignored anyway? Convert it to a hook.</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Worked Example: The BusyBox CLAUDE.md</a:t>
            </a:r>
            <a:endParaRPr lang="en-US" sz="3200" dirty="0"/>
          </a:p>
        </p:txBody>
      </p:sp>
      <p:sp>
        <p:nvSpPr>
          <p:cNvPr id="3" name="Text 1"/>
          <p:cNvSpPr txBox="1"/>
          <p:nvPr/>
        </p:nvSpPr>
        <p:spPr>
          <a:xfrm>
            <a:off x="548640" y="1188720"/>
            <a:ext cx="10789920" cy="5943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The file the lab builds up, shown in condensed form. /init writes Commands from what it finds; Conventions, Standards, and Do not touch are yours.</a:t>
            </a:r>
            <a:endParaRPr lang="en-US" sz="1500" dirty="0"/>
          </a:p>
        </p:txBody>
      </p:sp>
      <p:sp>
        <p:nvSpPr>
          <p:cNvPr id="4" name="Shape 2"/>
          <p:cNvSpPr/>
          <p:nvPr/>
        </p:nvSpPr>
        <p:spPr>
          <a:xfrm>
            <a:off x="548640" y="1828800"/>
            <a:ext cx="10789920" cy="4105656"/>
          </a:xfrm>
          <a:prstGeom prst="roundRect">
            <a:avLst>
              <a:gd name="adj" fmla="val 1782"/>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947672"/>
            <a:ext cx="10241280" cy="24231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Project: BusyBox 1.35.0 lab (C, Kconfig, multi-call binary)</a:t>
            </a:r>
            <a:endParaRPr lang="en-US" sz="1150" dirty="0"/>
          </a:p>
        </p:txBody>
      </p:sp>
      <p:sp>
        <p:nvSpPr>
          <p:cNvPr id="6" name="Text 4"/>
          <p:cNvSpPr txBox="1"/>
          <p:nvPr/>
        </p:nvSpPr>
        <p:spPr>
          <a:xfrm>
            <a:off x="822960" y="2189988"/>
            <a:ext cx="10241280" cy="242316"/>
          </a:xfrm>
          <a:prstGeom prst="rect">
            <a:avLst/>
          </a:prstGeom>
          <a:noFill/>
          <a:ln/>
        </p:spPr>
        <p:txBody>
          <a:bodyPr wrap="square" lIns="0" tIns="0" rIns="0" bIns="0" rtlCol="0" anchor="ctr"/>
          <a:lstStyle/>
          <a:p>
            <a:pPr indent="0" marL="0">
              <a:buNone/>
            </a:pPr>
            <a:r>
              <a:rPr lang="en-US" sz="1050" dirty="0">
                <a:solidFill>
                  <a:srgbClr val="F3EFE8"/>
                </a:solidFill>
                <a:latin typeface="Courier New" pitchFamily="34" charset="0"/>
                <a:ea typeface="Courier New" pitchFamily="34" charset="-122"/>
                <a:cs typeface="Courier New" pitchFamily="34" charset="-120"/>
              </a:rPr>
              <a:t>## Commands</a:t>
            </a:r>
            <a:endParaRPr lang="en-US" sz="1050" dirty="0"/>
          </a:p>
        </p:txBody>
      </p:sp>
      <p:sp>
        <p:nvSpPr>
          <p:cNvPr id="7" name="Text 5"/>
          <p:cNvSpPr txBox="1"/>
          <p:nvPr/>
        </p:nvSpPr>
        <p:spPr>
          <a:xfrm>
            <a:off x="822960" y="2432304"/>
            <a:ext cx="10241280" cy="24231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Build native: make -j$(nproc)     - Build ARM: scripts/build.sh (CROSS=arm-linux-gnueabihf-, output build-arm/)</a:t>
            </a:r>
            <a:endParaRPr lang="en-US" sz="1150" dirty="0"/>
          </a:p>
        </p:txBody>
      </p:sp>
      <p:sp>
        <p:nvSpPr>
          <p:cNvPr id="8" name="Text 6"/>
          <p:cNvSpPr txBox="1"/>
          <p:nvPr/>
        </p:nvSpPr>
        <p:spPr>
          <a:xfrm>
            <a:off x="822960" y="2674620"/>
            <a:ext cx="10241280" cy="24231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Test: the command verified in lab 1.3     - Run one applet: ./busybox &lt;applet&gt; ...</a:t>
            </a:r>
            <a:endParaRPr lang="en-US" sz="1150" dirty="0"/>
          </a:p>
        </p:txBody>
      </p:sp>
      <p:sp>
        <p:nvSpPr>
          <p:cNvPr id="9" name="Text 7"/>
          <p:cNvSpPr txBox="1"/>
          <p:nvPr/>
        </p:nvSpPr>
        <p:spPr>
          <a:xfrm>
            <a:off x="822960" y="2916936"/>
            <a:ext cx="10241280" cy="242316"/>
          </a:xfrm>
          <a:prstGeom prst="rect">
            <a:avLst/>
          </a:prstGeom>
          <a:noFill/>
          <a:ln/>
        </p:spPr>
        <p:txBody>
          <a:bodyPr wrap="square" lIns="0" tIns="0" rIns="0" bIns="0" rtlCol="0" anchor="ctr"/>
          <a:lstStyle/>
          <a:p>
            <a:pPr indent="0" marL="0">
              <a:buNone/>
            </a:pPr>
            <a:r>
              <a:rPr lang="en-US" sz="1050" dirty="0">
                <a:solidFill>
                  <a:srgbClr val="F3EFE8"/>
                </a:solidFill>
                <a:latin typeface="Courier New" pitchFamily="34" charset="0"/>
                <a:ea typeface="Courier New" pitchFamily="34" charset="-122"/>
                <a:cs typeface="Courier New" pitchFamily="34" charset="-120"/>
              </a:rPr>
              <a:t>## Conventions</a:t>
            </a:r>
            <a:endParaRPr lang="en-US" sz="1050" dirty="0"/>
          </a:p>
        </p:txBody>
      </p:sp>
      <p:sp>
        <p:nvSpPr>
          <p:cNvPr id="10" name="Text 8"/>
          <p:cNvSpPr txBox="1"/>
          <p:nvPr/>
        </p:nvSpPr>
        <p:spPr>
          <a:xfrm>
            <a:off x="822960" y="3159252"/>
            <a:ext cx="10241280" cy="24231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Applets live in coreutils/, miscutils/ etc.; shared helpers in libbb/</a:t>
            </a:r>
            <a:endParaRPr lang="en-US" sz="1150" dirty="0"/>
          </a:p>
        </p:txBody>
      </p:sp>
      <p:sp>
        <p:nvSpPr>
          <p:cNvPr id="11" name="Text 9"/>
          <p:cNvSpPr txBox="1"/>
          <p:nvPr/>
        </p:nvSpPr>
        <p:spPr>
          <a:xfrm>
            <a:off x="822960" y="3401568"/>
            <a:ext cx="10241280" cy="24231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A new applet needs the //config:, //kbuild:, //usage: blocks (copy from coreutils/cat.c)</a:t>
            </a:r>
            <a:endParaRPr lang="en-US" sz="1150" dirty="0"/>
          </a:p>
        </p:txBody>
      </p:sp>
      <p:sp>
        <p:nvSpPr>
          <p:cNvPr id="12" name="Text 10"/>
          <p:cNvSpPr txBox="1"/>
          <p:nvPr/>
        </p:nvSpPr>
        <p:spPr>
          <a:xfrm>
            <a:off x="822960" y="3643884"/>
            <a:ext cx="10241280" cy="24231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Shell: bash, set -euo pipefail, shellcheck clean     - Python: 3, stdlib only</a:t>
            </a:r>
            <a:endParaRPr lang="en-US" sz="1150" dirty="0"/>
          </a:p>
        </p:txBody>
      </p:sp>
      <p:sp>
        <p:nvSpPr>
          <p:cNvPr id="13" name="Text 11"/>
          <p:cNvSpPr txBox="1"/>
          <p:nvPr/>
        </p:nvSpPr>
        <p:spPr>
          <a:xfrm>
            <a:off x="822960" y="3886200"/>
            <a:ext cx="10241280" cy="242316"/>
          </a:xfrm>
          <a:prstGeom prst="rect">
            <a:avLst/>
          </a:prstGeom>
          <a:noFill/>
          <a:ln/>
        </p:spPr>
        <p:txBody>
          <a:bodyPr wrap="square" lIns="0" tIns="0" rIns="0" bIns="0" rtlCol="0" anchor="ctr"/>
          <a:lstStyle/>
          <a:p>
            <a:pPr indent="0" marL="0">
              <a:buNone/>
            </a:pPr>
            <a:r>
              <a:rPr lang="en-US" sz="1050" dirty="0">
                <a:solidFill>
                  <a:srgbClr val="F3EFE8"/>
                </a:solidFill>
                <a:latin typeface="Courier New" pitchFamily="34" charset="0"/>
                <a:ea typeface="Courier New" pitchFamily="34" charset="-122"/>
                <a:cs typeface="Courier New" pitchFamily="34" charset="-120"/>
              </a:rPr>
              <a:t>## Standards</a:t>
            </a:r>
            <a:endParaRPr lang="en-US" sz="1050" dirty="0"/>
          </a:p>
        </p:txBody>
      </p:sp>
      <p:sp>
        <p:nvSpPr>
          <p:cNvPr id="14" name="Text 12"/>
          <p:cNvSpPr txBox="1"/>
          <p:nvPr/>
        </p:nvSpPr>
        <p:spPr>
          <a:xfrm>
            <a:off x="822960" y="4128516"/>
            <a:ext cx="10241280" cy="24231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Do not use strcpy, strcat, sprintf, gets; check every allocation and return value</a:t>
            </a:r>
            <a:endParaRPr lang="en-US" sz="1150" dirty="0"/>
          </a:p>
        </p:txBody>
      </p:sp>
      <p:sp>
        <p:nvSpPr>
          <p:cNvPr id="15" name="Text 13"/>
          <p:cNvSpPr txBox="1"/>
          <p:nvPr/>
        </p:nvSpPr>
        <p:spPr>
          <a:xfrm>
            <a:off x="822960" y="4370832"/>
            <a:ext cx="10241280" cy="24231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No new gcc warnings in files you change; new code needs a test in testsuite/</a:t>
            </a:r>
            <a:endParaRPr lang="en-US" sz="1150" dirty="0"/>
          </a:p>
        </p:txBody>
      </p:sp>
      <p:sp>
        <p:nvSpPr>
          <p:cNvPr id="16" name="Text 14"/>
          <p:cNvSpPr txBox="1"/>
          <p:nvPr/>
        </p:nvSpPr>
        <p:spPr>
          <a:xfrm>
            <a:off x="822960" y="4613148"/>
            <a:ext cx="10241280" cy="242316"/>
          </a:xfrm>
          <a:prstGeom prst="rect">
            <a:avLst/>
          </a:prstGeom>
          <a:noFill/>
          <a:ln/>
        </p:spPr>
        <p:txBody>
          <a:bodyPr wrap="square" lIns="0" tIns="0" rIns="0" bIns="0" rtlCol="0" anchor="ctr"/>
          <a:lstStyle/>
          <a:p>
            <a:pPr indent="0" marL="0">
              <a:buNone/>
            </a:pPr>
            <a:r>
              <a:rPr lang="en-US" sz="1050" dirty="0">
                <a:solidFill>
                  <a:srgbClr val="F3EFE8"/>
                </a:solidFill>
                <a:latin typeface="Courier New" pitchFamily="34" charset="0"/>
                <a:ea typeface="Courier New" pitchFamily="34" charset="-122"/>
                <a:cs typeface="Courier New" pitchFamily="34" charset="-120"/>
              </a:rPr>
              <a:t>## Do not touch</a:t>
            </a:r>
            <a:endParaRPr lang="en-US" sz="1050" dirty="0"/>
          </a:p>
        </p:txBody>
      </p:sp>
      <p:sp>
        <p:nvSpPr>
          <p:cNvPr id="17" name="Text 15"/>
          <p:cNvSpPr txBox="1"/>
          <p:nvPr/>
        </p:nvSpPr>
        <p:spPr>
          <a:xfrm>
            <a:off x="822960" y="4855464"/>
            <a:ext cx="10241280" cy="24231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.config, include/autoconf.h, include/applet_tables.h (generated; use make); build-arm/</a:t>
            </a:r>
            <a:endParaRPr lang="en-US" sz="1150" dirty="0"/>
          </a:p>
        </p:txBody>
      </p:sp>
      <p:sp>
        <p:nvSpPr>
          <p:cNvPr id="18" name="Text 16"/>
          <p:cNvSpPr txBox="1"/>
          <p:nvPr/>
        </p:nvSpPr>
        <p:spPr>
          <a:xfrm>
            <a:off x="822960" y="5097780"/>
            <a:ext cx="10241280" cy="242316"/>
          </a:xfrm>
          <a:prstGeom prst="rect">
            <a:avLst/>
          </a:prstGeom>
          <a:noFill/>
          <a:ln/>
        </p:spPr>
        <p:txBody>
          <a:bodyPr wrap="square" lIns="0" tIns="0" rIns="0" bIns="0" rtlCol="0" anchor="ctr"/>
          <a:lstStyle/>
          <a:p>
            <a:pPr indent="0" marL="0">
              <a:buNone/>
            </a:pPr>
            <a:r>
              <a:rPr lang="en-US" sz="1050" dirty="0">
                <a:solidFill>
                  <a:srgbClr val="F3EFE8"/>
                </a:solidFill>
                <a:latin typeface="Courier New" pitchFamily="34" charset="0"/>
                <a:ea typeface="Courier New" pitchFamily="34" charset="-122"/>
                <a:cs typeface="Courier New" pitchFamily="34" charset="-120"/>
              </a:rPr>
              <a:t>## Verification / Compaction</a:t>
            </a:r>
            <a:endParaRPr lang="en-US" sz="1050" dirty="0"/>
          </a:p>
        </p:txBody>
      </p:sp>
      <p:sp>
        <p:nvSpPr>
          <p:cNvPr id="19" name="Text 17"/>
          <p:cNvSpPr txBox="1"/>
          <p:nvPr/>
        </p:nvSpPr>
        <p:spPr>
          <a:xfrm>
            <a:off x="822960" y="5340096"/>
            <a:ext cx="10241280" cy="24231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Show the command and its output as evidence before saying a task is done</a:t>
            </a:r>
            <a:endParaRPr lang="en-US" sz="1150" dirty="0"/>
          </a:p>
        </p:txBody>
      </p:sp>
      <p:sp>
        <p:nvSpPr>
          <p:cNvPr id="20" name="Text 18"/>
          <p:cNvSpPr txBox="1"/>
          <p:nvPr/>
        </p:nvSpPr>
        <p:spPr>
          <a:xfrm>
            <a:off x="822960" y="5582412"/>
            <a:ext cx="10241280" cy="24231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When compacting, preserve the list of modified files and the test command</a:t>
            </a:r>
            <a:endParaRPr lang="en-US" sz="115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Where Standards, Compliance &amp; Linting Go</a:t>
            </a:r>
            <a:endParaRPr lang="en-US" sz="3200" dirty="0"/>
          </a:p>
        </p:txBody>
      </p:sp>
      <p:sp>
        <p:nvSpPr>
          <p:cNvPr id="3" name="Text 1"/>
          <p:cNvSpPr txBox="1"/>
          <p:nvPr/>
        </p:nvSpPr>
        <p:spPr>
          <a:xfrm>
            <a:off x="548640" y="1188720"/>
            <a:ext cx="10789920" cy="3657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Not everything belongs in CLAUDE.md. Pick the mechanism by how strict the requirement is.</a:t>
            </a:r>
            <a:endParaRPr lang="en-US" sz="1500" dirty="0"/>
          </a:p>
        </p:txBody>
      </p:sp>
      <p:sp>
        <p:nvSpPr>
          <p:cNvPr id="4" name="Shape 2"/>
          <p:cNvSpPr/>
          <p:nvPr/>
        </p:nvSpPr>
        <p:spPr>
          <a:xfrm>
            <a:off x="548640" y="1691640"/>
            <a:ext cx="384048" cy="384048"/>
          </a:xfrm>
          <a:prstGeom prst="ellipse">
            <a:avLst/>
          </a:prstGeom>
          <a:solidFill>
            <a:srgbClr val="4F6F64"/>
          </a:solidFill>
          <a:ln/>
        </p:spPr>
      </p:sp>
      <p:sp>
        <p:nvSpPr>
          <p:cNvPr id="5" name="Text 3"/>
          <p:cNvSpPr txBox="1"/>
          <p:nvPr/>
        </p:nvSpPr>
        <p:spPr>
          <a:xfrm>
            <a:off x="548640" y="16916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61288" y="1636776"/>
            <a:ext cx="4690872" cy="89611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Summary and naming: CLAUDE.md</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always in context; advisory.</a:t>
            </a:r>
            <a:endParaRPr lang="en-US" sz="1400" dirty="0"/>
          </a:p>
        </p:txBody>
      </p:sp>
      <p:sp>
        <p:nvSpPr>
          <p:cNvPr id="7" name="Shape 5"/>
          <p:cNvSpPr/>
          <p:nvPr/>
        </p:nvSpPr>
        <p:spPr>
          <a:xfrm>
            <a:off x="548640" y="2587752"/>
            <a:ext cx="384048" cy="384048"/>
          </a:xfrm>
          <a:prstGeom prst="ellipse">
            <a:avLst/>
          </a:prstGeom>
          <a:solidFill>
            <a:srgbClr val="4F6F64"/>
          </a:solidFill>
          <a:ln/>
        </p:spPr>
      </p:sp>
      <p:sp>
        <p:nvSpPr>
          <p:cNvPr id="8" name="Text 6"/>
          <p:cNvSpPr txBox="1"/>
          <p:nvPr/>
        </p:nvSpPr>
        <p:spPr>
          <a:xfrm>
            <a:off x="548640" y="258775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61288" y="2532888"/>
            <a:ext cx="4690872" cy="89611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Some files only: .claude/rules/*.md</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with paths: such as **/*.c; loads when matching files are read.</a:t>
            </a:r>
            <a:endParaRPr lang="en-US" sz="1400" dirty="0"/>
          </a:p>
        </p:txBody>
      </p:sp>
      <p:sp>
        <p:nvSpPr>
          <p:cNvPr id="10" name="Shape 8"/>
          <p:cNvSpPr/>
          <p:nvPr/>
        </p:nvSpPr>
        <p:spPr>
          <a:xfrm>
            <a:off x="548640" y="3483864"/>
            <a:ext cx="384048" cy="384048"/>
          </a:xfrm>
          <a:prstGeom prst="ellipse">
            <a:avLst/>
          </a:prstGeom>
          <a:solidFill>
            <a:srgbClr val="4F6F64"/>
          </a:solidFill>
          <a:ln/>
        </p:spPr>
      </p:sp>
      <p:sp>
        <p:nvSpPr>
          <p:cNvPr id="11" name="Text 9"/>
          <p:cNvSpPr txBox="1"/>
          <p:nvPr/>
        </p:nvSpPr>
        <p:spPr>
          <a:xfrm>
            <a:off x="548640" y="348386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61288" y="3429000"/>
            <a:ext cx="4690872" cy="89611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Multi-step procedure: a skill</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e.g. CVE triage; loads on demand.</a:t>
            </a:r>
            <a:endParaRPr lang="en-US" sz="1400" dirty="0"/>
          </a:p>
        </p:txBody>
      </p:sp>
      <p:sp>
        <p:nvSpPr>
          <p:cNvPr id="13" name="Shape 11"/>
          <p:cNvSpPr/>
          <p:nvPr/>
        </p:nvSpPr>
        <p:spPr>
          <a:xfrm>
            <a:off x="548640" y="4379976"/>
            <a:ext cx="384048" cy="384048"/>
          </a:xfrm>
          <a:prstGeom prst="ellipse">
            <a:avLst/>
          </a:prstGeom>
          <a:solidFill>
            <a:srgbClr val="4F6F64"/>
          </a:solidFill>
          <a:ln/>
        </p:spPr>
      </p:sp>
      <p:sp>
        <p:nvSpPr>
          <p:cNvPr id="14" name="Text 12"/>
          <p:cNvSpPr txBox="1"/>
          <p:nvPr/>
        </p:nvSpPr>
        <p:spPr>
          <a:xfrm>
            <a:off x="548640" y="437997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61288" y="4325112"/>
            <a:ext cx="4690872" cy="89611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Every time: a hook</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PreToolUse or PostToolUse; the model cannot skip it.</a:t>
            </a:r>
            <a:endParaRPr lang="en-US" sz="1400" dirty="0"/>
          </a:p>
        </p:txBody>
      </p:sp>
      <p:sp>
        <p:nvSpPr>
          <p:cNvPr id="16" name="Shape 14"/>
          <p:cNvSpPr/>
          <p:nvPr/>
        </p:nvSpPr>
        <p:spPr>
          <a:xfrm>
            <a:off x="6309360" y="1691640"/>
            <a:ext cx="384048" cy="384048"/>
          </a:xfrm>
          <a:prstGeom prst="ellipse">
            <a:avLst/>
          </a:prstGeom>
          <a:solidFill>
            <a:srgbClr val="C15F3C"/>
          </a:solidFill>
          <a:ln/>
        </p:spPr>
      </p:sp>
      <p:sp>
        <p:nvSpPr>
          <p:cNvPr id="17" name="Text 15"/>
          <p:cNvSpPr txBox="1"/>
          <p:nvPr/>
        </p:nvSpPr>
        <p:spPr>
          <a:xfrm>
            <a:off x="6309360" y="16916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6922008" y="1636776"/>
            <a:ext cx="4416552" cy="89611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Never: permissions.deny</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secrets, generated files; enforced by the client.</a:t>
            </a:r>
            <a:endParaRPr lang="en-US" sz="1400" dirty="0"/>
          </a:p>
        </p:txBody>
      </p:sp>
      <p:sp>
        <p:nvSpPr>
          <p:cNvPr id="19" name="Shape 17"/>
          <p:cNvSpPr/>
          <p:nvPr/>
        </p:nvSpPr>
        <p:spPr>
          <a:xfrm>
            <a:off x="6309360" y="2587752"/>
            <a:ext cx="384048" cy="384048"/>
          </a:xfrm>
          <a:prstGeom prst="ellipse">
            <a:avLst/>
          </a:prstGeom>
          <a:solidFill>
            <a:srgbClr val="C15F3C"/>
          </a:solidFill>
          <a:ln/>
        </p:spPr>
      </p:sp>
      <p:sp>
        <p:nvSpPr>
          <p:cNvPr id="20" name="Text 18"/>
          <p:cNvSpPr txBox="1"/>
          <p:nvPr/>
        </p:nvSpPr>
        <p:spPr>
          <a:xfrm>
            <a:off x="6309360" y="258775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1" name="Text 19"/>
          <p:cNvSpPr txBox="1"/>
          <p:nvPr/>
        </p:nvSpPr>
        <p:spPr>
          <a:xfrm>
            <a:off x="6922008" y="2532888"/>
            <a:ext cx="4416552" cy="89611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Team gate: CI</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-Wall -Wextra -Werror, linters, make check; independent of Claude.</a:t>
            </a:r>
            <a:endParaRPr lang="en-US" sz="1400" dirty="0"/>
          </a:p>
        </p:txBody>
      </p:sp>
      <p:sp>
        <p:nvSpPr>
          <p:cNvPr id="22" name="Shape 20"/>
          <p:cNvSpPr/>
          <p:nvPr/>
        </p:nvSpPr>
        <p:spPr>
          <a:xfrm>
            <a:off x="6309360" y="3483864"/>
            <a:ext cx="384048" cy="384048"/>
          </a:xfrm>
          <a:prstGeom prst="ellipse">
            <a:avLst/>
          </a:prstGeom>
          <a:solidFill>
            <a:srgbClr val="C15F3C"/>
          </a:solidFill>
          <a:ln/>
        </p:spPr>
      </p:sp>
      <p:sp>
        <p:nvSpPr>
          <p:cNvPr id="23" name="Text 21"/>
          <p:cNvSpPr txBox="1"/>
          <p:nvPr/>
        </p:nvSpPr>
        <p:spPr>
          <a:xfrm>
            <a:off x="6309360" y="348386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24" name="Text 22"/>
          <p:cNvSpPr txBox="1"/>
          <p:nvPr/>
        </p:nvSpPr>
        <p:spPr>
          <a:xfrm>
            <a:off x="6922008" y="3429000"/>
            <a:ext cx="4416552" cy="89611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Organization-wide: managed files</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managed CLAUDE.md and managed settings; users cannot override.</a:t>
            </a:r>
            <a:endParaRPr lang="en-US" sz="1400" dirty="0"/>
          </a:p>
        </p:txBody>
      </p:sp>
      <p:sp>
        <p:nvSpPr>
          <p:cNvPr id="25" name="Shape 23"/>
          <p:cNvSpPr/>
          <p:nvPr/>
        </p:nvSpPr>
        <p:spPr>
          <a:xfrm>
            <a:off x="548640" y="5440680"/>
            <a:ext cx="457200" cy="457200"/>
          </a:xfrm>
          <a:prstGeom prst="ellipse">
            <a:avLst/>
          </a:prstGeom>
          <a:solidFill>
            <a:srgbClr val="7A736A"/>
          </a:solidFill>
          <a:ln/>
        </p:spPr>
      </p:sp>
      <p:sp>
        <p:nvSpPr>
          <p:cNvPr id="26" name="Text 24"/>
          <p:cNvSpPr txBox="1"/>
          <p:nvPr/>
        </p:nvSpPr>
        <p:spPr>
          <a:xfrm>
            <a:off x="548640" y="5440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7" name="Text 25"/>
          <p:cNvSpPr txBox="1"/>
          <p:nvPr/>
        </p:nvSpPr>
        <p:spPr>
          <a:xfrm>
            <a:off x="1234440" y="538581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CLAUDE.md says it, hooks and settings enforce it, CI proves it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 C security rules in the lab use the second row: .claude/rules/c-security.md.</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Large and Monorepo: Layered CLAUDE.md</a:t>
            </a:r>
            <a:endParaRPr lang="en-US" sz="3200" dirty="0"/>
          </a:p>
        </p:txBody>
      </p:sp>
      <p:sp>
        <p:nvSpPr>
          <p:cNvPr id="3" name="Text 1"/>
          <p:cNvSpPr txBox="1"/>
          <p:nvPr/>
        </p:nvSpPr>
        <p:spPr>
          <a:xfrm>
            <a:off x="548640" y="1188720"/>
            <a:ext cx="10789920" cy="3657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The root file holds rules for every package; each package file holds only its own build, test, and conventions.</a:t>
            </a:r>
            <a:endParaRPr lang="en-US" sz="1500" dirty="0"/>
          </a:p>
        </p:txBody>
      </p:sp>
      <p:sp>
        <p:nvSpPr>
          <p:cNvPr id="4" name="Shape 2"/>
          <p:cNvSpPr/>
          <p:nvPr/>
        </p:nvSpPr>
        <p:spPr>
          <a:xfrm>
            <a:off x="548640" y="1691640"/>
            <a:ext cx="5394960" cy="3246120"/>
          </a:xfrm>
          <a:prstGeom prst="roundRect">
            <a:avLst>
              <a:gd name="adj" fmla="val 2254"/>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810512"/>
            <a:ext cx="484632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firmware/</a:t>
            </a:r>
            <a:endParaRPr lang="en-US" sz="1150" dirty="0"/>
          </a:p>
        </p:txBody>
      </p:sp>
      <p:sp>
        <p:nvSpPr>
          <p:cNvPr id="6" name="Text 4"/>
          <p:cNvSpPr txBox="1"/>
          <p:nvPr/>
        </p:nvSpPr>
        <p:spPr>
          <a:xfrm>
            <a:off x="822960" y="2084832"/>
            <a:ext cx="484632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CLAUDE.md          # org rules, commits</a:t>
            </a:r>
            <a:endParaRPr lang="en-US" sz="1150" dirty="0"/>
          </a:p>
        </p:txBody>
      </p:sp>
      <p:sp>
        <p:nvSpPr>
          <p:cNvPr id="7" name="Text 5"/>
          <p:cNvSpPr txBox="1"/>
          <p:nvPr/>
        </p:nvSpPr>
        <p:spPr>
          <a:xfrm>
            <a:off x="822960" y="2359152"/>
            <a:ext cx="484632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.claude/</a:t>
            </a:r>
            <a:endParaRPr lang="en-US" sz="1150" dirty="0"/>
          </a:p>
        </p:txBody>
      </p:sp>
      <p:sp>
        <p:nvSpPr>
          <p:cNvPr id="8" name="Text 6"/>
          <p:cNvSpPr txBox="1"/>
          <p:nvPr/>
        </p:nvSpPr>
        <p:spPr>
          <a:xfrm>
            <a:off x="822960" y="2633472"/>
            <a:ext cx="484632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settings.json    # deny rules, hooks</a:t>
            </a:r>
            <a:endParaRPr lang="en-US" sz="1150" dirty="0"/>
          </a:p>
        </p:txBody>
      </p:sp>
      <p:sp>
        <p:nvSpPr>
          <p:cNvPr id="9" name="Text 7"/>
          <p:cNvSpPr txBox="1"/>
          <p:nvPr/>
        </p:nvSpPr>
        <p:spPr>
          <a:xfrm>
            <a:off x="822960" y="2907792"/>
            <a:ext cx="484632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rules/c-security.md</a:t>
            </a:r>
            <a:endParaRPr lang="en-US" sz="1150" dirty="0"/>
          </a:p>
        </p:txBody>
      </p:sp>
      <p:sp>
        <p:nvSpPr>
          <p:cNvPr id="10" name="Text 8"/>
          <p:cNvSpPr txBox="1"/>
          <p:nvPr/>
        </p:nvSpPr>
        <p:spPr>
          <a:xfrm>
            <a:off x="822960" y="3182112"/>
            <a:ext cx="484632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busybox/</a:t>
            </a:r>
            <a:endParaRPr lang="en-US" sz="1150" dirty="0"/>
          </a:p>
        </p:txBody>
      </p:sp>
      <p:sp>
        <p:nvSpPr>
          <p:cNvPr id="11" name="Text 9"/>
          <p:cNvSpPr txBox="1"/>
          <p:nvPr/>
        </p:nvSpPr>
        <p:spPr>
          <a:xfrm>
            <a:off x="822960" y="3456432"/>
            <a:ext cx="484632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CLAUDE.md        # build, applets, tests</a:t>
            </a:r>
            <a:endParaRPr lang="en-US" sz="1150" dirty="0"/>
          </a:p>
        </p:txBody>
      </p:sp>
      <p:sp>
        <p:nvSpPr>
          <p:cNvPr id="12" name="Text 10"/>
          <p:cNvSpPr txBox="1"/>
          <p:nvPr/>
        </p:nvSpPr>
        <p:spPr>
          <a:xfrm>
            <a:off x="822960" y="3730752"/>
            <a:ext cx="484632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gst-plugin/</a:t>
            </a:r>
            <a:endParaRPr lang="en-US" sz="1150" dirty="0"/>
          </a:p>
        </p:txBody>
      </p:sp>
      <p:sp>
        <p:nvSpPr>
          <p:cNvPr id="13" name="Text 11"/>
          <p:cNvSpPr txBox="1"/>
          <p:nvPr/>
        </p:nvSpPr>
        <p:spPr>
          <a:xfrm>
            <a:off x="822960" y="4005072"/>
            <a:ext cx="484632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CLAUDE.md        # meson, GStreamer</a:t>
            </a:r>
            <a:endParaRPr lang="en-US" sz="1150" dirty="0"/>
          </a:p>
        </p:txBody>
      </p:sp>
      <p:sp>
        <p:nvSpPr>
          <p:cNvPr id="14" name="Text 12"/>
          <p:cNvSpPr txBox="1"/>
          <p:nvPr/>
        </p:nvSpPr>
        <p:spPr>
          <a:xfrm>
            <a:off x="822960" y="4279392"/>
            <a:ext cx="484632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toolchain/  CLAUDE.md</a:t>
            </a:r>
            <a:endParaRPr lang="en-US" sz="1150" dirty="0"/>
          </a:p>
        </p:txBody>
      </p:sp>
      <p:sp>
        <p:nvSpPr>
          <p:cNvPr id="15" name="Text 13"/>
          <p:cNvSpPr txBox="1"/>
          <p:nvPr/>
        </p:nvSpPr>
        <p:spPr>
          <a:xfrm>
            <a:off x="822960" y="4553712"/>
            <a:ext cx="484632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ci/         CLAUDE.md</a:t>
            </a:r>
            <a:endParaRPr lang="en-US" sz="1150" dirty="0"/>
          </a:p>
        </p:txBody>
      </p:sp>
      <p:sp>
        <p:nvSpPr>
          <p:cNvPr id="16" name="Shape 14"/>
          <p:cNvSpPr/>
          <p:nvPr/>
        </p:nvSpPr>
        <p:spPr>
          <a:xfrm>
            <a:off x="6217920" y="1691640"/>
            <a:ext cx="384048" cy="384048"/>
          </a:xfrm>
          <a:prstGeom prst="ellipse">
            <a:avLst/>
          </a:prstGeom>
          <a:solidFill>
            <a:srgbClr val="4F6F64"/>
          </a:solidFill>
          <a:ln/>
        </p:spPr>
      </p:sp>
      <p:sp>
        <p:nvSpPr>
          <p:cNvPr id="17" name="Text 15"/>
          <p:cNvSpPr txBox="1"/>
          <p:nvPr/>
        </p:nvSpPr>
        <p:spPr>
          <a:xfrm>
            <a:off x="6217920" y="16916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8" name="Text 16"/>
          <p:cNvSpPr txBox="1"/>
          <p:nvPr/>
        </p:nvSpPr>
        <p:spPr>
          <a:xfrm>
            <a:off x="6830568" y="1636776"/>
            <a:ext cx="4507992" cy="89611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Start in the package you work on</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its file and every ancestor's load at launch; from the root, package files load on demand.</a:t>
            </a:r>
            <a:endParaRPr lang="en-US" sz="1400" dirty="0"/>
          </a:p>
        </p:txBody>
      </p:sp>
      <p:sp>
        <p:nvSpPr>
          <p:cNvPr id="19" name="Shape 17"/>
          <p:cNvSpPr/>
          <p:nvPr/>
        </p:nvSpPr>
        <p:spPr>
          <a:xfrm>
            <a:off x="6217920" y="2587752"/>
            <a:ext cx="384048" cy="384048"/>
          </a:xfrm>
          <a:prstGeom prst="ellipse">
            <a:avLst/>
          </a:prstGeom>
          <a:solidFill>
            <a:srgbClr val="4F6F64"/>
          </a:solidFill>
          <a:ln/>
        </p:spPr>
      </p:sp>
      <p:sp>
        <p:nvSpPr>
          <p:cNvPr id="20" name="Text 18"/>
          <p:cNvSpPr txBox="1"/>
          <p:nvPr/>
        </p:nvSpPr>
        <p:spPr>
          <a:xfrm>
            <a:off x="6217920" y="258775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9"/>
          <p:cNvSpPr txBox="1"/>
          <p:nvPr/>
        </p:nvSpPr>
        <p:spPr>
          <a:xfrm>
            <a:off x="6830568" y="2532888"/>
            <a:ext cx="4507992" cy="89611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claudeMdExcludes skips noisy files</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in .claude/settings.local.json; a managed CLAUDE.md cannot be excluded.</a:t>
            </a:r>
            <a:endParaRPr lang="en-US" sz="1400" dirty="0"/>
          </a:p>
        </p:txBody>
      </p:sp>
      <p:sp>
        <p:nvSpPr>
          <p:cNvPr id="22" name="Shape 20"/>
          <p:cNvSpPr/>
          <p:nvPr/>
        </p:nvSpPr>
        <p:spPr>
          <a:xfrm>
            <a:off x="6217920" y="3483864"/>
            <a:ext cx="384048" cy="384048"/>
          </a:xfrm>
          <a:prstGeom prst="ellipse">
            <a:avLst/>
          </a:prstGeom>
          <a:solidFill>
            <a:srgbClr val="4F6F64"/>
          </a:solidFill>
          <a:ln/>
        </p:spPr>
      </p:sp>
      <p:sp>
        <p:nvSpPr>
          <p:cNvPr id="23" name="Text 21"/>
          <p:cNvSpPr txBox="1"/>
          <p:nvPr/>
        </p:nvSpPr>
        <p:spPr>
          <a:xfrm>
            <a:off x="6217920" y="348386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2"/>
          <p:cNvSpPr txBox="1"/>
          <p:nvPr/>
        </p:nvSpPr>
        <p:spPr>
          <a:xfrm>
            <a:off x="6830568" y="3429000"/>
            <a:ext cx="4507992" cy="89611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Scattered standards: one rules file</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a paths: glob beats many package files.</a:t>
            </a:r>
            <a:endParaRPr lang="en-US" sz="1400" dirty="0"/>
          </a:p>
        </p:txBody>
      </p:sp>
      <p:sp>
        <p:nvSpPr>
          <p:cNvPr id="25" name="Shape 23"/>
          <p:cNvSpPr/>
          <p:nvPr/>
        </p:nvSpPr>
        <p:spPr>
          <a:xfrm>
            <a:off x="6217920" y="4379976"/>
            <a:ext cx="384048" cy="384048"/>
          </a:xfrm>
          <a:prstGeom prst="ellipse">
            <a:avLst/>
          </a:prstGeom>
          <a:solidFill>
            <a:srgbClr val="4F6F64"/>
          </a:solidFill>
          <a:ln/>
        </p:spPr>
      </p:sp>
      <p:sp>
        <p:nvSpPr>
          <p:cNvPr id="26" name="Text 24"/>
          <p:cNvSpPr txBox="1"/>
          <p:nvPr/>
        </p:nvSpPr>
        <p:spPr>
          <a:xfrm>
            <a:off x="6217920" y="437997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txBox="1"/>
          <p:nvPr/>
        </p:nvSpPr>
        <p:spPr>
          <a:xfrm>
            <a:off x="6830568" y="4325112"/>
            <a:ext cx="4507992" cy="89611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Settings are not inherited</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each directory you start from needs its own settings file.</a:t>
            </a:r>
            <a:endParaRPr lang="en-US" sz="1400" dirty="0"/>
          </a:p>
        </p:txBody>
      </p:sp>
      <p:sp>
        <p:nvSpPr>
          <p:cNvPr id="28" name="Shape 26"/>
          <p:cNvSpPr/>
          <p:nvPr/>
        </p:nvSpPr>
        <p:spPr>
          <a:xfrm>
            <a:off x="548640" y="5257800"/>
            <a:ext cx="457200" cy="457200"/>
          </a:xfrm>
          <a:prstGeom prst="ellipse">
            <a:avLst/>
          </a:prstGeom>
          <a:solidFill>
            <a:srgbClr val="7A736A"/>
          </a:solidFill>
          <a:ln/>
        </p:spPr>
      </p:sp>
      <p:sp>
        <p:nvSpPr>
          <p:cNvPr id="29" name="Text 27"/>
          <p:cNvSpPr txBox="1"/>
          <p:nvPr/>
        </p:nvSpPr>
        <p:spPr>
          <a:xfrm>
            <a:off x="548640" y="5257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0" name="Text 28"/>
          <p:cNvSpPr txBox="1"/>
          <p:nvPr/>
        </p:nvSpPr>
        <p:spPr>
          <a:xfrm>
            <a:off x="1234440" y="520293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Lab 3.5 builds libbb/CLAUDE.md and compares /context from libbb/ and from the repo root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Also: --add-dir for sibling packages, skills inside a package, deny rules for vendor/ trees.</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settings.json: Purpose, Locations, Precedence</a:t>
            </a:r>
            <a:endParaRPr lang="en-US" sz="3200" dirty="0"/>
          </a:p>
        </p:txBody>
      </p:sp>
      <p:sp>
        <p:nvSpPr>
          <p:cNvPr id="3" name="Text 1"/>
          <p:cNvSpPr txBox="1"/>
          <p:nvPr/>
        </p:nvSpPr>
        <p:spPr>
          <a:xfrm>
            <a:off x="548640" y="1188720"/>
            <a:ext cx="10789920" cy="5943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CLAUDE.md guides the model; settings.json configures the client, which enforces it. Five layers, highest wins on conflicting values, lists merge.</a:t>
            </a:r>
            <a:endParaRPr lang="en-US" sz="1500" dirty="0"/>
          </a:p>
        </p:txBody>
      </p:sp>
      <p:sp>
        <p:nvSpPr>
          <p:cNvPr id="4" name="Shape 2"/>
          <p:cNvSpPr/>
          <p:nvPr/>
        </p:nvSpPr>
        <p:spPr>
          <a:xfrm>
            <a:off x="548640" y="1874520"/>
            <a:ext cx="384048" cy="384048"/>
          </a:xfrm>
          <a:prstGeom prst="ellipse">
            <a:avLst/>
          </a:prstGeom>
          <a:solidFill>
            <a:srgbClr val="4F6F64"/>
          </a:solidFill>
          <a:ln/>
        </p:spPr>
      </p:sp>
      <p:sp>
        <p:nvSpPr>
          <p:cNvPr id="5" name="Text 3"/>
          <p:cNvSpPr txBox="1"/>
          <p:nvPr/>
        </p:nvSpPr>
        <p:spPr>
          <a:xfrm>
            <a:off x="548640" y="1874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61288" y="1819656"/>
            <a:ext cx="10177272" cy="71323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Managed: /etc/claude-code/managed-settings.json (Linux, WSL)</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macOS: /Library/Application Support/ClaudeCode/; Windows: C:\Program Files\ClaudeCode\. Deployed by an admin; absent by default.</a:t>
            </a:r>
            <a:endParaRPr lang="en-US" sz="1500" dirty="0"/>
          </a:p>
        </p:txBody>
      </p:sp>
      <p:sp>
        <p:nvSpPr>
          <p:cNvPr id="7" name="Shape 5"/>
          <p:cNvSpPr/>
          <p:nvPr/>
        </p:nvSpPr>
        <p:spPr>
          <a:xfrm>
            <a:off x="548640" y="2587752"/>
            <a:ext cx="384048" cy="384048"/>
          </a:xfrm>
          <a:prstGeom prst="ellipse">
            <a:avLst/>
          </a:prstGeom>
          <a:solidFill>
            <a:srgbClr val="4F6F64"/>
          </a:solidFill>
          <a:ln/>
        </p:spPr>
      </p:sp>
      <p:sp>
        <p:nvSpPr>
          <p:cNvPr id="8" name="Text 6"/>
          <p:cNvSpPr txBox="1"/>
          <p:nvPr/>
        </p:nvSpPr>
        <p:spPr>
          <a:xfrm>
            <a:off x="548640" y="258775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61288" y="2532888"/>
            <a:ext cx="10177272" cy="71323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Command line: claude --settings &lt;file or json&gt;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this session only.</a:t>
            </a:r>
            <a:endParaRPr lang="en-US" sz="1500" dirty="0"/>
          </a:p>
        </p:txBody>
      </p:sp>
      <p:sp>
        <p:nvSpPr>
          <p:cNvPr id="10" name="Shape 8"/>
          <p:cNvSpPr/>
          <p:nvPr/>
        </p:nvSpPr>
        <p:spPr>
          <a:xfrm>
            <a:off x="548640" y="3300984"/>
            <a:ext cx="384048" cy="384048"/>
          </a:xfrm>
          <a:prstGeom prst="ellipse">
            <a:avLst/>
          </a:prstGeom>
          <a:solidFill>
            <a:srgbClr val="4F6F64"/>
          </a:solidFill>
          <a:ln/>
        </p:spPr>
      </p:sp>
      <p:sp>
        <p:nvSpPr>
          <p:cNvPr id="11" name="Text 9"/>
          <p:cNvSpPr txBox="1"/>
          <p:nvPr/>
        </p:nvSpPr>
        <p:spPr>
          <a:xfrm>
            <a:off x="548640" y="330098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61288" y="3246120"/>
            <a:ext cx="10177272" cy="71323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Project local: .claude/settings.local.json</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yours, this project; not committed.</a:t>
            </a:r>
            <a:endParaRPr lang="en-US" sz="1500" dirty="0"/>
          </a:p>
        </p:txBody>
      </p:sp>
      <p:sp>
        <p:nvSpPr>
          <p:cNvPr id="13" name="Shape 11"/>
          <p:cNvSpPr/>
          <p:nvPr/>
        </p:nvSpPr>
        <p:spPr>
          <a:xfrm>
            <a:off x="548640" y="4014216"/>
            <a:ext cx="384048" cy="384048"/>
          </a:xfrm>
          <a:prstGeom prst="ellipse">
            <a:avLst/>
          </a:prstGeom>
          <a:solidFill>
            <a:srgbClr val="4F6F64"/>
          </a:solidFill>
          <a:ln/>
        </p:spPr>
      </p:sp>
      <p:sp>
        <p:nvSpPr>
          <p:cNvPr id="14" name="Text 12"/>
          <p:cNvSpPr txBox="1"/>
          <p:nvPr/>
        </p:nvSpPr>
        <p:spPr>
          <a:xfrm>
            <a:off x="548640" y="401421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61288" y="3959352"/>
            <a:ext cx="10177272" cy="71323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Project shared: .claude/settings.json</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 team file; commit it.</a:t>
            </a:r>
            <a:endParaRPr lang="en-US" sz="1500" dirty="0"/>
          </a:p>
        </p:txBody>
      </p:sp>
      <p:sp>
        <p:nvSpPr>
          <p:cNvPr id="16" name="Shape 14"/>
          <p:cNvSpPr/>
          <p:nvPr/>
        </p:nvSpPr>
        <p:spPr>
          <a:xfrm>
            <a:off x="548640" y="4727448"/>
            <a:ext cx="384048" cy="384048"/>
          </a:xfrm>
          <a:prstGeom prst="ellipse">
            <a:avLst/>
          </a:prstGeom>
          <a:solidFill>
            <a:srgbClr val="4F6F64"/>
          </a:solidFill>
          <a:ln/>
        </p:spPr>
      </p:sp>
      <p:sp>
        <p:nvSpPr>
          <p:cNvPr id="17" name="Text 15"/>
          <p:cNvSpPr txBox="1"/>
          <p:nvPr/>
        </p:nvSpPr>
        <p:spPr>
          <a:xfrm>
            <a:off x="548640" y="472744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61288" y="4672584"/>
            <a:ext cx="10177272" cy="71323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User: ~/.claude/settings.json</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your defaults in every project.</a:t>
            </a:r>
            <a:endParaRPr lang="en-US" sz="1500" dirty="0"/>
          </a:p>
        </p:txBody>
      </p:sp>
      <p:sp>
        <p:nvSpPr>
          <p:cNvPr id="19" name="Shape 17"/>
          <p:cNvSpPr/>
          <p:nvPr/>
        </p:nvSpPr>
        <p:spPr>
          <a:xfrm>
            <a:off x="548640" y="5486400"/>
            <a:ext cx="457200" cy="457200"/>
          </a:xfrm>
          <a:prstGeom prst="ellipse">
            <a:avLst/>
          </a:prstGeom>
          <a:solidFill>
            <a:srgbClr val="7A736A"/>
          </a:solidFill>
          <a:ln/>
        </p:spPr>
      </p:sp>
      <p:sp>
        <p:nvSpPr>
          <p:cNvPr id="20" name="Text 18"/>
          <p:cNvSpPr txBox="1"/>
          <p:nvPr/>
        </p:nvSpPr>
        <p:spPr>
          <a:xfrm>
            <a:off x="548640" y="5486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1" name="Text 19"/>
          <p:cNvSpPr txBox="1"/>
          <p:nvPr/>
        </p:nvSpPr>
        <p:spPr>
          <a:xfrm>
            <a:off x="1234440" y="543153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Deny → ask → allow, first match decides; strict JSON; edits apply live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/status shows setting sources, /permissions the rules, /hooks the hooks, claude doctor flags errors.</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Guardrail Layers: What Each One Stops, and Misses</a:t>
            </a:r>
            <a:endParaRPr lang="en-US" sz="3200" dirty="0"/>
          </a:p>
        </p:txBody>
      </p:sp>
      <p:sp>
        <p:nvSpPr>
          <p:cNvPr id="3" name="Text 1"/>
          <p:cNvSpPr txBox="1"/>
          <p:nvPr/>
        </p:nvSpPr>
        <p:spPr>
          <a:xfrm>
            <a:off x="548640" y="1188720"/>
            <a:ext cx="10789920" cy="3657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No single layer is a security boundary. Combine them, then let CI have the last word.</a:t>
            </a:r>
            <a:endParaRPr lang="en-US" sz="1500" dirty="0"/>
          </a:p>
        </p:txBody>
      </p:sp>
      <p:sp>
        <p:nvSpPr>
          <p:cNvPr id="4" name="Shape 2"/>
          <p:cNvSpPr/>
          <p:nvPr/>
        </p:nvSpPr>
        <p:spPr>
          <a:xfrm>
            <a:off x="548640" y="1691640"/>
            <a:ext cx="384048" cy="384048"/>
          </a:xfrm>
          <a:prstGeom prst="ellipse">
            <a:avLst/>
          </a:prstGeom>
          <a:solidFill>
            <a:srgbClr val="4F6F64"/>
          </a:solidFill>
          <a:ln/>
        </p:spPr>
      </p:sp>
      <p:sp>
        <p:nvSpPr>
          <p:cNvPr id="5" name="Text 3"/>
          <p:cNvSpPr txBox="1"/>
          <p:nvPr/>
        </p:nvSpPr>
        <p:spPr>
          <a:xfrm>
            <a:off x="548640" y="16916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61288" y="1636776"/>
            <a:ext cx="10177272" cy="71323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permissions.deny</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stops built-in file tools and recognized commands (cat, head, grep) on denied paths; misses subprocesses that open files themselves, such as grep -r over a directory.</a:t>
            </a:r>
            <a:endParaRPr lang="en-US" sz="1400" dirty="0"/>
          </a:p>
        </p:txBody>
      </p:sp>
      <p:sp>
        <p:nvSpPr>
          <p:cNvPr id="7" name="Shape 5"/>
          <p:cNvSpPr/>
          <p:nvPr/>
        </p:nvSpPr>
        <p:spPr>
          <a:xfrm>
            <a:off x="548640" y="2404872"/>
            <a:ext cx="384048" cy="384048"/>
          </a:xfrm>
          <a:prstGeom prst="ellipse">
            <a:avLst/>
          </a:prstGeom>
          <a:solidFill>
            <a:srgbClr val="4F6F64"/>
          </a:solidFill>
          <a:ln/>
        </p:spPr>
      </p:sp>
      <p:sp>
        <p:nvSpPr>
          <p:cNvPr id="8" name="Text 6"/>
          <p:cNvSpPr txBox="1"/>
          <p:nvPr/>
        </p:nvSpPr>
        <p:spPr>
          <a:xfrm>
            <a:off x="548640" y="24048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61288" y="2350008"/>
            <a:ext cx="10177272" cy="71323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Bash rules, e.g. Bash(git push *)</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stop the command as written; miss git -C . push, /usr/bin/curl, and sh -c '...'.</a:t>
            </a:r>
            <a:endParaRPr lang="en-US" sz="1400" dirty="0"/>
          </a:p>
        </p:txBody>
      </p:sp>
      <p:sp>
        <p:nvSpPr>
          <p:cNvPr id="10" name="Shape 8"/>
          <p:cNvSpPr/>
          <p:nvPr/>
        </p:nvSpPr>
        <p:spPr>
          <a:xfrm>
            <a:off x="548640" y="3118104"/>
            <a:ext cx="384048" cy="384048"/>
          </a:xfrm>
          <a:prstGeom prst="ellipse">
            <a:avLst/>
          </a:prstGeom>
          <a:solidFill>
            <a:srgbClr val="4F6F64"/>
          </a:solidFill>
          <a:ln/>
        </p:spPr>
      </p:sp>
      <p:sp>
        <p:nvSpPr>
          <p:cNvPr id="11" name="Text 9"/>
          <p:cNvSpPr txBox="1"/>
          <p:nvPr/>
        </p:nvSpPr>
        <p:spPr>
          <a:xfrm>
            <a:off x="548640" y="31181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61288" y="3063240"/>
            <a:ext cx="10177272" cy="71323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Hooks (PreToolUse)</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run for any matching tool call whatever the model decided; an Edit|Write hook does not see a Bash sed -i.</a:t>
            </a:r>
            <a:endParaRPr lang="en-US" sz="1400" dirty="0"/>
          </a:p>
        </p:txBody>
      </p:sp>
      <p:sp>
        <p:nvSpPr>
          <p:cNvPr id="13" name="Shape 11"/>
          <p:cNvSpPr/>
          <p:nvPr/>
        </p:nvSpPr>
        <p:spPr>
          <a:xfrm>
            <a:off x="548640" y="3831336"/>
            <a:ext cx="384048" cy="384048"/>
          </a:xfrm>
          <a:prstGeom prst="ellipse">
            <a:avLst/>
          </a:prstGeom>
          <a:solidFill>
            <a:srgbClr val="4F6F64"/>
          </a:solidFill>
          <a:ln/>
        </p:spPr>
      </p:sp>
      <p:sp>
        <p:nvSpPr>
          <p:cNvPr id="14" name="Text 12"/>
          <p:cNvSpPr txBox="1"/>
          <p:nvPr/>
        </p:nvSpPr>
        <p:spPr>
          <a:xfrm>
            <a:off x="548640" y="38313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61288" y="3776472"/>
            <a:ext cx="10177272" cy="71323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Sandbox</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limits Bash file and network access at the OS level; works on Linux, macOS, WSL 2; not on native Windows.</a:t>
            </a:r>
            <a:endParaRPr lang="en-US" sz="1400" dirty="0"/>
          </a:p>
        </p:txBody>
      </p:sp>
      <p:sp>
        <p:nvSpPr>
          <p:cNvPr id="16" name="Shape 14"/>
          <p:cNvSpPr/>
          <p:nvPr/>
        </p:nvSpPr>
        <p:spPr>
          <a:xfrm>
            <a:off x="548640" y="4544568"/>
            <a:ext cx="384048" cy="384048"/>
          </a:xfrm>
          <a:prstGeom prst="ellipse">
            <a:avLst/>
          </a:prstGeom>
          <a:solidFill>
            <a:srgbClr val="4F6F64"/>
          </a:solidFill>
          <a:ln/>
        </p:spPr>
      </p:sp>
      <p:sp>
        <p:nvSpPr>
          <p:cNvPr id="17" name="Text 15"/>
          <p:cNvSpPr txBox="1"/>
          <p:nvPr/>
        </p:nvSpPr>
        <p:spPr>
          <a:xfrm>
            <a:off x="548640" y="454456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61288" y="4489704"/>
            <a:ext cx="10177272" cy="71323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Managed settings, then CI</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managed settings cannot be overridden by users; CI catches anything that reaches the main branch.</a:t>
            </a:r>
            <a:endParaRPr lang="en-US" sz="14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Worked Example: Team .claude/settings.json</a:t>
            </a:r>
            <a:endParaRPr lang="en-US" sz="3200" dirty="0"/>
          </a:p>
        </p:txBody>
      </p:sp>
      <p:sp>
        <p:nvSpPr>
          <p:cNvPr id="3" name="Text 1"/>
          <p:cNvSpPr txBox="1"/>
          <p:nvPr/>
        </p:nvSpPr>
        <p:spPr>
          <a:xfrm>
            <a:off x="548640" y="1188720"/>
            <a:ext cx="10789920" cy="5943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Committed to the BusyBox repo. Routine build commands run unprompted; anything that leaves the working tree asks; secrets and generated files are denied.</a:t>
            </a:r>
            <a:endParaRPr lang="en-US" sz="1500" dirty="0"/>
          </a:p>
        </p:txBody>
      </p:sp>
      <p:sp>
        <p:nvSpPr>
          <p:cNvPr id="4" name="Shape 2"/>
          <p:cNvSpPr/>
          <p:nvPr/>
        </p:nvSpPr>
        <p:spPr>
          <a:xfrm>
            <a:off x="548640" y="1874520"/>
            <a:ext cx="5212080" cy="3355848"/>
          </a:xfrm>
          <a:prstGeom prst="roundRect">
            <a:avLst>
              <a:gd name="adj" fmla="val 2180"/>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993392"/>
            <a:ext cx="466344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"permissions": {</a:t>
            </a:r>
            <a:endParaRPr lang="en-US" sz="1150" dirty="0"/>
          </a:p>
        </p:txBody>
      </p:sp>
      <p:sp>
        <p:nvSpPr>
          <p:cNvPr id="6" name="Text 4"/>
          <p:cNvSpPr txBox="1"/>
          <p:nvPr/>
        </p:nvSpPr>
        <p:spPr>
          <a:xfrm>
            <a:off x="822960" y="2253996"/>
            <a:ext cx="466344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"allow": [</a:t>
            </a:r>
            <a:endParaRPr lang="en-US" sz="1150" dirty="0"/>
          </a:p>
        </p:txBody>
      </p:sp>
      <p:sp>
        <p:nvSpPr>
          <p:cNvPr id="7" name="Text 5"/>
          <p:cNvSpPr txBox="1"/>
          <p:nvPr/>
        </p:nvSpPr>
        <p:spPr>
          <a:xfrm>
            <a:off x="822960" y="2514600"/>
            <a:ext cx="466344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"Bash(make *)",</a:t>
            </a:r>
            <a:endParaRPr lang="en-US" sz="1150" dirty="0"/>
          </a:p>
        </p:txBody>
      </p:sp>
      <p:sp>
        <p:nvSpPr>
          <p:cNvPr id="8" name="Text 6"/>
          <p:cNvSpPr txBox="1"/>
          <p:nvPr/>
        </p:nvSpPr>
        <p:spPr>
          <a:xfrm>
            <a:off x="822960" y="2775204"/>
            <a:ext cx="466344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"Bash(git status)",</a:t>
            </a:r>
            <a:endParaRPr lang="en-US" sz="1150" dirty="0"/>
          </a:p>
        </p:txBody>
      </p:sp>
      <p:sp>
        <p:nvSpPr>
          <p:cNvPr id="9" name="Text 7"/>
          <p:cNvSpPr txBox="1"/>
          <p:nvPr/>
        </p:nvSpPr>
        <p:spPr>
          <a:xfrm>
            <a:off x="822960" y="3035808"/>
            <a:ext cx="466344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"Bash(git diff *)",</a:t>
            </a:r>
            <a:endParaRPr lang="en-US" sz="1150" dirty="0"/>
          </a:p>
        </p:txBody>
      </p:sp>
      <p:sp>
        <p:nvSpPr>
          <p:cNvPr id="10" name="Text 8"/>
          <p:cNvSpPr txBox="1"/>
          <p:nvPr/>
        </p:nvSpPr>
        <p:spPr>
          <a:xfrm>
            <a:off x="822960" y="3296412"/>
            <a:ext cx="466344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"Bash(git log *)",</a:t>
            </a:r>
            <a:endParaRPr lang="en-US" sz="1150" dirty="0"/>
          </a:p>
        </p:txBody>
      </p:sp>
      <p:sp>
        <p:nvSpPr>
          <p:cNvPr id="11" name="Text 9"/>
          <p:cNvSpPr txBox="1"/>
          <p:nvPr/>
        </p:nvSpPr>
        <p:spPr>
          <a:xfrm>
            <a:off x="822960" y="3557016"/>
            <a:ext cx="466344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"Bash(bash scripts/*)",</a:t>
            </a:r>
            <a:endParaRPr lang="en-US" sz="1150" dirty="0"/>
          </a:p>
        </p:txBody>
      </p:sp>
      <p:sp>
        <p:nvSpPr>
          <p:cNvPr id="12" name="Text 10"/>
          <p:cNvSpPr txBox="1"/>
          <p:nvPr/>
        </p:nvSpPr>
        <p:spPr>
          <a:xfrm>
            <a:off x="822960" y="3817620"/>
            <a:ext cx="466344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"Bash(python3 tools/*)",</a:t>
            </a:r>
            <a:endParaRPr lang="en-US" sz="1150" dirty="0"/>
          </a:p>
        </p:txBody>
      </p:sp>
      <p:sp>
        <p:nvSpPr>
          <p:cNvPr id="13" name="Text 11"/>
          <p:cNvSpPr txBox="1"/>
          <p:nvPr/>
        </p:nvSpPr>
        <p:spPr>
          <a:xfrm>
            <a:off x="822960" y="4078224"/>
            <a:ext cx="466344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"Bash(file *)" ],</a:t>
            </a:r>
            <a:endParaRPr lang="en-US" sz="1150" dirty="0"/>
          </a:p>
        </p:txBody>
      </p:sp>
      <p:sp>
        <p:nvSpPr>
          <p:cNvPr id="14" name="Text 12"/>
          <p:cNvSpPr txBox="1"/>
          <p:nvPr/>
        </p:nvSpPr>
        <p:spPr>
          <a:xfrm>
            <a:off x="822960" y="4338828"/>
            <a:ext cx="466344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"ask": [</a:t>
            </a:r>
            <a:endParaRPr lang="en-US" sz="1150" dirty="0"/>
          </a:p>
        </p:txBody>
      </p:sp>
      <p:sp>
        <p:nvSpPr>
          <p:cNvPr id="15" name="Text 13"/>
          <p:cNvSpPr txBox="1"/>
          <p:nvPr/>
        </p:nvSpPr>
        <p:spPr>
          <a:xfrm>
            <a:off x="822960" y="4599432"/>
            <a:ext cx="466344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"Bash(git commit *)",</a:t>
            </a:r>
            <a:endParaRPr lang="en-US" sz="1150" dirty="0"/>
          </a:p>
        </p:txBody>
      </p:sp>
      <p:sp>
        <p:nvSpPr>
          <p:cNvPr id="16" name="Text 14"/>
          <p:cNvSpPr txBox="1"/>
          <p:nvPr/>
        </p:nvSpPr>
        <p:spPr>
          <a:xfrm>
            <a:off x="822960" y="4860036"/>
            <a:ext cx="466344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"Bash(git push *)" ],</a:t>
            </a:r>
            <a:endParaRPr lang="en-US" sz="1150" dirty="0"/>
          </a:p>
        </p:txBody>
      </p:sp>
      <p:sp>
        <p:nvSpPr>
          <p:cNvPr id="17" name="Shape 15"/>
          <p:cNvSpPr/>
          <p:nvPr/>
        </p:nvSpPr>
        <p:spPr>
          <a:xfrm>
            <a:off x="6035040" y="1874520"/>
            <a:ext cx="5303520" cy="3095244"/>
          </a:xfrm>
          <a:prstGeom prst="roundRect">
            <a:avLst>
              <a:gd name="adj" fmla="val 2363"/>
            </a:avLst>
          </a:prstGeom>
          <a:solidFill>
            <a:srgbClr val="262320"/>
          </a:solidFill>
          <a:ln/>
          <a:effectLst>
            <a:outerShdw sx="100000" sy="100000" kx="0" ky="0" algn="bl" rotWithShape="0" blurRad="76200" dist="25400" dir="5400000">
              <a:srgbClr val="000000">
                <a:alpha val="18000"/>
              </a:srgbClr>
            </a:outerShdw>
          </a:effectLst>
        </p:spPr>
      </p:sp>
      <p:sp>
        <p:nvSpPr>
          <p:cNvPr id="18" name="Text 16"/>
          <p:cNvSpPr txBox="1"/>
          <p:nvPr/>
        </p:nvSpPr>
        <p:spPr>
          <a:xfrm>
            <a:off x="6309360" y="1993392"/>
            <a:ext cx="475488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"deny": [</a:t>
            </a:r>
            <a:endParaRPr lang="en-US" sz="1150" dirty="0"/>
          </a:p>
        </p:txBody>
      </p:sp>
      <p:sp>
        <p:nvSpPr>
          <p:cNvPr id="19" name="Text 17"/>
          <p:cNvSpPr txBox="1"/>
          <p:nvPr/>
        </p:nvSpPr>
        <p:spPr>
          <a:xfrm>
            <a:off x="6309360" y="2253996"/>
            <a:ext cx="475488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"Read(./.env)",</a:t>
            </a:r>
            <a:endParaRPr lang="en-US" sz="1150" dirty="0"/>
          </a:p>
        </p:txBody>
      </p:sp>
      <p:sp>
        <p:nvSpPr>
          <p:cNvPr id="20" name="Text 18"/>
          <p:cNvSpPr txBox="1"/>
          <p:nvPr/>
        </p:nvSpPr>
        <p:spPr>
          <a:xfrm>
            <a:off x="6309360" y="2514600"/>
            <a:ext cx="475488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"Read(./.env.*)",</a:t>
            </a:r>
            <a:endParaRPr lang="en-US" sz="1150" dirty="0"/>
          </a:p>
        </p:txBody>
      </p:sp>
      <p:sp>
        <p:nvSpPr>
          <p:cNvPr id="21" name="Text 19"/>
          <p:cNvSpPr txBox="1"/>
          <p:nvPr/>
        </p:nvSpPr>
        <p:spPr>
          <a:xfrm>
            <a:off x="6309360" y="2775204"/>
            <a:ext cx="475488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"Read(./secrets/**)",</a:t>
            </a:r>
            <a:endParaRPr lang="en-US" sz="1150" dirty="0"/>
          </a:p>
        </p:txBody>
      </p:sp>
      <p:sp>
        <p:nvSpPr>
          <p:cNvPr id="22" name="Text 20"/>
          <p:cNvSpPr txBox="1"/>
          <p:nvPr/>
        </p:nvSpPr>
        <p:spPr>
          <a:xfrm>
            <a:off x="6309360" y="3035808"/>
            <a:ext cx="475488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"Edit(/.config)",</a:t>
            </a:r>
            <a:endParaRPr lang="en-US" sz="1150" dirty="0"/>
          </a:p>
        </p:txBody>
      </p:sp>
      <p:sp>
        <p:nvSpPr>
          <p:cNvPr id="23" name="Text 21"/>
          <p:cNvSpPr txBox="1"/>
          <p:nvPr/>
        </p:nvSpPr>
        <p:spPr>
          <a:xfrm>
            <a:off x="6309360" y="3296412"/>
            <a:ext cx="475488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"Edit(/include/autoconf.h)",</a:t>
            </a:r>
            <a:endParaRPr lang="en-US" sz="1150" dirty="0"/>
          </a:p>
        </p:txBody>
      </p:sp>
      <p:sp>
        <p:nvSpPr>
          <p:cNvPr id="24" name="Text 22"/>
          <p:cNvSpPr txBox="1"/>
          <p:nvPr/>
        </p:nvSpPr>
        <p:spPr>
          <a:xfrm>
            <a:off x="6309360" y="3557016"/>
            <a:ext cx="475488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"Edit(/include/applet_tables.h)",</a:t>
            </a:r>
            <a:endParaRPr lang="en-US" sz="1150" dirty="0"/>
          </a:p>
        </p:txBody>
      </p:sp>
      <p:sp>
        <p:nvSpPr>
          <p:cNvPr id="25" name="Text 23"/>
          <p:cNvSpPr txBox="1"/>
          <p:nvPr/>
        </p:nvSpPr>
        <p:spPr>
          <a:xfrm>
            <a:off x="6309360" y="3817620"/>
            <a:ext cx="475488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"Bash(rm -rf *)",</a:t>
            </a:r>
            <a:endParaRPr lang="en-US" sz="1150" dirty="0"/>
          </a:p>
        </p:txBody>
      </p:sp>
      <p:sp>
        <p:nvSpPr>
          <p:cNvPr id="26" name="Text 24"/>
          <p:cNvSpPr txBox="1"/>
          <p:nvPr/>
        </p:nvSpPr>
        <p:spPr>
          <a:xfrm>
            <a:off x="6309360" y="4078224"/>
            <a:ext cx="475488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"Bash(curl *)" ]</a:t>
            </a:r>
            <a:endParaRPr lang="en-US" sz="1150" dirty="0"/>
          </a:p>
        </p:txBody>
      </p:sp>
      <p:sp>
        <p:nvSpPr>
          <p:cNvPr id="27" name="Text 25"/>
          <p:cNvSpPr txBox="1"/>
          <p:nvPr/>
        </p:nvSpPr>
        <p:spPr>
          <a:xfrm>
            <a:off x="6309360" y="4338828"/>
            <a:ext cx="4754880" cy="260604"/>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p:txBody>
      </p:sp>
      <p:sp>
        <p:nvSpPr>
          <p:cNvPr id="28" name="Text 26"/>
          <p:cNvSpPr txBox="1"/>
          <p:nvPr/>
        </p:nvSpPr>
        <p:spPr>
          <a:xfrm>
            <a:off x="6309360" y="4599432"/>
            <a:ext cx="4754880" cy="260604"/>
          </a:xfrm>
          <a:prstGeom prst="rect">
            <a:avLst/>
          </a:prstGeom>
          <a:noFill/>
          <a:ln/>
        </p:spPr>
        <p:txBody>
          <a:bodyPr wrap="square" lIns="0" tIns="0" rIns="0" bIns="0" rtlCol="0" anchor="ctr"/>
          <a:lstStyle/>
          <a:p>
            <a:pPr indent="0" marL="0">
              <a:buNone/>
            </a:pPr>
            <a:r>
              <a:rPr lang="en-US" sz="1050" dirty="0">
                <a:solidFill>
                  <a:srgbClr val="F3EFE8"/>
                </a:solidFill>
                <a:latin typeface="Courier New" pitchFamily="34" charset="0"/>
                <a:ea typeface="Courier New" pitchFamily="34" charset="-122"/>
                <a:cs typeface="Courier New" pitchFamily="34" charset="-120"/>
              </a:rPr>
              <a:t># hooks block: next slide</a:t>
            </a:r>
            <a:endParaRPr lang="en-US" sz="1050" dirty="0"/>
          </a:p>
        </p:txBody>
      </p:sp>
      <p:sp>
        <p:nvSpPr>
          <p:cNvPr id="29" name="Shape 27"/>
          <p:cNvSpPr/>
          <p:nvPr/>
        </p:nvSpPr>
        <p:spPr>
          <a:xfrm>
            <a:off x="548640" y="5486400"/>
            <a:ext cx="457200" cy="457200"/>
          </a:xfrm>
          <a:prstGeom prst="ellipse">
            <a:avLst/>
          </a:prstGeom>
          <a:solidFill>
            <a:srgbClr val="7A736A"/>
          </a:solidFill>
          <a:ln/>
        </p:spPr>
      </p:sp>
      <p:sp>
        <p:nvSpPr>
          <p:cNvPr id="30" name="Text 28"/>
          <p:cNvSpPr txBox="1"/>
          <p:nvPr/>
        </p:nvSpPr>
        <p:spPr>
          <a:xfrm>
            <a:off x="548640" y="5486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1" name="Text 29"/>
          <p:cNvSpPr txBox="1"/>
          <p:nvPr/>
        </p:nvSpPr>
        <p:spPr>
          <a:xfrm>
            <a:off x="1234440" y="543153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A leading / anchors a path at the project directory; // is an absolute path</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so Edit(/.config) is the repo's own .config. rm -rf and curl denials are illustrative and bypassable.</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Worked Example: A Hook That Protects Generated Files</a:t>
            </a:r>
            <a:endParaRPr lang="en-US" sz="3200" dirty="0"/>
          </a:p>
        </p:txBody>
      </p:sp>
      <p:sp>
        <p:nvSpPr>
          <p:cNvPr id="3" name="Text 1"/>
          <p:cNvSpPr txBox="1"/>
          <p:nvPr/>
        </p:nvSpPr>
        <p:spPr>
          <a:xfrm>
            <a:off x="548640" y="1188720"/>
            <a:ext cx="10789920" cy="5943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The same files as the deny rules, enforced a second way. The hook reads the tool call as JSON on stdin; exit code 2 blocks it and the message reaches Claude.</a:t>
            </a:r>
            <a:endParaRPr lang="en-US" sz="1500" dirty="0"/>
          </a:p>
        </p:txBody>
      </p:sp>
      <p:sp>
        <p:nvSpPr>
          <p:cNvPr id="4" name="Shape 2"/>
          <p:cNvSpPr/>
          <p:nvPr/>
        </p:nvSpPr>
        <p:spPr>
          <a:xfrm>
            <a:off x="548640" y="1874520"/>
            <a:ext cx="4937760" cy="2409444"/>
          </a:xfrm>
          <a:prstGeom prst="roundRect">
            <a:avLst>
              <a:gd name="adj" fmla="val 3036"/>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993392"/>
            <a:ext cx="4389120" cy="242316"/>
          </a:xfrm>
          <a:prstGeom prst="rect">
            <a:avLst/>
          </a:prstGeom>
          <a:noFill/>
          <a:ln/>
        </p:spPr>
        <p:txBody>
          <a:bodyPr wrap="square" lIns="0" tIns="0" rIns="0" bIns="0" rtlCol="0" anchor="ctr"/>
          <a:lstStyle/>
          <a:p>
            <a:pPr indent="0" marL="0">
              <a:buNone/>
            </a:pPr>
            <a:r>
              <a:rPr lang="en-US" sz="950" dirty="0">
                <a:solidFill>
                  <a:srgbClr val="F3EFE8"/>
                </a:solidFill>
                <a:latin typeface="Courier New" pitchFamily="34" charset="0"/>
                <a:ea typeface="Courier New" pitchFamily="34" charset="-122"/>
                <a:cs typeface="Courier New" pitchFamily="34" charset="-120"/>
              </a:rPr>
              <a:t># in .claude/settings.json</a:t>
            </a:r>
            <a:endParaRPr lang="en-US" sz="950" dirty="0"/>
          </a:p>
        </p:txBody>
      </p:sp>
      <p:sp>
        <p:nvSpPr>
          <p:cNvPr id="6" name="Text 4"/>
          <p:cNvSpPr txBox="1"/>
          <p:nvPr/>
        </p:nvSpPr>
        <p:spPr>
          <a:xfrm>
            <a:off x="822960" y="2235708"/>
            <a:ext cx="4389120" cy="24231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"hooks": { "PreToolUse": [{</a:t>
            </a:r>
            <a:endParaRPr lang="en-US" sz="1050" dirty="0"/>
          </a:p>
        </p:txBody>
      </p:sp>
      <p:sp>
        <p:nvSpPr>
          <p:cNvPr id="7" name="Text 5"/>
          <p:cNvSpPr txBox="1"/>
          <p:nvPr/>
        </p:nvSpPr>
        <p:spPr>
          <a:xfrm>
            <a:off x="822960" y="2478024"/>
            <a:ext cx="4389120" cy="24231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  "matcher": "Edit|Write",</a:t>
            </a:r>
            <a:endParaRPr lang="en-US" sz="1050" dirty="0"/>
          </a:p>
        </p:txBody>
      </p:sp>
      <p:sp>
        <p:nvSpPr>
          <p:cNvPr id="8" name="Text 6"/>
          <p:cNvSpPr txBox="1"/>
          <p:nvPr/>
        </p:nvSpPr>
        <p:spPr>
          <a:xfrm>
            <a:off x="822960" y="2720340"/>
            <a:ext cx="4389120" cy="24231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  "hooks": [{</a:t>
            </a:r>
            <a:endParaRPr lang="en-US" sz="1050" dirty="0"/>
          </a:p>
        </p:txBody>
      </p:sp>
      <p:sp>
        <p:nvSpPr>
          <p:cNvPr id="9" name="Text 7"/>
          <p:cNvSpPr txBox="1"/>
          <p:nvPr/>
        </p:nvSpPr>
        <p:spPr>
          <a:xfrm>
            <a:off x="822960" y="2962656"/>
            <a:ext cx="4389120" cy="24231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    "type": "command",</a:t>
            </a:r>
            <a:endParaRPr lang="en-US" sz="1050" dirty="0"/>
          </a:p>
        </p:txBody>
      </p:sp>
      <p:sp>
        <p:nvSpPr>
          <p:cNvPr id="10" name="Text 8"/>
          <p:cNvSpPr txBox="1"/>
          <p:nvPr/>
        </p:nvSpPr>
        <p:spPr>
          <a:xfrm>
            <a:off x="822960" y="3204972"/>
            <a:ext cx="4389120" cy="24231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    "command": "${CLAUDE_PROJECT_DIR}/</a:t>
            </a:r>
            <a:endParaRPr lang="en-US" sz="1050" dirty="0"/>
          </a:p>
        </p:txBody>
      </p:sp>
      <p:sp>
        <p:nvSpPr>
          <p:cNvPr id="11" name="Text 9"/>
          <p:cNvSpPr txBox="1"/>
          <p:nvPr/>
        </p:nvSpPr>
        <p:spPr>
          <a:xfrm>
            <a:off x="822960" y="3447288"/>
            <a:ext cx="4389120" cy="24231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      .claude/hooks/protect-generated.sh"</a:t>
            </a:r>
            <a:endParaRPr lang="en-US" sz="1050" dirty="0"/>
          </a:p>
        </p:txBody>
      </p:sp>
      <p:sp>
        <p:nvSpPr>
          <p:cNvPr id="12" name="Text 10"/>
          <p:cNvSpPr txBox="1"/>
          <p:nvPr/>
        </p:nvSpPr>
        <p:spPr>
          <a:xfrm>
            <a:off x="822960" y="3689604"/>
            <a:ext cx="4389120" cy="24231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  }]</a:t>
            </a:r>
            <a:endParaRPr lang="en-US" sz="1050" dirty="0"/>
          </a:p>
        </p:txBody>
      </p:sp>
      <p:sp>
        <p:nvSpPr>
          <p:cNvPr id="13" name="Text 11"/>
          <p:cNvSpPr txBox="1"/>
          <p:nvPr/>
        </p:nvSpPr>
        <p:spPr>
          <a:xfrm>
            <a:off x="822960" y="3931920"/>
            <a:ext cx="4389120" cy="24231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 }</a:t>
            </a:r>
            <a:endParaRPr lang="en-US" sz="1050" dirty="0"/>
          </a:p>
        </p:txBody>
      </p:sp>
      <p:sp>
        <p:nvSpPr>
          <p:cNvPr id="14" name="Shape 12"/>
          <p:cNvSpPr/>
          <p:nvPr/>
        </p:nvSpPr>
        <p:spPr>
          <a:xfrm>
            <a:off x="5669280" y="1874520"/>
            <a:ext cx="5669280" cy="3136392"/>
          </a:xfrm>
          <a:prstGeom prst="roundRect">
            <a:avLst>
              <a:gd name="adj" fmla="val 2332"/>
            </a:avLst>
          </a:prstGeom>
          <a:solidFill>
            <a:srgbClr val="262320"/>
          </a:solidFill>
          <a:ln/>
          <a:effectLst>
            <a:outerShdw sx="100000" sy="100000" kx="0" ky="0" algn="bl" rotWithShape="0" blurRad="76200" dist="25400" dir="5400000">
              <a:srgbClr val="000000">
                <a:alpha val="18000"/>
              </a:srgbClr>
            </a:outerShdw>
          </a:effectLst>
        </p:spPr>
      </p:sp>
      <p:sp>
        <p:nvSpPr>
          <p:cNvPr id="15" name="Text 13"/>
          <p:cNvSpPr txBox="1"/>
          <p:nvPr/>
        </p:nvSpPr>
        <p:spPr>
          <a:xfrm>
            <a:off x="5943600" y="1993392"/>
            <a:ext cx="5120640" cy="242316"/>
          </a:xfrm>
          <a:prstGeom prst="rect">
            <a:avLst/>
          </a:prstGeom>
          <a:noFill/>
          <a:ln/>
        </p:spPr>
        <p:txBody>
          <a:bodyPr wrap="square" lIns="0" tIns="0" rIns="0" bIns="0" rtlCol="0" anchor="ctr"/>
          <a:lstStyle/>
          <a:p>
            <a:pPr indent="0" marL="0">
              <a:buNone/>
            </a:pPr>
            <a:r>
              <a:rPr lang="en-US" sz="950" dirty="0">
                <a:solidFill>
                  <a:srgbClr val="F3EFE8"/>
                </a:solidFill>
                <a:latin typeface="Courier New" pitchFamily="34" charset="0"/>
                <a:ea typeface="Courier New" pitchFamily="34" charset="-122"/>
                <a:cs typeface="Courier New" pitchFamily="34" charset="-120"/>
              </a:rPr>
              <a:t># .claude/hooks/protect-generated.sh (chmod +x)</a:t>
            </a:r>
            <a:endParaRPr lang="en-US" sz="950" dirty="0"/>
          </a:p>
        </p:txBody>
      </p:sp>
      <p:sp>
        <p:nvSpPr>
          <p:cNvPr id="16" name="Text 14"/>
          <p:cNvSpPr txBox="1"/>
          <p:nvPr/>
        </p:nvSpPr>
        <p:spPr>
          <a:xfrm>
            <a:off x="5943600" y="2235708"/>
            <a:ext cx="5120640" cy="24231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#!/usr/bin/env bash</a:t>
            </a:r>
            <a:endParaRPr lang="en-US" sz="1050" dirty="0"/>
          </a:p>
        </p:txBody>
      </p:sp>
      <p:sp>
        <p:nvSpPr>
          <p:cNvPr id="17" name="Text 15"/>
          <p:cNvSpPr txBox="1"/>
          <p:nvPr/>
        </p:nvSpPr>
        <p:spPr>
          <a:xfrm>
            <a:off x="5943600" y="2478024"/>
            <a:ext cx="5120640" cy="24231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set -euo pipefail</a:t>
            </a:r>
            <a:endParaRPr lang="en-US" sz="1050" dirty="0"/>
          </a:p>
        </p:txBody>
      </p:sp>
      <p:sp>
        <p:nvSpPr>
          <p:cNvPr id="18" name="Text 16"/>
          <p:cNvSpPr txBox="1"/>
          <p:nvPr/>
        </p:nvSpPr>
        <p:spPr>
          <a:xfrm>
            <a:off x="5943600" y="2720340"/>
            <a:ext cx="5120640" cy="24231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FILE=$(jq -r '.tool_input.file_path // empty')</a:t>
            </a:r>
            <a:endParaRPr lang="en-US" sz="1050" dirty="0"/>
          </a:p>
        </p:txBody>
      </p:sp>
      <p:sp>
        <p:nvSpPr>
          <p:cNvPr id="19" name="Text 17"/>
          <p:cNvSpPr txBox="1"/>
          <p:nvPr/>
        </p:nvSpPr>
        <p:spPr>
          <a:xfrm>
            <a:off x="5943600" y="2962656"/>
            <a:ext cx="5120640" cy="24231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for p in ".config" "include/autoconf.h" \</a:t>
            </a:r>
            <a:endParaRPr lang="en-US" sz="1050" dirty="0"/>
          </a:p>
        </p:txBody>
      </p:sp>
      <p:sp>
        <p:nvSpPr>
          <p:cNvPr id="20" name="Text 18"/>
          <p:cNvSpPr txBox="1"/>
          <p:nvPr/>
        </p:nvSpPr>
        <p:spPr>
          <a:xfrm>
            <a:off x="5943600" y="3204972"/>
            <a:ext cx="5120640" cy="24231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         "include/applet_tables.h"; do</a:t>
            </a:r>
            <a:endParaRPr lang="en-US" sz="1050" dirty="0"/>
          </a:p>
        </p:txBody>
      </p:sp>
      <p:sp>
        <p:nvSpPr>
          <p:cNvPr id="21" name="Text 19"/>
          <p:cNvSpPr txBox="1"/>
          <p:nvPr/>
        </p:nvSpPr>
        <p:spPr>
          <a:xfrm>
            <a:off x="5943600" y="3447288"/>
            <a:ext cx="5120640" cy="24231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  if [[ "$FILE" == *"/$p" || "$FILE" == "$p" ]]; then</a:t>
            </a:r>
            <a:endParaRPr lang="en-US" sz="1050" dirty="0"/>
          </a:p>
        </p:txBody>
      </p:sp>
      <p:sp>
        <p:nvSpPr>
          <p:cNvPr id="22" name="Text 20"/>
          <p:cNvSpPr txBox="1"/>
          <p:nvPr/>
        </p:nvSpPr>
        <p:spPr>
          <a:xfrm>
            <a:off x="5943600" y="3689604"/>
            <a:ext cx="5120640" cy="24231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    echo "Blocked: $FILE is generated;" \</a:t>
            </a:r>
            <a:endParaRPr lang="en-US" sz="1050" dirty="0"/>
          </a:p>
        </p:txBody>
      </p:sp>
      <p:sp>
        <p:nvSpPr>
          <p:cNvPr id="23" name="Text 21"/>
          <p:cNvSpPr txBox="1"/>
          <p:nvPr/>
        </p:nvSpPr>
        <p:spPr>
          <a:xfrm>
            <a:off x="5943600" y="3931920"/>
            <a:ext cx="5120640" cy="24231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         "change it through make" &gt;&amp;2</a:t>
            </a:r>
            <a:endParaRPr lang="en-US" sz="1050" dirty="0"/>
          </a:p>
        </p:txBody>
      </p:sp>
      <p:sp>
        <p:nvSpPr>
          <p:cNvPr id="24" name="Text 22"/>
          <p:cNvSpPr txBox="1"/>
          <p:nvPr/>
        </p:nvSpPr>
        <p:spPr>
          <a:xfrm>
            <a:off x="5943600" y="4174236"/>
            <a:ext cx="5120640" cy="24231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    exit 2</a:t>
            </a:r>
            <a:endParaRPr lang="en-US" sz="1050" dirty="0"/>
          </a:p>
        </p:txBody>
      </p:sp>
      <p:sp>
        <p:nvSpPr>
          <p:cNvPr id="25" name="Text 23"/>
          <p:cNvSpPr txBox="1"/>
          <p:nvPr/>
        </p:nvSpPr>
        <p:spPr>
          <a:xfrm>
            <a:off x="5943600" y="4416552"/>
            <a:ext cx="5120640" cy="24231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  fi</a:t>
            </a:r>
            <a:endParaRPr lang="en-US" sz="1050" dirty="0"/>
          </a:p>
        </p:txBody>
      </p:sp>
      <p:sp>
        <p:nvSpPr>
          <p:cNvPr id="26" name="Text 24"/>
          <p:cNvSpPr txBox="1"/>
          <p:nvPr/>
        </p:nvSpPr>
        <p:spPr>
          <a:xfrm>
            <a:off x="5943600" y="4658868"/>
            <a:ext cx="5120640" cy="24231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done; exit 0</a:t>
            </a:r>
            <a:endParaRPr lang="en-US" sz="1050" dirty="0"/>
          </a:p>
        </p:txBody>
      </p:sp>
      <p:sp>
        <p:nvSpPr>
          <p:cNvPr id="27" name="Shape 25"/>
          <p:cNvSpPr/>
          <p:nvPr/>
        </p:nvSpPr>
        <p:spPr>
          <a:xfrm>
            <a:off x="548640" y="5257800"/>
            <a:ext cx="457200" cy="457200"/>
          </a:xfrm>
          <a:prstGeom prst="ellipse">
            <a:avLst/>
          </a:prstGeom>
          <a:solidFill>
            <a:srgbClr val="8E3B2E"/>
          </a:solidFill>
          <a:ln/>
        </p:spPr>
      </p:sp>
      <p:sp>
        <p:nvSpPr>
          <p:cNvPr id="28" name="Text 26"/>
          <p:cNvSpPr txBox="1"/>
          <p:nvPr/>
        </p:nvSpPr>
        <p:spPr>
          <a:xfrm>
            <a:off x="548640" y="5257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9" name="Text 27"/>
          <p:cNvSpPr txBox="1"/>
          <p:nvPr/>
        </p:nvSpPr>
        <p:spPr>
          <a:xfrm>
            <a:off x="1234440" y="5202936"/>
            <a:ext cx="10104120" cy="7772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Watch out: the matcher is Edit|Write, so a Bash sed -i is not seen</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 deny rules and the sandbox cover that gap; no layer covers everything.</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Test the Guardrails Before You Trust Them</a:t>
            </a:r>
            <a:endParaRPr lang="en-US" sz="3200" dirty="0"/>
          </a:p>
        </p:txBody>
      </p:sp>
      <p:sp>
        <p:nvSpPr>
          <p:cNvPr id="3" name="Text 1"/>
          <p:cNvSpPr txBox="1"/>
          <p:nvPr/>
        </p:nvSpPr>
        <p:spPr>
          <a:xfrm>
            <a:off x="548640" y="1188720"/>
            <a:ext cx="10789920" cy="3657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Three prompts, three expected outcomes. If a result differs, the rule is wrong, not Claude.</a:t>
            </a:r>
            <a:endParaRPr lang="en-US" sz="1500" dirty="0"/>
          </a:p>
        </p:txBody>
      </p:sp>
      <p:sp>
        <p:nvSpPr>
          <p:cNvPr id="4" name="Shape 2"/>
          <p:cNvSpPr/>
          <p:nvPr/>
        </p:nvSpPr>
        <p:spPr>
          <a:xfrm>
            <a:off x="548640" y="1737360"/>
            <a:ext cx="10789920" cy="2258568"/>
          </a:xfrm>
          <a:prstGeom prst="roundRect">
            <a:avLst>
              <a:gd name="adj" fmla="val 3239"/>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883664"/>
            <a:ext cx="10241280" cy="329184"/>
          </a:xfrm>
          <a:prstGeom prst="rect">
            <a:avLst/>
          </a:prstGeom>
          <a:noFill/>
          <a:ln/>
        </p:spPr>
        <p:txBody>
          <a:bodyPr wrap="square" lIns="0" tIns="0" rIns="0" bIns="0" rtlCol="0" anchor="ctr"/>
          <a:lstStyle/>
          <a:p>
            <a:pPr indent="0" marL="0">
              <a:buNone/>
            </a:pPr>
            <a:r>
              <a:rPr lang="en-US" sz="1150" dirty="0">
                <a:solidFill>
                  <a:srgbClr val="F3EFE8"/>
                </a:solidFill>
                <a:latin typeface="Courier New" pitchFamily="34" charset="0"/>
                <a:ea typeface="Courier New" pitchFamily="34" charset="-122"/>
                <a:cs typeface="Courier New" pitchFamily="34" charset="-120"/>
              </a:rPr>
              <a:t># 1: expected: denied</a:t>
            </a:r>
            <a:endParaRPr lang="en-US" sz="1150" dirty="0"/>
          </a:p>
        </p:txBody>
      </p:sp>
      <p:sp>
        <p:nvSpPr>
          <p:cNvPr id="6" name="Text 4"/>
          <p:cNvSpPr txBox="1"/>
          <p:nvPr/>
        </p:nvSpPr>
        <p:spPr>
          <a:xfrm>
            <a:off x="822960" y="2212848"/>
            <a:ext cx="10241280" cy="329184"/>
          </a:xfrm>
          <a:prstGeom prst="rect">
            <a:avLst/>
          </a:prstGeom>
          <a:noFill/>
          <a:ln/>
        </p:spPr>
        <p:txBody>
          <a:bodyPr wrap="square" lIns="0" tIns="0" rIns="0" bIns="0" rtlCol="0" anchor="ctr"/>
          <a:lstStyle/>
          <a:p>
            <a:pPr indent="0" marL="0">
              <a:buNone/>
            </a:pPr>
            <a:r>
              <a:rPr lang="en-US" sz="1250" dirty="0">
                <a:solidFill>
                  <a:srgbClr val="FFFFFF"/>
                </a:solidFill>
                <a:latin typeface="Courier New" pitchFamily="34" charset="0"/>
                <a:ea typeface="Courier New" pitchFamily="34" charset="-122"/>
                <a:cs typeface="Courier New" pitchFamily="34" charset="-120"/>
              </a:rPr>
              <a:t>Read the file .env and print it.</a:t>
            </a:r>
            <a:endParaRPr lang="en-US" sz="1250" dirty="0"/>
          </a:p>
        </p:txBody>
      </p:sp>
      <p:sp>
        <p:nvSpPr>
          <p:cNvPr id="7" name="Text 5"/>
          <p:cNvSpPr txBox="1"/>
          <p:nvPr/>
        </p:nvSpPr>
        <p:spPr>
          <a:xfrm>
            <a:off x="822960" y="2542032"/>
            <a:ext cx="10241280" cy="329184"/>
          </a:xfrm>
          <a:prstGeom prst="rect">
            <a:avLst/>
          </a:prstGeom>
          <a:noFill/>
          <a:ln/>
        </p:spPr>
        <p:txBody>
          <a:bodyPr wrap="square" lIns="0" tIns="0" rIns="0" bIns="0" rtlCol="0" anchor="ctr"/>
          <a:lstStyle/>
          <a:p>
            <a:pPr indent="0" marL="0">
              <a:buNone/>
            </a:pPr>
            <a:r>
              <a:rPr lang="en-US" sz="1150" dirty="0">
                <a:solidFill>
                  <a:srgbClr val="F3EFE8"/>
                </a:solidFill>
                <a:latin typeface="Courier New" pitchFamily="34" charset="0"/>
                <a:ea typeface="Courier New" pitchFamily="34" charset="-122"/>
                <a:cs typeface="Courier New" pitchFamily="34" charset="-120"/>
              </a:rPr>
              <a:t># 2: expected: denied by the rule; blocked by the hook if the rule is removed</a:t>
            </a:r>
            <a:endParaRPr lang="en-US" sz="1150" dirty="0"/>
          </a:p>
        </p:txBody>
      </p:sp>
      <p:sp>
        <p:nvSpPr>
          <p:cNvPr id="8" name="Text 6"/>
          <p:cNvSpPr txBox="1"/>
          <p:nvPr/>
        </p:nvSpPr>
        <p:spPr>
          <a:xfrm>
            <a:off x="822960" y="2871216"/>
            <a:ext cx="10241280" cy="329184"/>
          </a:xfrm>
          <a:prstGeom prst="rect">
            <a:avLst/>
          </a:prstGeom>
          <a:noFill/>
          <a:ln/>
        </p:spPr>
        <p:txBody>
          <a:bodyPr wrap="square" lIns="0" tIns="0" rIns="0" bIns="0" rtlCol="0" anchor="ctr"/>
          <a:lstStyle/>
          <a:p>
            <a:pPr indent="0" marL="0">
              <a:buNone/>
            </a:pPr>
            <a:r>
              <a:rPr lang="en-US" sz="1250" dirty="0">
                <a:solidFill>
                  <a:srgbClr val="FFFFFF"/>
                </a:solidFill>
                <a:latin typeface="Courier New" pitchFamily="34" charset="0"/>
                <a:ea typeface="Courier New" pitchFamily="34" charset="-122"/>
                <a:cs typeface="Courier New" pitchFamily="34" charset="-120"/>
              </a:rPr>
              <a:t>Edit .config and set CONFIG_AWK=n.</a:t>
            </a:r>
            <a:endParaRPr lang="en-US" sz="1250" dirty="0"/>
          </a:p>
        </p:txBody>
      </p:sp>
      <p:sp>
        <p:nvSpPr>
          <p:cNvPr id="9" name="Text 7"/>
          <p:cNvSpPr txBox="1"/>
          <p:nvPr/>
        </p:nvSpPr>
        <p:spPr>
          <a:xfrm>
            <a:off x="822960" y="3200400"/>
            <a:ext cx="10241280" cy="329184"/>
          </a:xfrm>
          <a:prstGeom prst="rect">
            <a:avLst/>
          </a:prstGeom>
          <a:noFill/>
          <a:ln/>
        </p:spPr>
        <p:txBody>
          <a:bodyPr wrap="square" lIns="0" tIns="0" rIns="0" bIns="0" rtlCol="0" anchor="ctr"/>
          <a:lstStyle/>
          <a:p>
            <a:pPr indent="0" marL="0">
              <a:buNone/>
            </a:pPr>
            <a:r>
              <a:rPr lang="en-US" sz="1150" dirty="0">
                <a:solidFill>
                  <a:srgbClr val="F3EFE8"/>
                </a:solidFill>
                <a:latin typeface="Courier New" pitchFamily="34" charset="0"/>
                <a:ea typeface="Courier New" pitchFamily="34" charset="-122"/>
                <a:cs typeface="Courier New" pitchFamily="34" charset="-120"/>
              </a:rPr>
              <a:t># 3: expected: a permission prompt (ask rule)</a:t>
            </a:r>
            <a:endParaRPr lang="en-US" sz="1150" dirty="0"/>
          </a:p>
        </p:txBody>
      </p:sp>
      <p:sp>
        <p:nvSpPr>
          <p:cNvPr id="10" name="Text 8"/>
          <p:cNvSpPr txBox="1"/>
          <p:nvPr/>
        </p:nvSpPr>
        <p:spPr>
          <a:xfrm>
            <a:off x="822960" y="3529584"/>
            <a:ext cx="10241280" cy="329184"/>
          </a:xfrm>
          <a:prstGeom prst="rect">
            <a:avLst/>
          </a:prstGeom>
          <a:noFill/>
          <a:ln/>
        </p:spPr>
        <p:txBody>
          <a:bodyPr wrap="square" lIns="0" tIns="0" rIns="0" bIns="0" rtlCol="0" anchor="ctr"/>
          <a:lstStyle/>
          <a:p>
            <a:pPr indent="0" marL="0">
              <a:buNone/>
            </a:pPr>
            <a:r>
              <a:rPr lang="en-US" sz="1250" dirty="0">
                <a:solidFill>
                  <a:srgbClr val="FFFFFF"/>
                </a:solidFill>
                <a:latin typeface="Courier New" pitchFamily="34" charset="0"/>
                <a:ea typeface="Courier New" pitchFamily="34" charset="-122"/>
                <a:cs typeface="Courier New" pitchFamily="34" charset="-120"/>
              </a:rPr>
              <a:t>Run: git push origin lab</a:t>
            </a:r>
            <a:endParaRPr lang="en-US" sz="1250" dirty="0"/>
          </a:p>
        </p:txBody>
      </p:sp>
      <p:sp>
        <p:nvSpPr>
          <p:cNvPr id="11" name="Shape 9"/>
          <p:cNvSpPr/>
          <p:nvPr/>
        </p:nvSpPr>
        <p:spPr>
          <a:xfrm>
            <a:off x="548640" y="4206240"/>
            <a:ext cx="457200" cy="457200"/>
          </a:xfrm>
          <a:prstGeom prst="ellipse">
            <a:avLst/>
          </a:prstGeom>
          <a:solidFill>
            <a:srgbClr val="4F6F64"/>
          </a:solidFill>
          <a:ln/>
        </p:spPr>
      </p:sp>
      <p:sp>
        <p:nvSpPr>
          <p:cNvPr id="12" name="Text 10"/>
          <p:cNvSpPr txBox="1"/>
          <p:nvPr/>
        </p:nvSpPr>
        <p:spPr>
          <a:xfrm>
            <a:off x="548640" y="4206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txBox="1"/>
          <p:nvPr/>
        </p:nvSpPr>
        <p:spPr>
          <a:xfrm>
            <a:off x="1234440" y="4151376"/>
            <a:ext cx="10104120" cy="7772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Then /permissions</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lists every rule with the settings file it came from.</a:t>
            </a:r>
            <a:endParaRPr lang="en-US" sz="1500" dirty="0"/>
          </a:p>
        </p:txBody>
      </p:sp>
      <p:sp>
        <p:nvSpPr>
          <p:cNvPr id="14" name="Shape 12"/>
          <p:cNvSpPr/>
          <p:nvPr/>
        </p:nvSpPr>
        <p:spPr>
          <a:xfrm>
            <a:off x="548640" y="4983480"/>
            <a:ext cx="457200" cy="457200"/>
          </a:xfrm>
          <a:prstGeom prst="ellipse">
            <a:avLst/>
          </a:prstGeom>
          <a:solidFill>
            <a:srgbClr val="4F6F64"/>
          </a:solidFill>
          <a:ln/>
        </p:spPr>
      </p:sp>
      <p:sp>
        <p:nvSpPr>
          <p:cNvPr id="15" name="Text 13"/>
          <p:cNvSpPr txBox="1"/>
          <p:nvPr/>
        </p:nvSpPr>
        <p:spPr>
          <a:xfrm>
            <a:off x="548640" y="4983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txBox="1"/>
          <p:nvPr/>
        </p:nvSpPr>
        <p:spPr>
          <a:xfrm>
            <a:off x="1234440" y="4928616"/>
            <a:ext cx="10104120" cy="7772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Then /hooks</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shows the PreToolUse hook and its matcher; /status lists the settings sources that loaded.</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Prompt Anatomy: Goal, Context, Constraints, Verify, Output</a:t>
            </a:r>
            <a:endParaRPr lang="en-US" sz="3200" dirty="0"/>
          </a:p>
        </p:txBody>
      </p:sp>
      <p:sp>
        <p:nvSpPr>
          <p:cNvPr id="3" name="Text 1"/>
          <p:cNvSpPr txBox="1"/>
          <p:nvPr/>
        </p:nvSpPr>
        <p:spPr>
          <a:xfrm>
            <a:off x="548640" y="1188720"/>
            <a:ext cx="10789920" cy="3657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The lab prompts all use the same fields. A precise prompt gives Claude a target and a way to check itself.</a:t>
            </a:r>
            <a:endParaRPr lang="en-US" sz="1500" dirty="0"/>
          </a:p>
        </p:txBody>
      </p:sp>
      <p:sp>
        <p:nvSpPr>
          <p:cNvPr id="4" name="Shape 2"/>
          <p:cNvSpPr/>
          <p:nvPr/>
        </p:nvSpPr>
        <p:spPr>
          <a:xfrm>
            <a:off x="548640" y="1737360"/>
            <a:ext cx="365760" cy="365760"/>
          </a:xfrm>
          <a:prstGeom prst="ellipse">
            <a:avLst/>
          </a:prstGeom>
          <a:solidFill>
            <a:srgbClr val="4F6F64"/>
          </a:solidFill>
          <a:ln/>
        </p:spPr>
      </p:sp>
      <p:sp>
        <p:nvSpPr>
          <p:cNvPr id="5" name="Text 3"/>
          <p:cNvSpPr txBox="1"/>
          <p:nvPr/>
        </p:nvSpPr>
        <p:spPr>
          <a:xfrm>
            <a:off x="548640" y="173736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G</a:t>
            </a:r>
            <a:endParaRPr lang="en-US" sz="1600" dirty="0"/>
          </a:p>
        </p:txBody>
      </p:sp>
      <p:sp>
        <p:nvSpPr>
          <p:cNvPr id="6" name="Text 4"/>
          <p:cNvSpPr txBox="1"/>
          <p:nvPr/>
        </p:nvSpPr>
        <p:spPr>
          <a:xfrm>
            <a:off x="1143000" y="1682496"/>
            <a:ext cx="10195560" cy="640080"/>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Goal</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one outcome in one sentence: "Add a rot13 applet."</a:t>
            </a:r>
            <a:endParaRPr lang="en-US" sz="1400" dirty="0"/>
          </a:p>
        </p:txBody>
      </p:sp>
      <p:sp>
        <p:nvSpPr>
          <p:cNvPr id="7" name="Shape 5"/>
          <p:cNvSpPr/>
          <p:nvPr/>
        </p:nvSpPr>
        <p:spPr>
          <a:xfrm>
            <a:off x="548640" y="2377440"/>
            <a:ext cx="365760" cy="365760"/>
          </a:xfrm>
          <a:prstGeom prst="ellipse">
            <a:avLst/>
          </a:prstGeom>
          <a:solidFill>
            <a:srgbClr val="4F6F64"/>
          </a:solidFill>
          <a:ln/>
        </p:spPr>
      </p:sp>
      <p:sp>
        <p:nvSpPr>
          <p:cNvPr id="8" name="Text 6"/>
          <p:cNvSpPr txBox="1"/>
          <p:nvPr/>
        </p:nvSpPr>
        <p:spPr>
          <a:xfrm>
            <a:off x="548640" y="237744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9" name="Text 7"/>
          <p:cNvSpPr txBox="1"/>
          <p:nvPr/>
        </p:nvSpPr>
        <p:spPr>
          <a:xfrm>
            <a:off x="1143000" y="2322576"/>
            <a:ext cx="10195560" cy="640080"/>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Context</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 files, where to look, the pattern to copy: "Follow @coreutils/cat.c."</a:t>
            </a:r>
            <a:endParaRPr lang="en-US" sz="1400" dirty="0"/>
          </a:p>
        </p:txBody>
      </p:sp>
      <p:sp>
        <p:nvSpPr>
          <p:cNvPr id="10" name="Shape 8"/>
          <p:cNvSpPr/>
          <p:nvPr/>
        </p:nvSpPr>
        <p:spPr>
          <a:xfrm>
            <a:off x="548640" y="3017520"/>
            <a:ext cx="365760" cy="365760"/>
          </a:xfrm>
          <a:prstGeom prst="ellipse">
            <a:avLst/>
          </a:prstGeom>
          <a:solidFill>
            <a:srgbClr val="4F6F64"/>
          </a:solidFill>
          <a:ln/>
        </p:spPr>
      </p:sp>
      <p:sp>
        <p:nvSpPr>
          <p:cNvPr id="11" name="Text 9"/>
          <p:cNvSpPr txBox="1"/>
          <p:nvPr/>
        </p:nvSpPr>
        <p:spPr>
          <a:xfrm>
            <a:off x="548640" y="301752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a:t>
            </a:r>
            <a:endParaRPr lang="en-US" sz="1600" dirty="0"/>
          </a:p>
        </p:txBody>
      </p:sp>
      <p:sp>
        <p:nvSpPr>
          <p:cNvPr id="12" name="Text 10"/>
          <p:cNvSpPr txBox="1"/>
          <p:nvPr/>
        </p:nvSpPr>
        <p:spPr>
          <a:xfrm>
            <a:off x="1143000" y="2962656"/>
            <a:ext cx="10195560" cy="640080"/>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Constraints</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scope, forbidden actions, standards: "Do not edit. Same public signature."</a:t>
            </a:r>
            <a:endParaRPr lang="en-US" sz="1400" dirty="0"/>
          </a:p>
        </p:txBody>
      </p:sp>
      <p:sp>
        <p:nvSpPr>
          <p:cNvPr id="13" name="Shape 11"/>
          <p:cNvSpPr/>
          <p:nvPr/>
        </p:nvSpPr>
        <p:spPr>
          <a:xfrm>
            <a:off x="548640" y="3657600"/>
            <a:ext cx="365760" cy="365760"/>
          </a:xfrm>
          <a:prstGeom prst="ellipse">
            <a:avLst/>
          </a:prstGeom>
          <a:solidFill>
            <a:srgbClr val="4F6F64"/>
          </a:solidFill>
          <a:ln/>
        </p:spPr>
      </p:sp>
      <p:sp>
        <p:nvSpPr>
          <p:cNvPr id="14" name="Text 12"/>
          <p:cNvSpPr txBox="1"/>
          <p:nvPr/>
        </p:nvSpPr>
        <p:spPr>
          <a:xfrm>
            <a:off x="548640" y="365760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a:t>
            </a:r>
            <a:endParaRPr lang="en-US" sz="1600" dirty="0"/>
          </a:p>
        </p:txBody>
      </p:sp>
      <p:sp>
        <p:nvSpPr>
          <p:cNvPr id="15" name="Text 13"/>
          <p:cNvSpPr txBox="1"/>
          <p:nvPr/>
        </p:nvSpPr>
        <p:spPr>
          <a:xfrm>
            <a:off x="1143000" y="3602736"/>
            <a:ext cx="10195560" cy="640080"/>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Verify</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an exact command and its expected output: echo hello | ./busybox rot13 prints uryyb.</a:t>
            </a:r>
            <a:endParaRPr lang="en-US" sz="1400" dirty="0"/>
          </a:p>
        </p:txBody>
      </p:sp>
      <p:sp>
        <p:nvSpPr>
          <p:cNvPr id="16" name="Shape 14"/>
          <p:cNvSpPr/>
          <p:nvPr/>
        </p:nvSpPr>
        <p:spPr>
          <a:xfrm>
            <a:off x="548640" y="4297680"/>
            <a:ext cx="365760" cy="365760"/>
          </a:xfrm>
          <a:prstGeom prst="ellipse">
            <a:avLst/>
          </a:prstGeom>
          <a:solidFill>
            <a:srgbClr val="4F6F64"/>
          </a:solidFill>
          <a:ln/>
        </p:spPr>
      </p:sp>
      <p:sp>
        <p:nvSpPr>
          <p:cNvPr id="17" name="Text 15"/>
          <p:cNvSpPr txBox="1"/>
          <p:nvPr/>
        </p:nvSpPr>
        <p:spPr>
          <a:xfrm>
            <a:off x="548640" y="429768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O</a:t>
            </a:r>
            <a:endParaRPr lang="en-US" sz="1600" dirty="0"/>
          </a:p>
        </p:txBody>
      </p:sp>
      <p:sp>
        <p:nvSpPr>
          <p:cNvPr id="18" name="Text 16"/>
          <p:cNvSpPr txBox="1"/>
          <p:nvPr/>
        </p:nvSpPr>
        <p:spPr>
          <a:xfrm>
            <a:off x="1143000" y="4242816"/>
            <a:ext cx="10195560" cy="640080"/>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Output</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format and length of the answer: "Table: caller, file, assumption."</a:t>
            </a:r>
            <a:endParaRPr lang="en-US" sz="1400" dirty="0"/>
          </a:p>
        </p:txBody>
      </p:sp>
      <p:sp>
        <p:nvSpPr>
          <p:cNvPr id="19" name="Shape 17"/>
          <p:cNvSpPr/>
          <p:nvPr/>
        </p:nvSpPr>
        <p:spPr>
          <a:xfrm>
            <a:off x="548640" y="4937760"/>
            <a:ext cx="365760" cy="365760"/>
          </a:xfrm>
          <a:prstGeom prst="ellipse">
            <a:avLst/>
          </a:prstGeom>
          <a:solidFill>
            <a:srgbClr val="4F6F64"/>
          </a:solidFill>
          <a:ln/>
        </p:spPr>
      </p:sp>
      <p:sp>
        <p:nvSpPr>
          <p:cNvPr id="20" name="Text 18"/>
          <p:cNvSpPr txBox="1"/>
          <p:nvPr/>
        </p:nvSpPr>
        <p:spPr>
          <a:xfrm>
            <a:off x="548640" y="493776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a:t>
            </a:r>
            <a:endParaRPr lang="en-US" sz="1600" dirty="0"/>
          </a:p>
        </p:txBody>
      </p:sp>
      <p:sp>
        <p:nvSpPr>
          <p:cNvPr id="21" name="Text 19"/>
          <p:cNvSpPr txBox="1"/>
          <p:nvPr/>
        </p:nvSpPr>
        <p:spPr>
          <a:xfrm>
            <a:off x="1143000" y="4882896"/>
            <a:ext cx="10195560" cy="640080"/>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Stop</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where to wait for you: "Suggest fixes and wait."</a:t>
            </a:r>
            <a:endParaRPr lang="en-US" sz="1400" dirty="0"/>
          </a:p>
        </p:txBody>
      </p:sp>
      <p:sp>
        <p:nvSpPr>
          <p:cNvPr id="22" name="Shape 20"/>
          <p:cNvSpPr/>
          <p:nvPr/>
        </p:nvSpPr>
        <p:spPr>
          <a:xfrm>
            <a:off x="548640" y="5623560"/>
            <a:ext cx="10789920" cy="411480"/>
          </a:xfrm>
          <a:prstGeom prst="roundRect">
            <a:avLst>
              <a:gd name="adj" fmla="val 17778"/>
            </a:avLst>
          </a:prstGeom>
          <a:solidFill>
            <a:srgbClr val="262320"/>
          </a:solidFill>
          <a:ln/>
          <a:effectLst>
            <a:outerShdw sx="100000" sy="100000" kx="0" ky="0" algn="bl" rotWithShape="0" blurRad="76200" dist="25400" dir="5400000">
              <a:srgbClr val="000000">
                <a:alpha val="18000"/>
              </a:srgbClr>
            </a:outerShdw>
          </a:effectLst>
        </p:spPr>
      </p:sp>
      <p:sp>
        <p:nvSpPr>
          <p:cNvPr id="23" name="Text 21"/>
          <p:cNvSpPr txBox="1"/>
          <p:nvPr/>
        </p:nvSpPr>
        <p:spPr>
          <a:xfrm>
            <a:off x="822960" y="5696712"/>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Goal:   Context:   Constraints:   Verify:   Output:</a:t>
            </a:r>
            <a:endParaRPr lang="en-US" sz="12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Keywords That Change Claude's Behavior</a:t>
            </a:r>
            <a:endParaRPr lang="en-US" sz="3200" dirty="0"/>
          </a:p>
        </p:txBody>
      </p:sp>
      <p:sp>
        <p:nvSpPr>
          <p:cNvPr id="3" name="Text 1"/>
          <p:cNvSpPr txBox="1"/>
          <p:nvPr/>
        </p:nvSpPr>
        <p:spPr>
          <a:xfrm>
            <a:off x="548640" y="1188720"/>
            <a:ext cx="10789920" cy="3657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Plain phrases that steer the loop. Each is used in at least one lab prompt.</a:t>
            </a:r>
            <a:endParaRPr lang="en-US" sz="1500" dirty="0"/>
          </a:p>
        </p:txBody>
      </p:sp>
      <p:sp>
        <p:nvSpPr>
          <p:cNvPr id="4" name="Shape 2"/>
          <p:cNvSpPr/>
          <p:nvPr/>
        </p:nvSpPr>
        <p:spPr>
          <a:xfrm>
            <a:off x="548640" y="1691640"/>
            <a:ext cx="365760" cy="365760"/>
          </a:xfrm>
          <a:prstGeom prst="ellipse">
            <a:avLst/>
          </a:prstGeom>
          <a:solidFill>
            <a:srgbClr val="4F6F64"/>
          </a:solidFill>
          <a:ln/>
        </p:spPr>
      </p:sp>
      <p:sp>
        <p:nvSpPr>
          <p:cNvPr id="5" name="Text 3"/>
          <p:cNvSpPr txBox="1"/>
          <p:nvPr/>
        </p:nvSpPr>
        <p:spPr>
          <a:xfrm>
            <a:off x="548640" y="169164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143000" y="1636776"/>
            <a:ext cx="4709160" cy="822960"/>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plan only, do not edit</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read-only analysis; pair with plan mode.</a:t>
            </a:r>
            <a:endParaRPr lang="en-US" sz="1400" dirty="0"/>
          </a:p>
        </p:txBody>
      </p:sp>
      <p:sp>
        <p:nvSpPr>
          <p:cNvPr id="7" name="Shape 5"/>
          <p:cNvSpPr/>
          <p:nvPr/>
        </p:nvSpPr>
        <p:spPr>
          <a:xfrm>
            <a:off x="548640" y="2514600"/>
            <a:ext cx="365760" cy="365760"/>
          </a:xfrm>
          <a:prstGeom prst="ellipse">
            <a:avLst/>
          </a:prstGeom>
          <a:solidFill>
            <a:srgbClr val="4F6F64"/>
          </a:solidFill>
          <a:ln/>
        </p:spPr>
      </p:sp>
      <p:sp>
        <p:nvSpPr>
          <p:cNvPr id="8" name="Text 6"/>
          <p:cNvSpPr txBox="1"/>
          <p:nvPr/>
        </p:nvSpPr>
        <p:spPr>
          <a:xfrm>
            <a:off x="548640" y="251460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 name="Text 7"/>
          <p:cNvSpPr txBox="1"/>
          <p:nvPr/>
        </p:nvSpPr>
        <p:spPr>
          <a:xfrm>
            <a:off x="1143000" y="2459736"/>
            <a:ext cx="4709160" cy="822960"/>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follow the pattern in @file</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reuse existing structure, e.g. cat.c.</a:t>
            </a:r>
            <a:endParaRPr lang="en-US" sz="1400" dirty="0"/>
          </a:p>
        </p:txBody>
      </p:sp>
      <p:sp>
        <p:nvSpPr>
          <p:cNvPr id="10" name="Shape 8"/>
          <p:cNvSpPr/>
          <p:nvPr/>
        </p:nvSpPr>
        <p:spPr>
          <a:xfrm>
            <a:off x="548640" y="3337560"/>
            <a:ext cx="365760" cy="365760"/>
          </a:xfrm>
          <a:prstGeom prst="ellipse">
            <a:avLst/>
          </a:prstGeom>
          <a:solidFill>
            <a:srgbClr val="4F6F64"/>
          </a:solidFill>
          <a:ln/>
        </p:spPr>
      </p:sp>
      <p:sp>
        <p:nvSpPr>
          <p:cNvPr id="11" name="Text 9"/>
          <p:cNvSpPr txBox="1"/>
          <p:nvPr/>
        </p:nvSpPr>
        <p:spPr>
          <a:xfrm>
            <a:off x="548640" y="333756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143000" y="3282696"/>
            <a:ext cx="4709160" cy="822960"/>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use a subagent to ...</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research in a separate context; only a summary returns.</a:t>
            </a:r>
            <a:endParaRPr lang="en-US" sz="1400" dirty="0"/>
          </a:p>
        </p:txBody>
      </p:sp>
      <p:sp>
        <p:nvSpPr>
          <p:cNvPr id="13" name="Shape 11"/>
          <p:cNvSpPr/>
          <p:nvPr/>
        </p:nvSpPr>
        <p:spPr>
          <a:xfrm>
            <a:off x="548640" y="4160520"/>
            <a:ext cx="365760" cy="365760"/>
          </a:xfrm>
          <a:prstGeom prst="ellipse">
            <a:avLst/>
          </a:prstGeom>
          <a:solidFill>
            <a:srgbClr val="4F6F64"/>
          </a:solidFill>
          <a:ln/>
        </p:spPr>
      </p:sp>
      <p:sp>
        <p:nvSpPr>
          <p:cNvPr id="14" name="Text 12"/>
          <p:cNvSpPr txBox="1"/>
          <p:nvPr/>
        </p:nvSpPr>
        <p:spPr>
          <a:xfrm>
            <a:off x="548640" y="416052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3"/>
          <p:cNvSpPr txBox="1"/>
          <p:nvPr/>
        </p:nvSpPr>
        <p:spPr>
          <a:xfrm>
            <a:off x="1143000" y="4105656"/>
            <a:ext cx="4709160" cy="822960"/>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report only: ...</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limits output and keeps context small.</a:t>
            </a:r>
            <a:endParaRPr lang="en-US" sz="1400" dirty="0"/>
          </a:p>
        </p:txBody>
      </p:sp>
      <p:sp>
        <p:nvSpPr>
          <p:cNvPr id="16" name="Shape 14"/>
          <p:cNvSpPr/>
          <p:nvPr/>
        </p:nvSpPr>
        <p:spPr>
          <a:xfrm>
            <a:off x="548640" y="4983480"/>
            <a:ext cx="365760" cy="365760"/>
          </a:xfrm>
          <a:prstGeom prst="ellipse">
            <a:avLst/>
          </a:prstGeom>
          <a:solidFill>
            <a:srgbClr val="4F6F64"/>
          </a:solidFill>
          <a:ln/>
        </p:spPr>
      </p:sp>
      <p:sp>
        <p:nvSpPr>
          <p:cNvPr id="17" name="Text 15"/>
          <p:cNvSpPr txBox="1"/>
          <p:nvPr/>
        </p:nvSpPr>
        <p:spPr>
          <a:xfrm>
            <a:off x="548640" y="498348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txBox="1"/>
          <p:nvPr/>
        </p:nvSpPr>
        <p:spPr>
          <a:xfrm>
            <a:off x="1143000" y="4928616"/>
            <a:ext cx="4709160" cy="822960"/>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suggest ... and wait</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pause before applying; apply only fix N.</a:t>
            </a:r>
            <a:endParaRPr lang="en-US" sz="1400" dirty="0"/>
          </a:p>
        </p:txBody>
      </p:sp>
      <p:sp>
        <p:nvSpPr>
          <p:cNvPr id="19" name="Shape 17"/>
          <p:cNvSpPr/>
          <p:nvPr/>
        </p:nvSpPr>
        <p:spPr>
          <a:xfrm>
            <a:off x="6309360" y="1691640"/>
            <a:ext cx="365760" cy="365760"/>
          </a:xfrm>
          <a:prstGeom prst="ellipse">
            <a:avLst/>
          </a:prstGeom>
          <a:solidFill>
            <a:srgbClr val="C15F3C"/>
          </a:solidFill>
          <a:ln/>
        </p:spPr>
      </p:sp>
      <p:sp>
        <p:nvSpPr>
          <p:cNvPr id="20" name="Text 18"/>
          <p:cNvSpPr txBox="1"/>
          <p:nvPr/>
        </p:nvSpPr>
        <p:spPr>
          <a:xfrm>
            <a:off x="6309360" y="169164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1" name="Text 19"/>
          <p:cNvSpPr txBox="1"/>
          <p:nvPr/>
        </p:nvSpPr>
        <p:spPr>
          <a:xfrm>
            <a:off x="6903720" y="1636776"/>
            <a:ext cx="4434840" cy="822960"/>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run &lt;command&gt;; expected &lt;output&gt;</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a verification target Claude can check.</a:t>
            </a:r>
            <a:endParaRPr lang="en-US" sz="1400" dirty="0"/>
          </a:p>
        </p:txBody>
      </p:sp>
      <p:sp>
        <p:nvSpPr>
          <p:cNvPr id="22" name="Shape 20"/>
          <p:cNvSpPr/>
          <p:nvPr/>
        </p:nvSpPr>
        <p:spPr>
          <a:xfrm>
            <a:off x="6309360" y="2514600"/>
            <a:ext cx="365760" cy="365760"/>
          </a:xfrm>
          <a:prstGeom prst="ellipse">
            <a:avLst/>
          </a:prstGeom>
          <a:solidFill>
            <a:srgbClr val="C15F3C"/>
          </a:solidFill>
          <a:ln/>
        </p:spPr>
      </p:sp>
      <p:sp>
        <p:nvSpPr>
          <p:cNvPr id="23" name="Text 21"/>
          <p:cNvSpPr txBox="1"/>
          <p:nvPr/>
        </p:nvSpPr>
        <p:spPr>
          <a:xfrm>
            <a:off x="6309360" y="251460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4" name="Text 22"/>
          <p:cNvSpPr txBox="1"/>
          <p:nvPr/>
        </p:nvSpPr>
        <p:spPr>
          <a:xfrm>
            <a:off x="6903720" y="2459736"/>
            <a:ext cx="4434840" cy="822960"/>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show the command and its output</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evidence instead of assertion.</a:t>
            </a:r>
            <a:endParaRPr lang="en-US" sz="1400" dirty="0"/>
          </a:p>
        </p:txBody>
      </p:sp>
      <p:sp>
        <p:nvSpPr>
          <p:cNvPr id="25" name="Shape 23"/>
          <p:cNvSpPr/>
          <p:nvPr/>
        </p:nvSpPr>
        <p:spPr>
          <a:xfrm>
            <a:off x="6309360" y="3337560"/>
            <a:ext cx="365760" cy="365760"/>
          </a:xfrm>
          <a:prstGeom prst="ellipse">
            <a:avLst/>
          </a:prstGeom>
          <a:solidFill>
            <a:srgbClr val="C15F3C"/>
          </a:solidFill>
          <a:ln/>
        </p:spPr>
      </p:sp>
      <p:sp>
        <p:nvSpPr>
          <p:cNvPr id="26" name="Text 24"/>
          <p:cNvSpPr txBox="1"/>
          <p:nvPr/>
        </p:nvSpPr>
        <p:spPr>
          <a:xfrm>
            <a:off x="6309360" y="333756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7" name="Text 25"/>
          <p:cNvSpPr txBox="1"/>
          <p:nvPr/>
        </p:nvSpPr>
        <p:spPr>
          <a:xfrm>
            <a:off x="6903720" y="3282696"/>
            <a:ext cx="4434840" cy="822960"/>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address the root cause</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do not suppress the error or special-case the input.</a:t>
            </a:r>
            <a:endParaRPr lang="en-US" sz="1400" dirty="0"/>
          </a:p>
        </p:txBody>
      </p:sp>
      <p:sp>
        <p:nvSpPr>
          <p:cNvPr id="28" name="Shape 26"/>
          <p:cNvSpPr/>
          <p:nvPr/>
        </p:nvSpPr>
        <p:spPr>
          <a:xfrm>
            <a:off x="6309360" y="4160520"/>
            <a:ext cx="365760" cy="365760"/>
          </a:xfrm>
          <a:prstGeom prst="ellipse">
            <a:avLst/>
          </a:prstGeom>
          <a:solidFill>
            <a:srgbClr val="C15F3C"/>
          </a:solidFill>
          <a:ln/>
        </p:spPr>
      </p:sp>
      <p:sp>
        <p:nvSpPr>
          <p:cNvPr id="29" name="Text 27"/>
          <p:cNvSpPr txBox="1"/>
          <p:nvPr/>
        </p:nvSpPr>
        <p:spPr>
          <a:xfrm>
            <a:off x="6309360" y="416052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0" name="Text 28"/>
          <p:cNvSpPr txBox="1"/>
          <p:nvPr/>
        </p:nvSpPr>
        <p:spPr>
          <a:xfrm>
            <a:off x="6903720" y="4105656"/>
            <a:ext cx="4434840" cy="822960"/>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say "not found" if you cannot see it</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reduces guessing.</a:t>
            </a:r>
            <a:endParaRPr lang="en-US" sz="1400" dirty="0"/>
          </a:p>
        </p:txBody>
      </p:sp>
      <p:sp>
        <p:nvSpPr>
          <p:cNvPr id="31" name="Shape 29"/>
          <p:cNvSpPr/>
          <p:nvPr/>
        </p:nvSpPr>
        <p:spPr>
          <a:xfrm>
            <a:off x="6309360" y="4983480"/>
            <a:ext cx="365760" cy="365760"/>
          </a:xfrm>
          <a:prstGeom prst="ellipse">
            <a:avLst/>
          </a:prstGeom>
          <a:solidFill>
            <a:srgbClr val="C15F3C"/>
          </a:solidFill>
          <a:ln/>
        </p:spPr>
      </p:sp>
      <p:sp>
        <p:nvSpPr>
          <p:cNvPr id="32" name="Text 30"/>
          <p:cNvSpPr txBox="1"/>
          <p:nvPr/>
        </p:nvSpPr>
        <p:spPr>
          <a:xfrm>
            <a:off x="6309360" y="498348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3" name="Text 31"/>
          <p:cNvSpPr txBox="1"/>
          <p:nvPr/>
        </p:nvSpPr>
        <p:spPr>
          <a:xfrm>
            <a:off x="6903720" y="4928616"/>
            <a:ext cx="4434840" cy="822960"/>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list callers and tests first</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blast-radius check before a change.</a:t>
            </a:r>
            <a:endParaRPr lang="en-US" sz="1400" dirty="0"/>
          </a:p>
        </p:txBody>
      </p:sp>
      <p:sp>
        <p:nvSpPr>
          <p:cNvPr id="34" name="Shape 32"/>
          <p:cNvSpPr/>
          <p:nvPr/>
        </p:nvSpPr>
        <p:spPr>
          <a:xfrm>
            <a:off x="548640" y="5806440"/>
            <a:ext cx="347472" cy="347472"/>
          </a:xfrm>
          <a:prstGeom prst="ellipse">
            <a:avLst/>
          </a:prstGeom>
          <a:solidFill>
            <a:srgbClr val="8E3B2E"/>
          </a:solidFill>
          <a:ln/>
        </p:spPr>
      </p:sp>
      <p:sp>
        <p:nvSpPr>
          <p:cNvPr id="35" name="Text 33"/>
          <p:cNvSpPr txBox="1"/>
          <p:nvPr/>
        </p:nvSpPr>
        <p:spPr>
          <a:xfrm>
            <a:off x="548640" y="5806440"/>
            <a:ext cx="347472"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6" name="Text 34"/>
          <p:cNvSpPr txBox="1"/>
          <p:nvPr/>
        </p:nvSpPr>
        <p:spPr>
          <a:xfrm>
            <a:off x="1124712" y="5751576"/>
            <a:ext cx="10213848" cy="548640"/>
          </a:xfrm>
          <a:prstGeom prst="rect">
            <a:avLst/>
          </a:prstGeom>
          <a:noFill/>
          <a:ln/>
        </p:spPr>
        <p:txBody>
          <a:bodyPr wrap="square" lIns="0" tIns="0" rIns="0" bIns="0" rtlCol="0" anchor="t"/>
          <a:lstStyle/>
          <a:p>
            <a:pPr indent="0" marL="0">
              <a:lnSpc>
                <a:spcPct val="112000"/>
              </a:lnSpc>
              <a:buNone/>
            </a:pPr>
            <a:r>
              <a:rPr lang="en-US" sz="1300" b="1" dirty="0">
                <a:solidFill>
                  <a:srgbClr val="262320"/>
                </a:solidFill>
                <a:latin typeface="Calibri" pitchFamily="34" charset="0"/>
                <a:ea typeface="Calibri" pitchFamily="34" charset="-122"/>
                <a:cs typeface="Calibri" pitchFamily="34" charset="-120"/>
              </a:rPr>
              <a:t>Reasoning depth is a setting, not a prompt word</a:t>
            </a:r>
            <a:endParaRPr lang="en-US" sz="1300" dirty="0"/>
          </a:p>
          <a:p>
            <a:pPr indent="0" marL="0">
              <a:lnSpc>
                <a:spcPct val="112000"/>
              </a:lnSpc>
              <a:buNone/>
            </a:pPr>
            <a:r>
              <a:rPr lang="en-US" sz="1150" dirty="0">
                <a:solidFill>
                  <a:srgbClr val="7A736A"/>
                </a:solidFill>
                <a:latin typeface="Calibri" pitchFamily="34" charset="0"/>
                <a:ea typeface="Calibri" pitchFamily="34" charset="-122"/>
                <a:cs typeface="Calibri" pitchFamily="34" charset="-120"/>
              </a:rPr>
              <a:t>use /effort; ultrathink is a per-prompt keyword for one hard question.</a:t>
            </a:r>
            <a:endParaRPr lang="en-US" sz="13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Prompt Patterns for the Five Day 1 Modules</a:t>
            </a:r>
            <a:endParaRPr lang="en-US" sz="3200" dirty="0"/>
          </a:p>
        </p:txBody>
      </p:sp>
      <p:sp>
        <p:nvSpPr>
          <p:cNvPr id="3" name="Text 1"/>
          <p:cNvSpPr txBox="1"/>
          <p:nvPr/>
        </p:nvSpPr>
        <p:spPr>
          <a:xfrm>
            <a:off x="548640" y="1188720"/>
            <a:ext cx="10789920" cy="3657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Each module has one dominant pattern and its keywords. The labs follow them in order.</a:t>
            </a:r>
            <a:endParaRPr lang="en-US" sz="1500" dirty="0"/>
          </a:p>
        </p:txBody>
      </p:sp>
      <p:sp>
        <p:nvSpPr>
          <p:cNvPr id="4" name="Shape 2"/>
          <p:cNvSpPr/>
          <p:nvPr/>
        </p:nvSpPr>
        <p:spPr>
          <a:xfrm>
            <a:off x="548640" y="1691640"/>
            <a:ext cx="384048" cy="384048"/>
          </a:xfrm>
          <a:prstGeom prst="ellipse">
            <a:avLst/>
          </a:prstGeom>
          <a:solidFill>
            <a:srgbClr val="4F6F64"/>
          </a:solidFill>
          <a:ln/>
        </p:spPr>
      </p:sp>
      <p:sp>
        <p:nvSpPr>
          <p:cNvPr id="5" name="Text 3"/>
          <p:cNvSpPr txBox="1"/>
          <p:nvPr/>
        </p:nvSpPr>
        <p:spPr>
          <a:xfrm>
            <a:off x="548640" y="16916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61288" y="1636776"/>
            <a:ext cx="10177272" cy="80467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Fundamentals: orient, trace, record</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explore, cite file paths, quote the exact lines, /init, /context.</a:t>
            </a:r>
            <a:endParaRPr lang="en-US" sz="1400" dirty="0"/>
          </a:p>
        </p:txBody>
      </p:sp>
      <p:sp>
        <p:nvSpPr>
          <p:cNvPr id="7" name="Shape 5"/>
          <p:cNvSpPr/>
          <p:nvPr/>
        </p:nvSpPr>
        <p:spPr>
          <a:xfrm>
            <a:off x="548640" y="2496312"/>
            <a:ext cx="384048" cy="384048"/>
          </a:xfrm>
          <a:prstGeom prst="ellipse">
            <a:avLst/>
          </a:prstGeom>
          <a:solidFill>
            <a:srgbClr val="4F6F64"/>
          </a:solidFill>
          <a:ln/>
        </p:spPr>
      </p:sp>
      <p:sp>
        <p:nvSpPr>
          <p:cNvPr id="8" name="Text 6"/>
          <p:cNvSpPr txBox="1"/>
          <p:nvPr/>
        </p:nvSpPr>
        <p:spPr>
          <a:xfrm>
            <a:off x="548640" y="249631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61288" y="2441448"/>
            <a:ext cx="10177272" cy="80467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System software: plan, apply, verify; standards as rules and hooks</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plan only, follow the pattern, same signature, run and expect, /hooks.</a:t>
            </a:r>
            <a:endParaRPr lang="en-US" sz="1400" dirty="0"/>
          </a:p>
        </p:txBody>
      </p:sp>
      <p:sp>
        <p:nvSpPr>
          <p:cNvPr id="10" name="Shape 8"/>
          <p:cNvSpPr/>
          <p:nvPr/>
        </p:nvSpPr>
        <p:spPr>
          <a:xfrm>
            <a:off x="548640" y="3300984"/>
            <a:ext cx="384048" cy="384048"/>
          </a:xfrm>
          <a:prstGeom prst="ellipse">
            <a:avLst/>
          </a:prstGeom>
          <a:solidFill>
            <a:srgbClr val="4F6F64"/>
          </a:solidFill>
          <a:ln/>
        </p:spPr>
      </p:sp>
      <p:sp>
        <p:nvSpPr>
          <p:cNvPr id="11" name="Text 9"/>
          <p:cNvSpPr txBox="1"/>
          <p:nvPr/>
        </p:nvSpPr>
        <p:spPr>
          <a:xfrm>
            <a:off x="548640" y="330098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61288" y="3246120"/>
            <a:ext cx="10177272" cy="80467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Legacy code: broad, narrow, specific; blast radius</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overview, in the project's words, use a subagent, callers, tests, do not edit.</a:t>
            </a:r>
            <a:endParaRPr lang="en-US" sz="1400" dirty="0"/>
          </a:p>
        </p:txBody>
      </p:sp>
      <p:sp>
        <p:nvSpPr>
          <p:cNvPr id="13" name="Shape 11"/>
          <p:cNvSpPr/>
          <p:nvPr/>
        </p:nvSpPr>
        <p:spPr>
          <a:xfrm>
            <a:off x="548640" y="4105656"/>
            <a:ext cx="384048" cy="384048"/>
          </a:xfrm>
          <a:prstGeom prst="ellipse">
            <a:avLst/>
          </a:prstGeom>
          <a:solidFill>
            <a:srgbClr val="4F6F64"/>
          </a:solidFill>
          <a:ln/>
        </p:spPr>
      </p:sp>
      <p:sp>
        <p:nvSpPr>
          <p:cNvPr id="14" name="Text 12"/>
          <p:cNvSpPr txBox="1"/>
          <p:nvPr/>
        </p:nvSpPr>
        <p:spPr>
          <a:xfrm>
            <a:off x="548640" y="410565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61288" y="4050792"/>
            <a:ext cx="10177272" cy="80467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Testing and QA: test-first, precise bug report, checkpoints</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failing test, reproduction, expected, consistent or intermittent, /rewind.</a:t>
            </a:r>
            <a:endParaRPr lang="en-US" sz="1400" dirty="0"/>
          </a:p>
        </p:txBody>
      </p:sp>
      <p:sp>
        <p:nvSpPr>
          <p:cNvPr id="16" name="Shape 14"/>
          <p:cNvSpPr/>
          <p:nvPr/>
        </p:nvSpPr>
        <p:spPr>
          <a:xfrm>
            <a:off x="548640" y="4910328"/>
            <a:ext cx="384048" cy="384048"/>
          </a:xfrm>
          <a:prstGeom prst="ellipse">
            <a:avLst/>
          </a:prstGeom>
          <a:solidFill>
            <a:srgbClr val="4F6F64"/>
          </a:solidFill>
          <a:ln/>
        </p:spPr>
      </p:sp>
      <p:sp>
        <p:nvSpPr>
          <p:cNvPr id="17" name="Text 15"/>
          <p:cNvSpPr txBox="1"/>
          <p:nvPr/>
        </p:nvSpPr>
        <p:spPr>
          <a:xfrm>
            <a:off x="548640" y="491032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61288" y="4855464"/>
            <a:ext cx="10177272" cy="804672"/>
          </a:xfrm>
          <a:prstGeom prst="rect">
            <a:avLst/>
          </a:prstGeom>
          <a:noFill/>
          <a:ln/>
        </p:spPr>
        <p:txBody>
          <a:bodyPr wrap="square" lIns="0" tIns="0" rIns="0" bIns="0" rtlCol="0" anchor="t"/>
          <a:lstStyle/>
          <a:p>
            <a:pPr indent="0" marL="0">
              <a:lnSpc>
                <a:spcPct val="112000"/>
              </a:lnSpc>
              <a:buNone/>
            </a:pPr>
            <a:r>
              <a:rPr lang="en-US" sz="1400" b="1" dirty="0">
                <a:solidFill>
                  <a:srgbClr val="262320"/>
                </a:solidFill>
                <a:latin typeface="Calibri" pitchFamily="34" charset="0"/>
                <a:ea typeface="Calibri" pitchFamily="34" charset="-122"/>
                <a:cs typeface="Calibri" pitchFamily="34" charset="-120"/>
              </a:rPr>
              <a:t>Model and cost: filter output, right-size, manage context</a:t>
            </a:r>
            <a:endParaRPr lang="en-US" sz="1400" dirty="0"/>
          </a:p>
          <a:p>
            <a:pPr indent="0" marL="0">
              <a:lnSpc>
                <a:spcPct val="112000"/>
              </a:lnSpc>
              <a:buNone/>
            </a:pPr>
            <a:r>
              <a:rPr lang="en-US" sz="1200" dirty="0">
                <a:solidFill>
                  <a:srgbClr val="7A736A"/>
                </a:solidFill>
                <a:latin typeface="Calibri" pitchFamily="34" charset="0"/>
                <a:ea typeface="Calibri" pitchFamily="34" charset="-122"/>
                <a:cs typeface="Calibri" pitchFamily="34" charset="-120"/>
              </a:rPr>
              <a:t>report only, do not print the log, /model, /effort, /compact, /usage.</a:t>
            </a:r>
            <a:endParaRPr lang="en-US" sz="14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Lab 1.1 and 1.2: Map the Codebase, Trace One Applet</a:t>
            </a:r>
            <a:endParaRPr lang="en-US" sz="3200" dirty="0"/>
          </a:p>
        </p:txBody>
      </p:sp>
      <p:sp>
        <p:nvSpPr>
          <p:cNvPr id="3" name="Text 1"/>
          <p:cNvSpPr txBox="1"/>
          <p:nvPr/>
        </p:nvSpPr>
        <p:spPr>
          <a:xfrm>
            <a:off x="548640" y="1188720"/>
            <a:ext cx="10789920" cy="292608"/>
          </a:xfrm>
          <a:prstGeom prst="rect">
            <a:avLst/>
          </a:prstGeom>
          <a:noFill/>
          <a:ln/>
        </p:spPr>
        <p:txBody>
          <a:bodyPr wrap="square" lIns="0" tIns="0" rIns="0" bIns="0" rtlCol="0" anchor="ctr"/>
          <a:lstStyle/>
          <a:p>
            <a:pPr indent="0" marL="0">
              <a:buNone/>
            </a:pPr>
            <a:r>
              <a:rPr lang="en-US" sz="1400" b="1" dirty="0">
                <a:solidFill>
                  <a:srgbClr val="C15F3C"/>
                </a:solidFill>
                <a:latin typeface="Calibri" pitchFamily="34" charset="0"/>
                <a:ea typeface="Calibri" pitchFamily="34" charset="-122"/>
                <a:cs typeface="Calibri" pitchFamily="34" charset="-120"/>
              </a:rPr>
              <a:t>1.1  Start in plan mode: claude --permission-mode plan  (or Shift+Tab until plan)</a:t>
            </a:r>
            <a:endParaRPr lang="en-US" sz="1400" dirty="0"/>
          </a:p>
        </p:txBody>
      </p:sp>
      <p:sp>
        <p:nvSpPr>
          <p:cNvPr id="4" name="Shape 2"/>
          <p:cNvSpPr/>
          <p:nvPr/>
        </p:nvSpPr>
        <p:spPr>
          <a:xfrm>
            <a:off x="548640" y="1554480"/>
            <a:ext cx="10789920" cy="1545336"/>
          </a:xfrm>
          <a:prstGeom prst="roundRect">
            <a:avLst>
              <a:gd name="adj" fmla="val 4734"/>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645920"/>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Goal: Give me a map of this codebase.</a:t>
            </a:r>
            <a:endParaRPr lang="en-US" sz="1200" dirty="0"/>
          </a:p>
        </p:txBody>
      </p:sp>
      <p:sp>
        <p:nvSpPr>
          <p:cNvPr id="6" name="Text 4"/>
          <p:cNvSpPr txBox="1"/>
          <p:nvPr/>
        </p:nvSpPr>
        <p:spPr>
          <a:xfrm>
            <a:off x="822960" y="1920240"/>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Context: BusyBox 1.35.0, a C multi-call binary. Start from @Makefile and @coreutils/.</a:t>
            </a:r>
            <a:endParaRPr lang="en-US" sz="1200" dirty="0"/>
          </a:p>
        </p:txBody>
      </p:sp>
      <p:sp>
        <p:nvSpPr>
          <p:cNvPr id="7" name="Text 5"/>
          <p:cNvSpPr txBox="1"/>
          <p:nvPr/>
        </p:nvSpPr>
        <p:spPr>
          <a:xfrm>
            <a:off x="822960" y="2194560"/>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Constraints: read-only; do not run a build.</a:t>
            </a:r>
            <a:endParaRPr lang="en-US" sz="1200" dirty="0"/>
          </a:p>
        </p:txBody>
      </p:sp>
      <p:sp>
        <p:nvSpPr>
          <p:cNvPr id="8" name="Text 6"/>
          <p:cNvSpPr txBox="1"/>
          <p:nvPr/>
        </p:nvSpPr>
        <p:spPr>
          <a:xfrm>
            <a:off x="822960" y="2468880"/>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Output: top-level directories, one line each; how an applet is declared and configured; how the build is</a:t>
            </a:r>
            <a:endParaRPr lang="en-US" sz="1200" dirty="0"/>
          </a:p>
        </p:txBody>
      </p:sp>
      <p:sp>
        <p:nvSpPr>
          <p:cNvPr id="9" name="Text 7"/>
          <p:cNvSpPr txBox="1"/>
          <p:nvPr/>
        </p:nvSpPr>
        <p:spPr>
          <a:xfrm>
            <a:off x="822960" y="2743200"/>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  configured. Cite file paths.</a:t>
            </a:r>
            <a:endParaRPr lang="en-US" sz="1200" dirty="0"/>
          </a:p>
        </p:txBody>
      </p:sp>
      <p:sp>
        <p:nvSpPr>
          <p:cNvPr id="10" name="Text 8"/>
          <p:cNvSpPr txBox="1"/>
          <p:nvPr/>
        </p:nvSpPr>
        <p:spPr>
          <a:xfrm>
            <a:off x="548640" y="3520440"/>
            <a:ext cx="10789920" cy="292608"/>
          </a:xfrm>
          <a:prstGeom prst="rect">
            <a:avLst/>
          </a:prstGeom>
          <a:noFill/>
          <a:ln/>
        </p:spPr>
        <p:txBody>
          <a:bodyPr wrap="square" lIns="0" tIns="0" rIns="0" bIns="0" rtlCol="0" anchor="ctr"/>
          <a:lstStyle/>
          <a:p>
            <a:pPr indent="0" marL="0">
              <a:buNone/>
            </a:pPr>
            <a:r>
              <a:rPr lang="en-US" sz="1400" b="1" dirty="0">
                <a:solidFill>
                  <a:srgbClr val="C15F3C"/>
                </a:solidFill>
                <a:latin typeface="Calibri" pitchFamily="34" charset="0"/>
                <a:ea typeface="Calibri" pitchFamily="34" charset="-122"/>
                <a:cs typeface="Calibri" pitchFamily="34" charset="-120"/>
              </a:rPr>
              <a:t>1.2  Trace one applet (the worked example earlier in this module)</a:t>
            </a:r>
            <a:endParaRPr lang="en-US" sz="1400" dirty="0"/>
          </a:p>
        </p:txBody>
      </p:sp>
      <p:sp>
        <p:nvSpPr>
          <p:cNvPr id="11" name="Shape 9"/>
          <p:cNvSpPr/>
          <p:nvPr/>
        </p:nvSpPr>
        <p:spPr>
          <a:xfrm>
            <a:off x="548640" y="3886200"/>
            <a:ext cx="10789920" cy="1271016"/>
          </a:xfrm>
          <a:prstGeom prst="roundRect">
            <a:avLst>
              <a:gd name="adj" fmla="val 5755"/>
            </a:avLst>
          </a:prstGeom>
          <a:solidFill>
            <a:srgbClr val="262320"/>
          </a:solidFill>
          <a:ln/>
          <a:effectLst>
            <a:outerShdw sx="100000" sy="100000" kx="0" ky="0" algn="bl" rotWithShape="0" blurRad="76200" dist="25400" dir="5400000">
              <a:srgbClr val="000000">
                <a:alpha val="18000"/>
              </a:srgbClr>
            </a:outerShdw>
          </a:effectLst>
        </p:spPr>
      </p:sp>
      <p:sp>
        <p:nvSpPr>
          <p:cNvPr id="12" name="Text 10"/>
          <p:cNvSpPr txBox="1"/>
          <p:nvPr/>
        </p:nvSpPr>
        <p:spPr>
          <a:xfrm>
            <a:off x="822960" y="3977640"/>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Goal: Explain how the cat applet is wired in from source to the final binary.</a:t>
            </a:r>
            <a:endParaRPr lang="en-US" sz="1200" dirty="0"/>
          </a:p>
        </p:txBody>
      </p:sp>
      <p:sp>
        <p:nvSpPr>
          <p:cNvPr id="13" name="Text 11"/>
          <p:cNvSpPr txBox="1"/>
          <p:nvPr/>
        </p:nvSpPr>
        <p:spPr>
          <a:xfrm>
            <a:off x="822960" y="4251960"/>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Context: @coreutils/cat.c</a:t>
            </a:r>
            <a:endParaRPr lang="en-US" sz="1200" dirty="0"/>
          </a:p>
        </p:txBody>
      </p:sp>
      <p:sp>
        <p:nvSpPr>
          <p:cNvPr id="14" name="Text 12"/>
          <p:cNvSpPr txBox="1"/>
          <p:nvPr/>
        </p:nvSpPr>
        <p:spPr>
          <a:xfrm>
            <a:off x="822960" y="4526280"/>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Constraints: quote exact lines; write "not found" for anything you cannot see.</a:t>
            </a:r>
            <a:endParaRPr lang="en-US" sz="1200" dirty="0"/>
          </a:p>
        </p:txBody>
      </p:sp>
      <p:sp>
        <p:nvSpPr>
          <p:cNvPr id="15" name="Text 13"/>
          <p:cNvSpPr txBox="1"/>
          <p:nvPr/>
        </p:nvSpPr>
        <p:spPr>
          <a:xfrm>
            <a:off x="822960" y="4800600"/>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Output: the //applet:, //config:, //kbuild: lines it uses, and the name of its main function.</a:t>
            </a:r>
            <a:endParaRPr lang="en-US" sz="1200" dirty="0"/>
          </a:p>
        </p:txBody>
      </p:sp>
      <p:sp>
        <p:nvSpPr>
          <p:cNvPr id="16" name="Shape 14"/>
          <p:cNvSpPr/>
          <p:nvPr/>
        </p:nvSpPr>
        <p:spPr>
          <a:xfrm>
            <a:off x="548640" y="5440680"/>
            <a:ext cx="457200" cy="457200"/>
          </a:xfrm>
          <a:prstGeom prst="ellipse">
            <a:avLst/>
          </a:prstGeom>
          <a:solidFill>
            <a:srgbClr val="7A736A"/>
          </a:solidFill>
          <a:ln/>
        </p:spPr>
      </p:sp>
      <p:sp>
        <p:nvSpPr>
          <p:cNvPr id="17" name="Text 15"/>
          <p:cNvSpPr txBox="1"/>
          <p:nvPr/>
        </p:nvSpPr>
        <p:spPr>
          <a:xfrm>
            <a:off x="548640" y="5440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txBox="1"/>
          <p:nvPr/>
        </p:nvSpPr>
        <p:spPr>
          <a:xfrm>
            <a:off x="1234440" y="538581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Check the answer against the file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open coreutils/cat.c and confirm each quoted line exists; any invented line is the failure to look for.</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Lab 1.3 and 1.4: Generate, Verify, Then Tighten CLAUDE.md</a:t>
            </a:r>
            <a:endParaRPr lang="en-US" sz="3200" dirty="0"/>
          </a:p>
        </p:txBody>
      </p:sp>
      <p:sp>
        <p:nvSpPr>
          <p:cNvPr id="3" name="Text 1"/>
          <p:cNvSpPr txBox="1"/>
          <p:nvPr/>
        </p:nvSpPr>
        <p:spPr>
          <a:xfrm>
            <a:off x="548640" y="1188720"/>
            <a:ext cx="10789920" cy="292608"/>
          </a:xfrm>
          <a:prstGeom prst="rect">
            <a:avLst/>
          </a:prstGeom>
          <a:noFill/>
          <a:ln/>
        </p:spPr>
        <p:txBody>
          <a:bodyPr wrap="square" lIns="0" tIns="0" rIns="0" bIns="0" rtlCol="0" anchor="ctr"/>
          <a:lstStyle/>
          <a:p>
            <a:pPr indent="0" marL="0">
              <a:buNone/>
            </a:pPr>
            <a:r>
              <a:rPr lang="en-US" sz="1400" b="1" dirty="0">
                <a:solidFill>
                  <a:srgbClr val="C15F3C"/>
                </a:solidFill>
                <a:latin typeface="Calibri" pitchFamily="34" charset="0"/>
                <a:ea typeface="Calibri" pitchFamily="34" charset="-122"/>
                <a:cs typeface="Calibri" pitchFamily="34" charset="-120"/>
              </a:rPr>
              <a:t>1.3  Run /init, then record only commands that worked</a:t>
            </a:r>
            <a:endParaRPr lang="en-US" sz="1400" dirty="0"/>
          </a:p>
        </p:txBody>
      </p:sp>
      <p:sp>
        <p:nvSpPr>
          <p:cNvPr id="4" name="Shape 2"/>
          <p:cNvSpPr/>
          <p:nvPr/>
        </p:nvSpPr>
        <p:spPr>
          <a:xfrm>
            <a:off x="548640" y="1554480"/>
            <a:ext cx="10789920" cy="1819656"/>
          </a:xfrm>
          <a:prstGeom prst="roundRect">
            <a:avLst>
              <a:gd name="adj" fmla="val 4020"/>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645920"/>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/init</a:t>
            </a:r>
            <a:endParaRPr lang="en-US" sz="1200" dirty="0"/>
          </a:p>
        </p:txBody>
      </p:sp>
      <p:sp>
        <p:nvSpPr>
          <p:cNvPr id="6" name="Text 4"/>
          <p:cNvSpPr txBox="1"/>
          <p:nvPr/>
        </p:nvSpPr>
        <p:spPr>
          <a:xfrm>
            <a:off x="822960" y="1920240"/>
            <a:ext cx="10241280" cy="274320"/>
          </a:xfrm>
          <a:prstGeom prst="rect">
            <a:avLst/>
          </a:prstGeom>
          <a:noFill/>
          <a:ln/>
        </p:spPr>
        <p:txBody>
          <a:bodyPr wrap="square" lIns="0" tIns="0" rIns="0" bIns="0" rtlCol="0" anchor="ctr"/>
          <a:lstStyle/>
          <a:p>
            <a:pPr indent="0" marL="0">
              <a:buNone/>
            </a:pPr>
            <a:endParaRPr lang="en-US" sz="1200" dirty="0"/>
          </a:p>
        </p:txBody>
      </p:sp>
      <p:sp>
        <p:nvSpPr>
          <p:cNvPr id="7" name="Text 5"/>
          <p:cNvSpPr txBox="1"/>
          <p:nvPr/>
        </p:nvSpPr>
        <p:spPr>
          <a:xfrm>
            <a:off x="822960" y="2194560"/>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Goal: Find how this repo builds and runs its tests, and record only commands that worked.</a:t>
            </a:r>
            <a:endParaRPr lang="en-US" sz="1200" dirty="0"/>
          </a:p>
        </p:txBody>
      </p:sp>
      <p:sp>
        <p:nvSpPr>
          <p:cNvPr id="8" name="Text 6"/>
          <p:cNvSpPr txBox="1"/>
          <p:nvPr/>
        </p:nvSpPr>
        <p:spPr>
          <a:xfrm>
            <a:off x="822960" y="2468880"/>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Context: Makefile*, README*, testsuite/</a:t>
            </a:r>
            <a:endParaRPr lang="en-US" sz="1200" dirty="0"/>
          </a:p>
        </p:txBody>
      </p:sp>
      <p:sp>
        <p:nvSpPr>
          <p:cNvPr id="9" name="Text 7"/>
          <p:cNvSpPr txBox="1"/>
          <p:nvPr/>
        </p:nvSpPr>
        <p:spPr>
          <a:xfrm>
            <a:off x="822960" y="2743200"/>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Constraints: use the defconfig; run the build once, then run the test suite once.</a:t>
            </a:r>
            <a:endParaRPr lang="en-US" sz="1200" dirty="0"/>
          </a:p>
        </p:txBody>
      </p:sp>
      <p:sp>
        <p:nvSpPr>
          <p:cNvPr id="10" name="Text 8"/>
          <p:cNvSpPr txBox="1"/>
          <p:nvPr/>
        </p:nvSpPr>
        <p:spPr>
          <a:xfrm>
            <a:off x="822960" y="3017520"/>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Output: update CLAUDE.md; list each command with its exit code.</a:t>
            </a:r>
            <a:endParaRPr lang="en-US" sz="1200" dirty="0"/>
          </a:p>
        </p:txBody>
      </p:sp>
      <p:sp>
        <p:nvSpPr>
          <p:cNvPr id="11" name="Text 9"/>
          <p:cNvSpPr txBox="1"/>
          <p:nvPr/>
        </p:nvSpPr>
        <p:spPr>
          <a:xfrm>
            <a:off x="548640" y="3566160"/>
            <a:ext cx="10789920" cy="292608"/>
          </a:xfrm>
          <a:prstGeom prst="rect">
            <a:avLst/>
          </a:prstGeom>
          <a:noFill/>
          <a:ln/>
        </p:spPr>
        <p:txBody>
          <a:bodyPr wrap="square" lIns="0" tIns="0" rIns="0" bIns="0" rtlCol="0" anchor="ctr"/>
          <a:lstStyle/>
          <a:p>
            <a:pPr indent="0" marL="0">
              <a:buNone/>
            </a:pPr>
            <a:r>
              <a:rPr lang="en-US" sz="1400" b="1" dirty="0">
                <a:solidFill>
                  <a:srgbClr val="C15F3C"/>
                </a:solidFill>
                <a:latin typeface="Calibri" pitchFamily="34" charset="0"/>
                <a:ea typeface="Calibri" pitchFamily="34" charset="-122"/>
                <a:cs typeface="Calibri" pitchFamily="34" charset="-120"/>
              </a:rPr>
              <a:t>1.4  Rewrite CLAUDE.md as a short, checkable file</a:t>
            </a:r>
            <a:endParaRPr lang="en-US" sz="1400" dirty="0"/>
          </a:p>
        </p:txBody>
      </p:sp>
      <p:sp>
        <p:nvSpPr>
          <p:cNvPr id="12" name="Shape 10"/>
          <p:cNvSpPr/>
          <p:nvPr/>
        </p:nvSpPr>
        <p:spPr>
          <a:xfrm>
            <a:off x="548640" y="3931920"/>
            <a:ext cx="10789920" cy="1545336"/>
          </a:xfrm>
          <a:prstGeom prst="roundRect">
            <a:avLst>
              <a:gd name="adj" fmla="val 4734"/>
            </a:avLst>
          </a:prstGeom>
          <a:solidFill>
            <a:srgbClr val="262320"/>
          </a:solidFill>
          <a:ln/>
          <a:effectLst>
            <a:outerShdw sx="100000" sy="100000" kx="0" ky="0" algn="bl" rotWithShape="0" blurRad="76200" dist="25400" dir="5400000">
              <a:srgbClr val="000000">
                <a:alpha val="18000"/>
              </a:srgbClr>
            </a:outerShdw>
          </a:effectLst>
        </p:spPr>
      </p:sp>
      <p:sp>
        <p:nvSpPr>
          <p:cNvPr id="13" name="Text 11"/>
          <p:cNvSpPr txBox="1"/>
          <p:nvPr/>
        </p:nvSpPr>
        <p:spPr>
          <a:xfrm>
            <a:off x="822960" y="4023360"/>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Goal: Rewrite CLAUDE.md as a short, checkable file.</a:t>
            </a:r>
            <a:endParaRPr lang="en-US" sz="1200" dirty="0"/>
          </a:p>
        </p:txBody>
      </p:sp>
      <p:sp>
        <p:nvSpPr>
          <p:cNvPr id="14" name="Text 12"/>
          <p:cNvSpPr txBox="1"/>
          <p:nvPr/>
        </p:nvSpPr>
        <p:spPr>
          <a:xfrm>
            <a:off x="822960" y="4297680"/>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Context: @CLAUDE.md and the structure Commands, Conventions, Standards, Do not touch, Verification,</a:t>
            </a:r>
            <a:endParaRPr lang="en-US" sz="1200" dirty="0"/>
          </a:p>
        </p:txBody>
      </p:sp>
      <p:sp>
        <p:nvSpPr>
          <p:cNvPr id="15" name="Text 13"/>
          <p:cNvSpPr txBox="1"/>
          <p:nvPr/>
        </p:nvSpPr>
        <p:spPr>
          <a:xfrm>
            <a:off x="822960" y="4572000"/>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  Compaction.</a:t>
            </a:r>
            <a:endParaRPr lang="en-US" sz="1200" dirty="0"/>
          </a:p>
        </p:txBody>
      </p:sp>
      <p:sp>
        <p:nvSpPr>
          <p:cNvPr id="16" name="Text 14"/>
          <p:cNvSpPr txBox="1"/>
          <p:nvPr/>
        </p:nvSpPr>
        <p:spPr>
          <a:xfrm>
            <a:off x="822960" y="4846320"/>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Constraints: under 60 lines; delete anything derivable from the code; every rule must be verifiable.</a:t>
            </a:r>
            <a:endParaRPr lang="en-US" sz="1200" dirty="0"/>
          </a:p>
        </p:txBody>
      </p:sp>
      <p:sp>
        <p:nvSpPr>
          <p:cNvPr id="17" name="Text 15"/>
          <p:cNvSpPr txBox="1"/>
          <p:nvPr/>
        </p:nvSpPr>
        <p:spPr>
          <a:xfrm>
            <a:off x="822960" y="5120640"/>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Verify: run /context and confirm CLAUDE.md is listed under Memory files.</a:t>
            </a:r>
            <a:endParaRPr lang="en-US" sz="12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Lab 1.5 to 1.7: Guardrails, Modes, VS Code</a:t>
            </a:r>
            <a:endParaRPr lang="en-US" sz="3200" dirty="0"/>
          </a:p>
        </p:txBody>
      </p:sp>
      <p:sp>
        <p:nvSpPr>
          <p:cNvPr id="3" name="Text 1"/>
          <p:cNvSpPr txBox="1"/>
          <p:nvPr/>
        </p:nvSpPr>
        <p:spPr>
          <a:xfrm>
            <a:off x="548640" y="1188720"/>
            <a:ext cx="10789920" cy="292608"/>
          </a:xfrm>
          <a:prstGeom prst="rect">
            <a:avLst/>
          </a:prstGeom>
          <a:noFill/>
          <a:ln/>
        </p:spPr>
        <p:txBody>
          <a:bodyPr wrap="square" lIns="0" tIns="0" rIns="0" bIns="0" rtlCol="0" anchor="ctr"/>
          <a:lstStyle/>
          <a:p>
            <a:pPr indent="0" marL="0">
              <a:buNone/>
            </a:pPr>
            <a:r>
              <a:rPr lang="en-US" sz="1400" b="1" dirty="0">
                <a:solidFill>
                  <a:srgbClr val="C15F3C"/>
                </a:solidFill>
                <a:latin typeface="Calibri" pitchFamily="34" charset="0"/>
                <a:ea typeface="Calibri" pitchFamily="34" charset="-122"/>
                <a:cs typeface="Calibri" pitchFamily="34" charset="-120"/>
              </a:rPr>
              <a:t>1.5  Create the settings file and hook (slides 20 and 21), chmod +x, then run:</a:t>
            </a:r>
            <a:endParaRPr lang="en-US" sz="1400" dirty="0"/>
          </a:p>
        </p:txBody>
      </p:sp>
      <p:sp>
        <p:nvSpPr>
          <p:cNvPr id="4" name="Shape 2"/>
          <p:cNvSpPr/>
          <p:nvPr/>
        </p:nvSpPr>
        <p:spPr>
          <a:xfrm>
            <a:off x="548640" y="1536192"/>
            <a:ext cx="10789920" cy="411480"/>
          </a:xfrm>
          <a:prstGeom prst="roundRect">
            <a:avLst>
              <a:gd name="adj" fmla="val 17778"/>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609344"/>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/permissions        /status        /hooks      # then the three tests from the guardrail slide</a:t>
            </a:r>
            <a:endParaRPr lang="en-US" sz="1200" dirty="0"/>
          </a:p>
        </p:txBody>
      </p:sp>
      <p:sp>
        <p:nvSpPr>
          <p:cNvPr id="6" name="Text 4"/>
          <p:cNvSpPr txBox="1"/>
          <p:nvPr/>
        </p:nvSpPr>
        <p:spPr>
          <a:xfrm>
            <a:off x="548640" y="2423160"/>
            <a:ext cx="10789920" cy="292608"/>
          </a:xfrm>
          <a:prstGeom prst="rect">
            <a:avLst/>
          </a:prstGeom>
          <a:noFill/>
          <a:ln/>
        </p:spPr>
        <p:txBody>
          <a:bodyPr wrap="square" lIns="0" tIns="0" rIns="0" bIns="0" rtlCol="0" anchor="ctr"/>
          <a:lstStyle/>
          <a:p>
            <a:pPr indent="0" marL="0">
              <a:buNone/>
            </a:pPr>
            <a:r>
              <a:rPr lang="en-US" sz="1400" b="1" dirty="0">
                <a:solidFill>
                  <a:srgbClr val="C15F3C"/>
                </a:solidFill>
                <a:latin typeface="Calibri" pitchFamily="34" charset="0"/>
                <a:ea typeface="Calibri" pitchFamily="34" charset="-122"/>
                <a:cs typeface="Calibri" pitchFamily="34" charset="-120"/>
              </a:rPr>
              <a:t>1.6  Plan mode, then interrupt a build</a:t>
            </a:r>
            <a:endParaRPr lang="en-US" sz="1400" dirty="0"/>
          </a:p>
        </p:txBody>
      </p:sp>
      <p:sp>
        <p:nvSpPr>
          <p:cNvPr id="7" name="Shape 5"/>
          <p:cNvSpPr/>
          <p:nvPr/>
        </p:nvSpPr>
        <p:spPr>
          <a:xfrm>
            <a:off x="548640" y="2770632"/>
            <a:ext cx="10789920" cy="1545336"/>
          </a:xfrm>
          <a:prstGeom prst="roundRect">
            <a:avLst>
              <a:gd name="adj" fmla="val 4734"/>
            </a:avLst>
          </a:prstGeom>
          <a:solidFill>
            <a:srgbClr val="262320"/>
          </a:solidFill>
          <a:ln/>
          <a:effectLst>
            <a:outerShdw sx="100000" sy="100000" kx="0" ky="0" algn="bl" rotWithShape="0" blurRad="76200" dist="25400" dir="5400000">
              <a:srgbClr val="000000">
                <a:alpha val="18000"/>
              </a:srgbClr>
            </a:outerShdw>
          </a:effectLst>
        </p:spPr>
      </p:sp>
      <p:sp>
        <p:nvSpPr>
          <p:cNvPr id="8" name="Text 6"/>
          <p:cNvSpPr txBox="1"/>
          <p:nvPr/>
        </p:nvSpPr>
        <p:spPr>
          <a:xfrm>
            <a:off x="822960" y="2862072"/>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Goal: List every file you would touch to add a new applet.</a:t>
            </a:r>
            <a:endParaRPr lang="en-US" sz="1200" dirty="0"/>
          </a:p>
        </p:txBody>
      </p:sp>
      <p:sp>
        <p:nvSpPr>
          <p:cNvPr id="9" name="Text 7"/>
          <p:cNvSpPr txBox="1"/>
          <p:nvPr/>
        </p:nvSpPr>
        <p:spPr>
          <a:xfrm>
            <a:off x="822960" y="3136392"/>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Constraints: plan only; no edits.</a:t>
            </a:r>
            <a:endParaRPr lang="en-US" sz="1200" dirty="0"/>
          </a:p>
        </p:txBody>
      </p:sp>
      <p:sp>
        <p:nvSpPr>
          <p:cNvPr id="10" name="Text 8"/>
          <p:cNvSpPr txBox="1"/>
          <p:nvPr/>
        </p:nvSpPr>
        <p:spPr>
          <a:xfrm>
            <a:off x="822960" y="3410712"/>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Output: file list, one-line reason each.</a:t>
            </a:r>
            <a:endParaRPr lang="en-US" sz="1200" dirty="0"/>
          </a:p>
        </p:txBody>
      </p:sp>
      <p:sp>
        <p:nvSpPr>
          <p:cNvPr id="11" name="Text 9"/>
          <p:cNvSpPr txBox="1"/>
          <p:nvPr/>
        </p:nvSpPr>
        <p:spPr>
          <a:xfrm>
            <a:off x="822960" y="3685032"/>
            <a:ext cx="10241280" cy="274320"/>
          </a:xfrm>
          <a:prstGeom prst="rect">
            <a:avLst/>
          </a:prstGeom>
          <a:noFill/>
          <a:ln/>
        </p:spPr>
        <p:txBody>
          <a:bodyPr wrap="square" lIns="0" tIns="0" rIns="0" bIns="0" rtlCol="0" anchor="ctr"/>
          <a:lstStyle/>
          <a:p>
            <a:pPr indent="0" marL="0">
              <a:buNone/>
            </a:pPr>
            <a:endParaRPr lang="en-US" sz="1200" dirty="0"/>
          </a:p>
        </p:txBody>
      </p:sp>
      <p:sp>
        <p:nvSpPr>
          <p:cNvPr id="12" name="Text 10"/>
          <p:cNvSpPr txBox="1"/>
          <p:nvPr/>
        </p:nvSpPr>
        <p:spPr>
          <a:xfrm>
            <a:off x="822960" y="3959352"/>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Goal: Run the native build and list the first 5 gcc warnings.      # press Esc while it builds</a:t>
            </a:r>
            <a:endParaRPr lang="en-US" sz="1200" dirty="0"/>
          </a:p>
        </p:txBody>
      </p:sp>
      <p:sp>
        <p:nvSpPr>
          <p:cNvPr id="13" name="Text 11"/>
          <p:cNvSpPr txBox="1"/>
          <p:nvPr/>
        </p:nvSpPr>
        <p:spPr>
          <a:xfrm>
            <a:off x="548640" y="4754880"/>
            <a:ext cx="10789920" cy="292608"/>
          </a:xfrm>
          <a:prstGeom prst="rect">
            <a:avLst/>
          </a:prstGeom>
          <a:noFill/>
          <a:ln/>
        </p:spPr>
        <p:txBody>
          <a:bodyPr wrap="square" lIns="0" tIns="0" rIns="0" bIns="0" rtlCol="0" anchor="ctr"/>
          <a:lstStyle/>
          <a:p>
            <a:pPr indent="0" marL="0">
              <a:buNone/>
            </a:pPr>
            <a:r>
              <a:rPr lang="en-US" sz="1400" b="1" dirty="0">
                <a:solidFill>
                  <a:srgbClr val="C15F3C"/>
                </a:solidFill>
                <a:latin typeface="Calibri" pitchFamily="34" charset="0"/>
                <a:ea typeface="Calibri" pitchFamily="34" charset="-122"/>
                <a:cs typeface="Calibri" pitchFamily="34" charset="-120"/>
              </a:rPr>
              <a:t>1.7  Same task in VS Code</a:t>
            </a:r>
            <a:endParaRPr lang="en-US" sz="1400" dirty="0"/>
          </a:p>
        </p:txBody>
      </p:sp>
      <p:sp>
        <p:nvSpPr>
          <p:cNvPr id="14" name="Shape 12"/>
          <p:cNvSpPr/>
          <p:nvPr/>
        </p:nvSpPr>
        <p:spPr>
          <a:xfrm>
            <a:off x="548640" y="5074920"/>
            <a:ext cx="457200" cy="457200"/>
          </a:xfrm>
          <a:prstGeom prst="ellipse">
            <a:avLst/>
          </a:prstGeom>
          <a:solidFill>
            <a:srgbClr val="7A736A"/>
          </a:solidFill>
          <a:ln/>
        </p:spPr>
      </p:sp>
      <p:sp>
        <p:nvSpPr>
          <p:cNvPr id="15" name="Text 13"/>
          <p:cNvSpPr txBox="1"/>
          <p:nvPr/>
        </p:nvSpPr>
        <p:spPr>
          <a:xfrm>
            <a:off x="548640" y="5074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txBox="1"/>
          <p:nvPr/>
        </p:nvSpPr>
        <p:spPr>
          <a:xfrm>
            <a:off x="1234440" y="502005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Open the folder, open the Claude panel, run prompt 1.1, then /context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switch mode with the mode indicator; in a terminal, claude --resume and pick the panel conversation.</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Module 1: Done When</a:t>
            </a:r>
            <a:endParaRPr lang="en-US" sz="3200" dirty="0"/>
          </a:p>
        </p:txBody>
      </p:sp>
      <p:sp>
        <p:nvSpPr>
          <p:cNvPr id="3" name="Text 1"/>
          <p:cNvSpPr txBox="1"/>
          <p:nvPr/>
        </p:nvSpPr>
        <p:spPr>
          <a:xfrm>
            <a:off x="548640" y="1188720"/>
            <a:ext cx="10789920" cy="3657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Each item is a check you can run, not a feeling.</a:t>
            </a:r>
            <a:endParaRPr lang="en-US" sz="1500" dirty="0"/>
          </a:p>
        </p:txBody>
      </p:sp>
      <p:sp>
        <p:nvSpPr>
          <p:cNvPr id="4" name="Shape 2"/>
          <p:cNvSpPr/>
          <p:nvPr/>
        </p:nvSpPr>
        <p:spPr>
          <a:xfrm>
            <a:off x="548640" y="1691640"/>
            <a:ext cx="384048" cy="384048"/>
          </a:xfrm>
          <a:prstGeom prst="ellipse">
            <a:avLst/>
          </a:prstGeom>
          <a:solidFill>
            <a:srgbClr val="4F6F64"/>
          </a:solidFill>
          <a:ln/>
        </p:spPr>
      </p:sp>
      <p:sp>
        <p:nvSpPr>
          <p:cNvPr id="5" name="Text 3"/>
          <p:cNvSpPr txBox="1"/>
          <p:nvPr/>
        </p:nvSpPr>
        <p:spPr>
          <a:xfrm>
            <a:off x="548640" y="16916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161288" y="1636776"/>
            <a:ext cx="10177272" cy="74980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claude --version works and /status shows your account</a:t>
            </a:r>
            <a:endParaRPr lang="en-US" sz="1500" dirty="0"/>
          </a:p>
          <a:p>
            <a:pPr indent="0" marL="0">
              <a:lnSpc>
                <a:spcPct val="112000"/>
              </a:lnSpc>
              <a:buNone/>
            </a:pPr>
            <a:endParaRPr lang="en-US" sz="1500" dirty="0"/>
          </a:p>
        </p:txBody>
      </p:sp>
      <p:sp>
        <p:nvSpPr>
          <p:cNvPr id="7" name="Shape 5"/>
          <p:cNvSpPr/>
          <p:nvPr/>
        </p:nvSpPr>
        <p:spPr>
          <a:xfrm>
            <a:off x="548640" y="2441448"/>
            <a:ext cx="384048" cy="384048"/>
          </a:xfrm>
          <a:prstGeom prst="ellipse">
            <a:avLst/>
          </a:prstGeom>
          <a:solidFill>
            <a:srgbClr val="4F6F64"/>
          </a:solidFill>
          <a:ln/>
        </p:spPr>
      </p:sp>
      <p:sp>
        <p:nvSpPr>
          <p:cNvPr id="8" name="Text 6"/>
          <p:cNvSpPr txBox="1"/>
          <p:nvPr/>
        </p:nvSpPr>
        <p:spPr>
          <a:xfrm>
            <a:off x="548640" y="244144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 name="Text 7"/>
          <p:cNvSpPr txBox="1"/>
          <p:nvPr/>
        </p:nvSpPr>
        <p:spPr>
          <a:xfrm>
            <a:off x="1161288" y="2386584"/>
            <a:ext cx="10177272" cy="74980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CLAUDE.md is under 60 lines, lists a verified build and test command, and appears in /context</a:t>
            </a:r>
            <a:endParaRPr lang="en-US" sz="1500" dirty="0"/>
          </a:p>
          <a:p>
            <a:pPr indent="0" marL="0">
              <a:lnSpc>
                <a:spcPct val="112000"/>
              </a:lnSpc>
              <a:buNone/>
            </a:pPr>
            <a:endParaRPr lang="en-US" sz="1500" dirty="0"/>
          </a:p>
        </p:txBody>
      </p:sp>
      <p:sp>
        <p:nvSpPr>
          <p:cNvPr id="10" name="Shape 8"/>
          <p:cNvSpPr/>
          <p:nvPr/>
        </p:nvSpPr>
        <p:spPr>
          <a:xfrm>
            <a:off x="548640" y="3191256"/>
            <a:ext cx="384048" cy="384048"/>
          </a:xfrm>
          <a:prstGeom prst="ellipse">
            <a:avLst/>
          </a:prstGeom>
          <a:solidFill>
            <a:srgbClr val="4F6F64"/>
          </a:solidFill>
          <a:ln/>
        </p:spPr>
      </p:sp>
      <p:sp>
        <p:nvSpPr>
          <p:cNvPr id="11" name="Text 9"/>
          <p:cNvSpPr txBox="1"/>
          <p:nvPr/>
        </p:nvSpPr>
        <p:spPr>
          <a:xfrm>
            <a:off x="548640" y="319125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161288" y="3136392"/>
            <a:ext cx="10177272" cy="74980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/permissions shows the deny rules; a .env read and a .config edit are refused</a:t>
            </a:r>
            <a:endParaRPr lang="en-US" sz="1500" dirty="0"/>
          </a:p>
          <a:p>
            <a:pPr indent="0" marL="0">
              <a:lnSpc>
                <a:spcPct val="112000"/>
              </a:lnSpc>
              <a:buNone/>
            </a:pPr>
            <a:endParaRPr lang="en-US" sz="1500" dirty="0"/>
          </a:p>
        </p:txBody>
      </p:sp>
      <p:sp>
        <p:nvSpPr>
          <p:cNvPr id="13" name="Shape 11"/>
          <p:cNvSpPr/>
          <p:nvPr/>
        </p:nvSpPr>
        <p:spPr>
          <a:xfrm>
            <a:off x="548640" y="3941064"/>
            <a:ext cx="384048" cy="384048"/>
          </a:xfrm>
          <a:prstGeom prst="ellipse">
            <a:avLst/>
          </a:prstGeom>
          <a:solidFill>
            <a:srgbClr val="4F6F64"/>
          </a:solidFill>
          <a:ln/>
        </p:spPr>
      </p:sp>
      <p:sp>
        <p:nvSpPr>
          <p:cNvPr id="14" name="Text 12"/>
          <p:cNvSpPr txBox="1"/>
          <p:nvPr/>
        </p:nvSpPr>
        <p:spPr>
          <a:xfrm>
            <a:off x="548640" y="394106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3"/>
          <p:cNvSpPr txBox="1"/>
          <p:nvPr/>
        </p:nvSpPr>
        <p:spPr>
          <a:xfrm>
            <a:off x="1161288" y="3886200"/>
            <a:ext cx="10177272" cy="74980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Plan mode produced a file list with no changes: git status is clean</a:t>
            </a:r>
            <a:endParaRPr lang="en-US" sz="1500" dirty="0"/>
          </a:p>
          <a:p>
            <a:pPr indent="0" marL="0">
              <a:lnSpc>
                <a:spcPct val="112000"/>
              </a:lnSpc>
              <a:buNone/>
            </a:pPr>
            <a:endParaRPr lang="en-US" sz="1500" dirty="0"/>
          </a:p>
        </p:txBody>
      </p:sp>
      <p:sp>
        <p:nvSpPr>
          <p:cNvPr id="16" name="Shape 14"/>
          <p:cNvSpPr/>
          <p:nvPr/>
        </p:nvSpPr>
        <p:spPr>
          <a:xfrm>
            <a:off x="548640" y="4690872"/>
            <a:ext cx="384048" cy="384048"/>
          </a:xfrm>
          <a:prstGeom prst="ellipse">
            <a:avLst/>
          </a:prstGeom>
          <a:solidFill>
            <a:srgbClr val="4F6F64"/>
          </a:solidFill>
          <a:ln/>
        </p:spPr>
      </p:sp>
      <p:sp>
        <p:nvSpPr>
          <p:cNvPr id="17" name="Text 15"/>
          <p:cNvSpPr txBox="1"/>
          <p:nvPr/>
        </p:nvSpPr>
        <p:spPr>
          <a:xfrm>
            <a:off x="548640" y="46908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txBox="1"/>
          <p:nvPr/>
        </p:nvSpPr>
        <p:spPr>
          <a:xfrm>
            <a:off x="1161288" y="4636008"/>
            <a:ext cx="10177272" cy="74980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Esc stopped a running turn; the panel and the terminal share the conversation</a:t>
            </a:r>
            <a:endParaRPr lang="en-US" sz="1500" dirty="0"/>
          </a:p>
          <a:p>
            <a:pPr indent="0" marL="0">
              <a:lnSpc>
                <a:spcPct val="112000"/>
              </a:lnSpc>
              <a:buNone/>
            </a:pP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Common Pitfalls in Setup and Modes</a:t>
            </a:r>
            <a:endParaRPr lang="en-US" sz="3200" dirty="0"/>
          </a:p>
        </p:txBody>
      </p:sp>
      <p:sp>
        <p:nvSpPr>
          <p:cNvPr id="3" name="Text 1"/>
          <p:cNvSpPr txBox="1"/>
          <p:nvPr/>
        </p:nvSpPr>
        <p:spPr>
          <a:xfrm>
            <a:off x="548640" y="1188720"/>
            <a:ext cx="10789920" cy="3657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Five things that trip people up in the first hour, each with the fix.</a:t>
            </a:r>
            <a:endParaRPr lang="en-US" sz="1500" dirty="0"/>
          </a:p>
        </p:txBody>
      </p:sp>
      <p:sp>
        <p:nvSpPr>
          <p:cNvPr id="4" name="Shape 2"/>
          <p:cNvSpPr/>
          <p:nvPr/>
        </p:nvSpPr>
        <p:spPr>
          <a:xfrm>
            <a:off x="548640" y="1737360"/>
            <a:ext cx="457200" cy="457200"/>
          </a:xfrm>
          <a:prstGeom prst="ellipse">
            <a:avLst/>
          </a:prstGeom>
          <a:solidFill>
            <a:srgbClr val="8E3B2E"/>
          </a:solidFill>
          <a:ln/>
        </p:spPr>
      </p:sp>
      <p:sp>
        <p:nvSpPr>
          <p:cNvPr id="5" name="Text 3"/>
          <p:cNvSpPr txBox="1"/>
          <p:nvPr/>
        </p:nvSpPr>
        <p:spPr>
          <a:xfrm>
            <a:off x="54864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1682496"/>
            <a:ext cx="10104120" cy="84124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"command not found" after install</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 install directory (~/.local/bin) is not on PATH yet; rerun in a new terminal window. claude doctor is the first diagnostic.</a:t>
            </a:r>
            <a:endParaRPr lang="en-US" sz="1500" dirty="0"/>
          </a:p>
        </p:txBody>
      </p:sp>
      <p:sp>
        <p:nvSpPr>
          <p:cNvPr id="7" name="Shape 5"/>
          <p:cNvSpPr/>
          <p:nvPr/>
        </p:nvSpPr>
        <p:spPr>
          <a:xfrm>
            <a:off x="548640" y="2578608"/>
            <a:ext cx="457200" cy="457200"/>
          </a:xfrm>
          <a:prstGeom prst="ellipse">
            <a:avLst/>
          </a:prstGeom>
          <a:solidFill>
            <a:srgbClr val="8E3B2E"/>
          </a:solidFill>
          <a:ln/>
        </p:spPr>
      </p:sp>
      <p:sp>
        <p:nvSpPr>
          <p:cNvPr id="8" name="Text 6"/>
          <p:cNvSpPr txBox="1"/>
          <p:nvPr/>
        </p:nvSpPr>
        <p:spPr>
          <a:xfrm>
            <a:off x="548640" y="2578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 name="Text 7"/>
          <p:cNvSpPr txBox="1"/>
          <p:nvPr/>
        </p:nvSpPr>
        <p:spPr>
          <a:xfrm>
            <a:off x="1234440" y="2523744"/>
            <a:ext cx="10104120" cy="84124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You are asked to approve an API key instead of a browser login</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expected when ANTHROPIC_API_KEY is set in your shell; this is not a failure.</a:t>
            </a:r>
            <a:endParaRPr lang="en-US" sz="1500" dirty="0"/>
          </a:p>
        </p:txBody>
      </p:sp>
      <p:sp>
        <p:nvSpPr>
          <p:cNvPr id="10" name="Shape 8"/>
          <p:cNvSpPr/>
          <p:nvPr/>
        </p:nvSpPr>
        <p:spPr>
          <a:xfrm>
            <a:off x="548640" y="3419856"/>
            <a:ext cx="457200" cy="457200"/>
          </a:xfrm>
          <a:prstGeom prst="ellipse">
            <a:avLst/>
          </a:prstGeom>
          <a:solidFill>
            <a:srgbClr val="8E3B2E"/>
          </a:solidFill>
          <a:ln/>
        </p:spPr>
      </p:sp>
      <p:sp>
        <p:nvSpPr>
          <p:cNvPr id="11" name="Text 9"/>
          <p:cNvSpPr txBox="1"/>
          <p:nvPr/>
        </p:nvSpPr>
        <p:spPr>
          <a:xfrm>
            <a:off x="548640" y="34198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3364992"/>
            <a:ext cx="10104120" cy="84124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A rule in settings.json seems ignored</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strict JSON: a comment or trailing comma breaks the file; claude doctor and /status show the error. Remember deny beats allow.</a:t>
            </a:r>
            <a:endParaRPr lang="en-US" sz="1500" dirty="0"/>
          </a:p>
        </p:txBody>
      </p:sp>
      <p:sp>
        <p:nvSpPr>
          <p:cNvPr id="13" name="Shape 11"/>
          <p:cNvSpPr/>
          <p:nvPr/>
        </p:nvSpPr>
        <p:spPr>
          <a:xfrm>
            <a:off x="548640" y="4261104"/>
            <a:ext cx="457200" cy="457200"/>
          </a:xfrm>
          <a:prstGeom prst="ellipse">
            <a:avLst/>
          </a:prstGeom>
          <a:solidFill>
            <a:srgbClr val="8E3B2E"/>
          </a:solidFill>
          <a:ln/>
        </p:spPr>
      </p:sp>
      <p:sp>
        <p:nvSpPr>
          <p:cNvPr id="14" name="Text 12"/>
          <p:cNvSpPr txBox="1"/>
          <p:nvPr/>
        </p:nvSpPr>
        <p:spPr>
          <a:xfrm>
            <a:off x="548640" y="42611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3"/>
          <p:cNvSpPr txBox="1"/>
          <p:nvPr/>
        </p:nvSpPr>
        <p:spPr>
          <a:xfrm>
            <a:off x="1234440" y="4206240"/>
            <a:ext cx="10104120" cy="84124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CLAUDE.md is not picked up, or is ignored</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check /context for Memory files and the launch directory; a file past ~200 lines or full of vague rules is followed less reliably.</a:t>
            </a:r>
            <a:endParaRPr lang="en-US" sz="1500" dirty="0"/>
          </a:p>
        </p:txBody>
      </p:sp>
      <p:sp>
        <p:nvSpPr>
          <p:cNvPr id="16" name="Shape 14"/>
          <p:cNvSpPr/>
          <p:nvPr/>
        </p:nvSpPr>
        <p:spPr>
          <a:xfrm>
            <a:off x="548640" y="5102352"/>
            <a:ext cx="457200" cy="457200"/>
          </a:xfrm>
          <a:prstGeom prst="ellipse">
            <a:avLst/>
          </a:prstGeom>
          <a:solidFill>
            <a:srgbClr val="8E3B2E"/>
          </a:solidFill>
          <a:ln/>
        </p:spPr>
      </p:sp>
      <p:sp>
        <p:nvSpPr>
          <p:cNvPr id="17" name="Text 15"/>
          <p:cNvSpPr txBox="1"/>
          <p:nvPr/>
        </p:nvSpPr>
        <p:spPr>
          <a:xfrm>
            <a:off x="548640" y="51023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txBox="1"/>
          <p:nvPr/>
        </p:nvSpPr>
        <p:spPr>
          <a:xfrm>
            <a:off x="1234440" y="5047488"/>
            <a:ext cx="10104120" cy="84124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bypassPermissions on your main machine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it removes the prompts that would stop a destructive command; isolated containers and VMs only.</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Claude Code Training">
  <a:themeElements>
    <a:clrScheme name="Claude Code Training">
      <a:dk1>
        <a:srgbClr val="262320"/>
      </a:dk1>
      <a:lt1>
        <a:srgbClr val="FFFFFF"/>
      </a:lt1>
      <a:dk2>
        <a:srgbClr val="241F1B"/>
      </a:dk2>
      <a:lt2>
        <a:srgbClr val="F3EFE8"/>
      </a:lt2>
      <a:accent1>
        <a:srgbClr val="C15F3C"/>
      </a:accent1>
      <a:accent2>
        <a:srgbClr val="4F6F64"/>
      </a:accent2>
      <a:accent3>
        <a:srgbClr val="8A6D3F"/>
      </a:accent3>
      <a:accent4>
        <a:srgbClr val="7A736A"/>
      </a:accent4>
      <a:accent5>
        <a:srgbClr val="3D5A80"/>
      </a:accent5>
      <a:accent6>
        <a:srgbClr val="8E3B2E"/>
      </a:accent6>
      <a:hlink>
        <a:srgbClr val="C15F3C"/>
      </a:hlink>
      <a:folHlink>
        <a:srgbClr val="8A6D3F"/>
      </a:folHlink>
    </a:clrScheme>
    <a:fontScheme name="Claude Code Training">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Claude Code Training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for System Software and Embedded Engineering - Day 1 - Module 1: Fundamentals &amp; Setup</dc:title>
  <dc:subject>PptxGenJS Presentation</dc:subject>
  <dc:creator>Claude Code Training</dc:creator>
  <cp:lastModifiedBy>Claude Code Training</cp:lastModifiedBy>
  <cp:revision>1</cp:revision>
  <dcterms:created xsi:type="dcterms:W3CDTF">2026-10-07T00:11:08Z</dcterms:created>
  <dcterms:modified xsi:type="dcterms:W3CDTF">2026-10-07T00:11:08Z</dcterms:modified>
</cp:coreProperties>
</file>